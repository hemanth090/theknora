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81304" y="2525791"/>
            <a:ext cx="6609080" cy="2007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0" i="0">
                <a:solidFill>
                  <a:srgbClr val="01010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rgbClr val="01010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0" i="0">
                <a:solidFill>
                  <a:srgbClr val="01010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rgbClr val="01010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0" i="0">
                <a:solidFill>
                  <a:srgbClr val="01010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182102" y="2316302"/>
            <a:ext cx="5605780" cy="4831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rgbClr val="383838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0" i="0">
                <a:solidFill>
                  <a:srgbClr val="01010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2302" y="555116"/>
            <a:ext cx="11585041" cy="12089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0" i="0">
                <a:solidFill>
                  <a:srgbClr val="01010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2302" y="1736217"/>
            <a:ext cx="6171565" cy="18688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rgbClr val="01010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741670" y="2009901"/>
            <a:ext cx="2687955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>
                <a:latin typeface="Times New Roman"/>
                <a:cs typeface="Times New Roman"/>
              </a:rPr>
              <a:t>IOT</a:t>
            </a:r>
            <a:r>
              <a:rPr dirty="0" sz="2150" spc="-35">
                <a:latin typeface="Times New Roman"/>
                <a:cs typeface="Times New Roman"/>
              </a:rPr>
              <a:t> </a:t>
            </a:r>
            <a:r>
              <a:rPr dirty="0" sz="2150">
                <a:latin typeface="Times New Roman"/>
                <a:cs typeface="Times New Roman"/>
              </a:rPr>
              <a:t>CASE</a:t>
            </a:r>
            <a:r>
              <a:rPr dirty="0" sz="2150" spc="-5">
                <a:latin typeface="Times New Roman"/>
                <a:cs typeface="Times New Roman"/>
              </a:rPr>
              <a:t> </a:t>
            </a:r>
            <a:r>
              <a:rPr dirty="0" sz="2150">
                <a:latin typeface="Times New Roman"/>
                <a:cs typeface="Times New Roman"/>
              </a:rPr>
              <a:t>STUDY</a:t>
            </a:r>
            <a:r>
              <a:rPr dirty="0" sz="2150" spc="-80">
                <a:latin typeface="Times New Roman"/>
                <a:cs typeface="Times New Roman"/>
              </a:rPr>
              <a:t> </a:t>
            </a:r>
            <a:r>
              <a:rPr dirty="0" sz="2150" spc="-25">
                <a:latin typeface="Times New Roman"/>
                <a:cs typeface="Times New Roman"/>
              </a:rPr>
              <a:t>ON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04182" y="2651506"/>
            <a:ext cx="585470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0000"/>
                </a:solidFill>
                <a:latin typeface="Calibri"/>
                <a:cs typeface="Calibri"/>
              </a:rPr>
              <a:t>Smart</a:t>
            </a:r>
            <a:r>
              <a:rPr dirty="0" sz="3200" spc="-4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000000"/>
                </a:solidFill>
                <a:latin typeface="Calibri"/>
                <a:cs typeface="Calibri"/>
              </a:rPr>
              <a:t>Home</a:t>
            </a:r>
            <a:r>
              <a:rPr dirty="0" sz="3200" spc="-3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000000"/>
                </a:solidFill>
                <a:latin typeface="Calibri"/>
                <a:cs typeface="Calibri"/>
              </a:rPr>
              <a:t>Automation</a:t>
            </a:r>
            <a:r>
              <a:rPr dirty="0" sz="3200" spc="-5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000000"/>
                </a:solidFill>
                <a:latin typeface="Calibri"/>
                <a:cs typeface="Calibri"/>
              </a:rPr>
              <a:t>using</a:t>
            </a:r>
            <a:r>
              <a:rPr dirty="0" sz="3200" spc="-5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spc="-25" b="1">
                <a:solidFill>
                  <a:srgbClr val="000000"/>
                </a:solidFill>
                <a:latin typeface="Calibri"/>
                <a:cs typeface="Calibri"/>
              </a:rPr>
              <a:t>IoT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979926" y="3595242"/>
            <a:ext cx="6210935" cy="369442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187450" marR="1179830">
              <a:lnSpc>
                <a:spcPct val="100499"/>
              </a:lnSpc>
              <a:spcBef>
                <a:spcPts val="95"/>
              </a:spcBef>
            </a:pPr>
            <a:r>
              <a:rPr dirty="0" sz="2150">
                <a:latin typeface="Times New Roman"/>
                <a:cs typeface="Times New Roman"/>
              </a:rPr>
              <a:t>BACHELOR</a:t>
            </a:r>
            <a:r>
              <a:rPr dirty="0" sz="2150" spc="-5">
                <a:latin typeface="Times New Roman"/>
                <a:cs typeface="Times New Roman"/>
              </a:rPr>
              <a:t> </a:t>
            </a:r>
            <a:r>
              <a:rPr dirty="0" sz="2150">
                <a:latin typeface="Times New Roman"/>
                <a:cs typeface="Times New Roman"/>
              </a:rPr>
              <a:t>OF</a:t>
            </a:r>
            <a:r>
              <a:rPr dirty="0" sz="2150" spc="-50">
                <a:latin typeface="Times New Roman"/>
                <a:cs typeface="Times New Roman"/>
              </a:rPr>
              <a:t> </a:t>
            </a:r>
            <a:r>
              <a:rPr dirty="0" sz="2150" spc="-10">
                <a:latin typeface="Times New Roman"/>
                <a:cs typeface="Times New Roman"/>
              </a:rPr>
              <a:t>TECHNOLOGY </a:t>
            </a:r>
            <a:r>
              <a:rPr dirty="0" sz="2150" spc="-25">
                <a:latin typeface="Times New Roman"/>
                <a:cs typeface="Times New Roman"/>
              </a:rPr>
              <a:t>IN</a:t>
            </a:r>
            <a:endParaRPr sz="2150">
              <a:latin typeface="Times New Roman"/>
              <a:cs typeface="Times New Roman"/>
            </a:endParaRPr>
          </a:p>
          <a:p>
            <a:pPr algn="ctr" marL="1270">
              <a:lnSpc>
                <a:spcPct val="100000"/>
              </a:lnSpc>
              <a:spcBef>
                <a:spcPts val="15"/>
              </a:spcBef>
            </a:pPr>
            <a:r>
              <a:rPr dirty="0" sz="2150">
                <a:latin typeface="Times New Roman"/>
                <a:cs typeface="Times New Roman"/>
              </a:rPr>
              <a:t>CSE-</a:t>
            </a:r>
            <a:r>
              <a:rPr dirty="0" sz="2150" spc="-10">
                <a:latin typeface="Times New Roman"/>
                <a:cs typeface="Times New Roman"/>
              </a:rPr>
              <a:t> </a:t>
            </a:r>
            <a:r>
              <a:rPr dirty="0" sz="2150" spc="-105">
                <a:latin typeface="Times New Roman"/>
                <a:cs typeface="Times New Roman"/>
              </a:rPr>
              <a:t>DATA</a:t>
            </a:r>
            <a:r>
              <a:rPr dirty="0" sz="2150" spc="-110">
                <a:latin typeface="Times New Roman"/>
                <a:cs typeface="Times New Roman"/>
              </a:rPr>
              <a:t> </a:t>
            </a:r>
            <a:r>
              <a:rPr dirty="0" sz="2150" spc="-10">
                <a:latin typeface="Times New Roman"/>
                <a:cs typeface="Times New Roman"/>
              </a:rPr>
              <a:t>SCIENCE</a:t>
            </a:r>
            <a:endParaRPr sz="21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dirty="0" sz="2150" spc="-25">
                <a:latin typeface="Times New Roman"/>
                <a:cs typeface="Times New Roman"/>
              </a:rPr>
              <a:t>BY</a:t>
            </a:r>
            <a:endParaRPr sz="2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95"/>
              </a:spcBef>
            </a:pPr>
            <a:endParaRPr sz="21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tabLst>
                <a:tab pos="1831339" algn="l"/>
              </a:tabLst>
            </a:pPr>
            <a:r>
              <a:rPr dirty="0" sz="2150" b="1">
                <a:latin typeface="Times New Roman"/>
                <a:cs typeface="Times New Roman"/>
              </a:rPr>
              <a:t>22VE1A6784</a:t>
            </a:r>
            <a:r>
              <a:rPr dirty="0" sz="2150" spc="-40" b="1">
                <a:latin typeface="Times New Roman"/>
                <a:cs typeface="Times New Roman"/>
              </a:rPr>
              <a:t> </a:t>
            </a:r>
            <a:r>
              <a:rPr dirty="0" sz="2150" spc="-50" b="1">
                <a:latin typeface="Times New Roman"/>
                <a:cs typeface="Times New Roman"/>
              </a:rPr>
              <a:t>-</a:t>
            </a:r>
            <a:r>
              <a:rPr dirty="0" sz="2150" b="1">
                <a:latin typeface="Times New Roman"/>
                <a:cs typeface="Times New Roman"/>
              </a:rPr>
              <a:t>	</a:t>
            </a:r>
            <a:r>
              <a:rPr dirty="0" sz="2150" spc="-10" b="1">
                <a:latin typeface="Times New Roman"/>
                <a:cs typeface="Times New Roman"/>
              </a:rPr>
              <a:t>KOKKONDA</a:t>
            </a:r>
            <a:r>
              <a:rPr dirty="0" sz="2150" spc="-125" b="1">
                <a:latin typeface="Times New Roman"/>
                <a:cs typeface="Times New Roman"/>
              </a:rPr>
              <a:t> </a:t>
            </a:r>
            <a:r>
              <a:rPr dirty="0" sz="2150" spc="-35" b="1">
                <a:latin typeface="Times New Roman"/>
                <a:cs typeface="Times New Roman"/>
              </a:rPr>
              <a:t>NAVEEN</a:t>
            </a:r>
            <a:r>
              <a:rPr dirty="0" sz="2150" spc="-40" b="1">
                <a:latin typeface="Times New Roman"/>
                <a:cs typeface="Times New Roman"/>
              </a:rPr>
              <a:t> </a:t>
            </a:r>
            <a:r>
              <a:rPr dirty="0" sz="2150" spc="-10" b="1">
                <a:latin typeface="Times New Roman"/>
                <a:cs typeface="Times New Roman"/>
              </a:rPr>
              <a:t>HEMANTH</a:t>
            </a:r>
            <a:endParaRPr sz="2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21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2150">
                <a:latin typeface="Times New Roman"/>
                <a:cs typeface="Times New Roman"/>
              </a:rPr>
              <a:t>Under the</a:t>
            </a:r>
            <a:r>
              <a:rPr dirty="0" sz="2150" spc="-15">
                <a:latin typeface="Times New Roman"/>
                <a:cs typeface="Times New Roman"/>
              </a:rPr>
              <a:t> </a:t>
            </a:r>
            <a:r>
              <a:rPr dirty="0" sz="2150">
                <a:latin typeface="Times New Roman"/>
                <a:cs typeface="Times New Roman"/>
              </a:rPr>
              <a:t>Guidance </a:t>
            </a:r>
            <a:r>
              <a:rPr dirty="0" sz="2150" spc="-25">
                <a:latin typeface="Times New Roman"/>
                <a:cs typeface="Times New Roman"/>
              </a:rPr>
              <a:t>of</a:t>
            </a:r>
            <a:endParaRPr sz="2150">
              <a:latin typeface="Times New Roman"/>
              <a:cs typeface="Times New Roman"/>
            </a:endParaRPr>
          </a:p>
          <a:p>
            <a:pPr algn="ctr" marL="1905">
              <a:lnSpc>
                <a:spcPct val="100000"/>
              </a:lnSpc>
              <a:spcBef>
                <a:spcPts val="160"/>
              </a:spcBef>
            </a:pPr>
            <a:r>
              <a:rPr dirty="0" sz="2150" b="1">
                <a:latin typeface="Calibri"/>
                <a:cs typeface="Calibri"/>
              </a:rPr>
              <a:t>D.</a:t>
            </a:r>
            <a:r>
              <a:rPr dirty="0" sz="2150" spc="-6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SRIKAR</a:t>
            </a:r>
            <a:r>
              <a:rPr dirty="0" sz="2150" spc="-4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–</a:t>
            </a:r>
            <a:r>
              <a:rPr dirty="0" sz="2150" spc="-50" b="1">
                <a:latin typeface="Calibri"/>
                <a:cs typeface="Calibri"/>
              </a:rPr>
              <a:t> </a:t>
            </a:r>
            <a:r>
              <a:rPr dirty="0" sz="2150" spc="-10" b="1">
                <a:latin typeface="Calibri"/>
                <a:cs typeface="Calibri"/>
              </a:rPr>
              <a:t>ASSISTANT</a:t>
            </a:r>
            <a:r>
              <a:rPr dirty="0" sz="2150" spc="-25" b="1">
                <a:latin typeface="Calibri"/>
                <a:cs typeface="Calibri"/>
              </a:rPr>
              <a:t> </a:t>
            </a:r>
            <a:r>
              <a:rPr dirty="0" sz="2150" spc="-10" b="1">
                <a:latin typeface="Calibri"/>
                <a:cs typeface="Calibri"/>
              </a:rPr>
              <a:t>PROFESSOR</a:t>
            </a:r>
            <a:endParaRPr sz="2150">
              <a:latin typeface="Calibri"/>
              <a:cs typeface="Calibri"/>
            </a:endParaRPr>
          </a:p>
          <a:p>
            <a:pPr algn="ctr" marL="635">
              <a:lnSpc>
                <a:spcPct val="100000"/>
              </a:lnSpc>
              <a:spcBef>
                <a:spcPts val="240"/>
              </a:spcBef>
            </a:pPr>
            <a:r>
              <a:rPr dirty="0" sz="2150" b="1">
                <a:latin typeface="Times New Roman"/>
                <a:cs typeface="Times New Roman"/>
              </a:rPr>
              <a:t>ACADEMIC</a:t>
            </a:r>
            <a:r>
              <a:rPr dirty="0" sz="2150" spc="-70" b="1">
                <a:latin typeface="Times New Roman"/>
                <a:cs typeface="Times New Roman"/>
              </a:rPr>
              <a:t> </a:t>
            </a:r>
            <a:r>
              <a:rPr dirty="0" sz="2150" spc="-10" b="1">
                <a:latin typeface="Times New Roman"/>
                <a:cs typeface="Times New Roman"/>
              </a:rPr>
              <a:t>BATCH:</a:t>
            </a:r>
            <a:r>
              <a:rPr dirty="0" sz="2150" spc="-65" b="1">
                <a:latin typeface="Times New Roman"/>
                <a:cs typeface="Times New Roman"/>
              </a:rPr>
              <a:t> </a:t>
            </a:r>
            <a:r>
              <a:rPr dirty="0" sz="2150" b="1">
                <a:latin typeface="Times New Roman"/>
                <a:cs typeface="Times New Roman"/>
              </a:rPr>
              <a:t>(2022-</a:t>
            </a:r>
            <a:r>
              <a:rPr dirty="0" sz="2150" spc="-10" b="1">
                <a:latin typeface="Times New Roman"/>
                <a:cs typeface="Times New Roman"/>
              </a:rPr>
              <a:t>2026)</a:t>
            </a:r>
            <a:endParaRPr sz="2150">
              <a:latin typeface="Times New Roman"/>
              <a:cs typeface="Times New Roman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4450" y="287020"/>
            <a:ext cx="11830177" cy="16259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5600"/>
              </a:lnSpc>
              <a:spcBef>
                <a:spcPts val="100"/>
              </a:spcBef>
            </a:pPr>
            <a:r>
              <a:rPr dirty="0" spc="240"/>
              <a:t>Smart</a:t>
            </a:r>
            <a:r>
              <a:rPr dirty="0" spc="-50"/>
              <a:t> </a:t>
            </a:r>
            <a:r>
              <a:rPr dirty="0" spc="225"/>
              <a:t>Home</a:t>
            </a:r>
            <a:r>
              <a:rPr dirty="0" spc="-135"/>
              <a:t> </a:t>
            </a:r>
            <a:r>
              <a:rPr dirty="0" spc="254"/>
              <a:t>Automation </a:t>
            </a:r>
            <a:r>
              <a:rPr dirty="0" spc="240"/>
              <a:t>using</a:t>
            </a:r>
            <a:r>
              <a:rPr dirty="0" spc="-45"/>
              <a:t> </a:t>
            </a:r>
            <a:r>
              <a:rPr dirty="0" spc="85"/>
              <a:t>IoT</a:t>
            </a: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2300" spc="114"/>
              <a:t>Enhancing</a:t>
            </a:r>
            <a:r>
              <a:rPr dirty="0" sz="2300" spc="-35"/>
              <a:t> </a:t>
            </a:r>
            <a:r>
              <a:rPr dirty="0" sz="2300" spc="85"/>
              <a:t>Comfort,</a:t>
            </a:r>
            <a:r>
              <a:rPr dirty="0" sz="2300" spc="-114"/>
              <a:t> </a:t>
            </a:r>
            <a:r>
              <a:rPr dirty="0" sz="2300" spc="85"/>
              <a:t>Security</a:t>
            </a:r>
            <a:r>
              <a:rPr dirty="0" sz="2300" spc="5"/>
              <a:t> </a:t>
            </a:r>
            <a:r>
              <a:rPr dirty="0" sz="2300" spc="210"/>
              <a:t>&amp;</a:t>
            </a:r>
            <a:r>
              <a:rPr dirty="0" sz="2300" spc="5"/>
              <a:t> </a:t>
            </a:r>
            <a:r>
              <a:rPr dirty="0" sz="2300" spc="75"/>
              <a:t>Energy</a:t>
            </a:r>
            <a:r>
              <a:rPr dirty="0" sz="2300" spc="-10"/>
              <a:t> </a:t>
            </a:r>
            <a:r>
              <a:rPr dirty="0" sz="2300" spc="40"/>
              <a:t>Efficiency</a:t>
            </a:r>
            <a:endParaRPr sz="2300"/>
          </a:p>
        </p:txBody>
      </p:sp>
      <p:sp>
        <p:nvSpPr>
          <p:cNvPr id="3" name="object 3" descr=""/>
          <p:cNvSpPr txBox="1"/>
          <p:nvPr/>
        </p:nvSpPr>
        <p:spPr>
          <a:xfrm>
            <a:off x="781304" y="4837607"/>
            <a:ext cx="7194550" cy="763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8300"/>
              </a:lnSpc>
              <a:spcBef>
                <a:spcPts val="100"/>
              </a:spcBef>
            </a:pPr>
            <a:r>
              <a:rPr dirty="0" sz="1750" spc="10">
                <a:solidFill>
                  <a:srgbClr val="383838"/>
                </a:solidFill>
                <a:latin typeface="Arial MT"/>
                <a:cs typeface="Arial MT"/>
              </a:rPr>
              <a:t>A</a:t>
            </a:r>
            <a:r>
              <a:rPr dirty="0" sz="1750" spc="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0">
                <a:solidFill>
                  <a:srgbClr val="383838"/>
                </a:solidFill>
                <a:latin typeface="Arial MT"/>
                <a:cs typeface="Arial MT"/>
              </a:rPr>
              <a:t>journey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5">
                <a:solidFill>
                  <a:srgbClr val="383838"/>
                </a:solidFill>
                <a:latin typeface="Arial MT"/>
                <a:cs typeface="Arial MT"/>
              </a:rPr>
              <a:t>into</a:t>
            </a:r>
            <a:r>
              <a:rPr dirty="0" sz="1750" spc="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0">
                <a:solidFill>
                  <a:srgbClr val="383838"/>
                </a:solidFill>
                <a:latin typeface="Arial MT"/>
                <a:cs typeface="Arial MT"/>
              </a:rPr>
              <a:t>how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5">
                <a:solidFill>
                  <a:srgbClr val="383838"/>
                </a:solidFill>
                <a:latin typeface="Arial MT"/>
                <a:cs typeface="Arial MT"/>
              </a:rPr>
              <a:t>the</a:t>
            </a:r>
            <a:r>
              <a:rPr dirty="0" sz="1750" spc="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Internet</a:t>
            </a:r>
            <a:r>
              <a:rPr dirty="0" sz="1750" spc="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of</a:t>
            </a:r>
            <a:r>
              <a:rPr dirty="0" sz="1750" spc="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Things</a:t>
            </a:r>
            <a:r>
              <a:rPr dirty="0" sz="1750" spc="-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0">
                <a:solidFill>
                  <a:srgbClr val="383838"/>
                </a:solidFill>
                <a:latin typeface="Arial MT"/>
                <a:cs typeface="Arial MT"/>
              </a:rPr>
              <a:t>is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0">
                <a:solidFill>
                  <a:srgbClr val="383838"/>
                </a:solidFill>
                <a:latin typeface="Arial MT"/>
                <a:cs typeface="Arial MT"/>
              </a:rPr>
              <a:t>revolutionising</a:t>
            </a:r>
            <a:r>
              <a:rPr dirty="0" sz="1750" spc="-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5">
                <a:solidFill>
                  <a:srgbClr val="383838"/>
                </a:solidFill>
                <a:latin typeface="Arial MT"/>
                <a:cs typeface="Arial MT"/>
              </a:rPr>
              <a:t>the</a:t>
            </a:r>
            <a:r>
              <a:rPr dirty="0" sz="1750" spc="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0">
                <a:solidFill>
                  <a:srgbClr val="383838"/>
                </a:solidFill>
                <a:latin typeface="Arial MT"/>
                <a:cs typeface="Arial MT"/>
              </a:rPr>
              <a:t>way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25">
                <a:solidFill>
                  <a:srgbClr val="383838"/>
                </a:solidFill>
                <a:latin typeface="Arial MT"/>
                <a:cs typeface="Arial MT"/>
              </a:rPr>
              <a:t>we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live,</a:t>
            </a:r>
            <a:r>
              <a:rPr dirty="0" sz="1750" spc="10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making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our</a:t>
            </a:r>
            <a:r>
              <a:rPr dirty="0" sz="1750" spc="10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homes</a:t>
            </a:r>
            <a:r>
              <a:rPr dirty="0" sz="1750" spc="9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more</a:t>
            </a:r>
            <a:r>
              <a:rPr dirty="0" sz="1750" spc="9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intelligent,</a:t>
            </a:r>
            <a:r>
              <a:rPr dirty="0" sz="1750" spc="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responsive,</a:t>
            </a:r>
            <a:r>
              <a:rPr dirty="0" sz="1750" spc="10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750" spc="10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efficient.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2115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105"/>
              </a:spcBef>
            </a:pPr>
            <a:r>
              <a:rPr dirty="0" spc="240"/>
              <a:t>Understanding</a:t>
            </a:r>
            <a:r>
              <a:rPr dirty="0" spc="-60"/>
              <a:t> </a:t>
            </a:r>
            <a:r>
              <a:rPr dirty="0" spc="355"/>
              <a:t>the</a:t>
            </a:r>
            <a:r>
              <a:rPr dirty="0" spc="-45"/>
              <a:t> </a:t>
            </a:r>
            <a:r>
              <a:rPr dirty="0" spc="320"/>
              <a:t>Internet</a:t>
            </a:r>
            <a:r>
              <a:rPr dirty="0" spc="-35"/>
              <a:t> </a:t>
            </a:r>
            <a:r>
              <a:rPr dirty="0" spc="135"/>
              <a:t>of</a:t>
            </a:r>
            <a:r>
              <a:rPr dirty="0" spc="-20"/>
              <a:t> </a:t>
            </a:r>
            <a:r>
              <a:rPr dirty="0" spc="195"/>
              <a:t>Things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1304" y="2177923"/>
            <a:ext cx="11001375" cy="26238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120">
                <a:solidFill>
                  <a:srgbClr val="010101"/>
                </a:solidFill>
                <a:latin typeface="Times New Roman"/>
                <a:cs typeface="Times New Roman"/>
              </a:rPr>
              <a:t>What</a:t>
            </a:r>
            <a:r>
              <a:rPr dirty="0" sz="2300" spc="-20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dirty="0" sz="2300" spc="65">
                <a:solidFill>
                  <a:srgbClr val="010101"/>
                </a:solidFill>
                <a:latin typeface="Times New Roman"/>
                <a:cs typeface="Times New Roman"/>
              </a:rPr>
              <a:t>is</a:t>
            </a:r>
            <a:r>
              <a:rPr dirty="0" sz="2300" spc="-5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dirty="0" sz="2300" spc="45">
                <a:solidFill>
                  <a:srgbClr val="010101"/>
                </a:solidFill>
                <a:latin typeface="Times New Roman"/>
                <a:cs typeface="Times New Roman"/>
              </a:rPr>
              <a:t>IoT?</a:t>
            </a:r>
            <a:endParaRPr sz="2300">
              <a:latin typeface="Times New Roman"/>
              <a:cs typeface="Times New Roman"/>
            </a:endParaRPr>
          </a:p>
          <a:p>
            <a:pPr marL="12700" marR="5080">
              <a:lnSpc>
                <a:spcPct val="138300"/>
              </a:lnSpc>
              <a:spcBef>
                <a:spcPts val="1700"/>
              </a:spcBef>
            </a:pP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The</a:t>
            </a:r>
            <a:r>
              <a:rPr dirty="0" sz="1750" spc="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Internet</a:t>
            </a:r>
            <a:r>
              <a:rPr dirty="0" sz="1750" spc="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of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Things</a:t>
            </a:r>
            <a:r>
              <a:rPr dirty="0" sz="1750" spc="-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refers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20">
                <a:solidFill>
                  <a:srgbClr val="383838"/>
                </a:solidFill>
                <a:latin typeface="Arial MT"/>
                <a:cs typeface="Arial MT"/>
              </a:rPr>
              <a:t>to</a:t>
            </a:r>
            <a:r>
              <a:rPr dirty="0" sz="1750" spc="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everyday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objects</a:t>
            </a:r>
            <a:r>
              <a:rPr dirty="0" sz="1750" spc="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80">
                <a:solidFill>
                  <a:srgbClr val="383838"/>
                </a:solidFill>
                <a:latin typeface="Arial MT"/>
                <a:cs typeface="Arial MT"/>
              </a:rPr>
              <a:t>embedded</a:t>
            </a:r>
            <a:r>
              <a:rPr dirty="0" sz="1750" spc="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5">
                <a:solidFill>
                  <a:srgbClr val="383838"/>
                </a:solidFill>
                <a:latin typeface="Arial MT"/>
                <a:cs typeface="Arial MT"/>
              </a:rPr>
              <a:t>with</a:t>
            </a:r>
            <a:r>
              <a:rPr dirty="0" sz="1750" spc="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sensors,</a:t>
            </a:r>
            <a:r>
              <a:rPr dirty="0" sz="1750" spc="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software,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750" spc="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5">
                <a:solidFill>
                  <a:srgbClr val="383838"/>
                </a:solidFill>
                <a:latin typeface="Arial MT"/>
                <a:cs typeface="Arial MT"/>
              </a:rPr>
              <a:t>connectivity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that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enable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80">
                <a:solidFill>
                  <a:srgbClr val="383838"/>
                </a:solidFill>
                <a:latin typeface="Arial MT"/>
                <a:cs typeface="Arial MT"/>
              </a:rPr>
              <a:t>them</a:t>
            </a:r>
            <a:r>
              <a:rPr dirty="0" sz="1750" spc="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20">
                <a:solidFill>
                  <a:srgbClr val="383838"/>
                </a:solidFill>
                <a:latin typeface="Arial MT"/>
                <a:cs typeface="Arial MT"/>
              </a:rPr>
              <a:t>to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collect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share</a:t>
            </a:r>
            <a:r>
              <a:rPr dirty="0" sz="1750" spc="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data.</a:t>
            </a:r>
            <a:r>
              <a:rPr dirty="0" sz="1750" spc="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From</a:t>
            </a:r>
            <a:r>
              <a:rPr dirty="0" sz="1750" spc="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your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smartphone</a:t>
            </a:r>
            <a:r>
              <a:rPr dirty="0" sz="1750" spc="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20">
                <a:solidFill>
                  <a:srgbClr val="383838"/>
                </a:solidFill>
                <a:latin typeface="Arial MT"/>
                <a:cs typeface="Arial MT"/>
              </a:rPr>
              <a:t>to</a:t>
            </a:r>
            <a:r>
              <a:rPr dirty="0" sz="1750" spc="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your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refrigerator,</a:t>
            </a:r>
            <a:r>
              <a:rPr dirty="0" sz="1750" spc="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20">
                <a:solidFill>
                  <a:srgbClr val="383838"/>
                </a:solidFill>
                <a:latin typeface="Arial MT"/>
                <a:cs typeface="Arial MT"/>
              </a:rPr>
              <a:t>IoT</a:t>
            </a:r>
            <a:r>
              <a:rPr dirty="0" sz="1750" spc="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creates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network </a:t>
            </a:r>
            <a:r>
              <a:rPr dirty="0" sz="1750" spc="45">
                <a:solidFill>
                  <a:srgbClr val="383838"/>
                </a:solidFill>
                <a:latin typeface="Arial MT"/>
                <a:cs typeface="Arial MT"/>
              </a:rPr>
              <a:t>of intelligent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devices</a:t>
            </a:r>
            <a:r>
              <a:rPr dirty="0" sz="1750" spc="114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working</a:t>
            </a:r>
            <a:r>
              <a:rPr dirty="0" sz="1750" spc="1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together</a:t>
            </a:r>
            <a:r>
              <a:rPr dirty="0" sz="1750" spc="9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seamlessly.</a:t>
            </a:r>
            <a:endParaRPr sz="1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750" spc="20">
                <a:solidFill>
                  <a:srgbClr val="383838"/>
                </a:solidFill>
                <a:latin typeface="Arial MT"/>
                <a:cs typeface="Arial MT"/>
              </a:rPr>
              <a:t>Born</a:t>
            </a:r>
            <a:r>
              <a:rPr dirty="0" sz="1750" spc="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from</a:t>
            </a:r>
            <a:r>
              <a:rPr dirty="0" sz="1750" spc="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5">
                <a:solidFill>
                  <a:srgbClr val="383838"/>
                </a:solidFill>
                <a:latin typeface="Arial MT"/>
                <a:cs typeface="Arial MT"/>
              </a:rPr>
              <a:t>the</a:t>
            </a:r>
            <a:r>
              <a:rPr dirty="0" sz="1750" spc="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30">
                <a:solidFill>
                  <a:srgbClr val="383838"/>
                </a:solidFill>
                <a:latin typeface="Arial MT"/>
                <a:cs typeface="Arial MT"/>
              </a:rPr>
              <a:t>convergence</a:t>
            </a:r>
            <a:r>
              <a:rPr dirty="0" sz="1750" spc="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of</a:t>
            </a:r>
            <a:r>
              <a:rPr dirty="0" sz="1750" spc="20">
                <a:solidFill>
                  <a:srgbClr val="383838"/>
                </a:solidFill>
                <a:latin typeface="Arial MT"/>
                <a:cs typeface="Arial MT"/>
              </a:rPr>
              <a:t> wireless</a:t>
            </a:r>
            <a:r>
              <a:rPr dirty="0" sz="1750" spc="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30">
                <a:solidFill>
                  <a:srgbClr val="383838"/>
                </a:solidFill>
                <a:latin typeface="Arial MT"/>
                <a:cs typeface="Arial MT"/>
              </a:rPr>
              <a:t>technology,</a:t>
            </a:r>
            <a:r>
              <a:rPr dirty="0" sz="1750" spc="-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05">
                <a:solidFill>
                  <a:srgbClr val="383838"/>
                </a:solidFill>
                <a:latin typeface="Arial MT"/>
                <a:cs typeface="Arial MT"/>
              </a:rPr>
              <a:t>micro-</a:t>
            </a:r>
            <a:r>
              <a:rPr dirty="0" sz="1750" spc="30">
                <a:solidFill>
                  <a:srgbClr val="383838"/>
                </a:solidFill>
                <a:latin typeface="Arial MT"/>
                <a:cs typeface="Arial MT"/>
              </a:rPr>
              <a:t>electromechanical</a:t>
            </a:r>
            <a:r>
              <a:rPr dirty="0" sz="1750" spc="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30">
                <a:solidFill>
                  <a:srgbClr val="383838"/>
                </a:solidFill>
                <a:latin typeface="Arial MT"/>
                <a:cs typeface="Arial MT"/>
              </a:rPr>
              <a:t>systems,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3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750" spc="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5">
                <a:solidFill>
                  <a:srgbClr val="383838"/>
                </a:solidFill>
                <a:latin typeface="Arial MT"/>
                <a:cs typeface="Arial MT"/>
              </a:rPr>
              <a:t>the</a:t>
            </a:r>
            <a:r>
              <a:rPr dirty="0" sz="1750" spc="-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30">
                <a:solidFill>
                  <a:srgbClr val="383838"/>
                </a:solidFill>
                <a:latin typeface="Arial MT"/>
                <a:cs typeface="Arial MT"/>
              </a:rPr>
              <a:t>internet,</a:t>
            </a:r>
            <a:r>
              <a:rPr dirty="0" sz="1750" spc="-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25">
                <a:solidFill>
                  <a:srgbClr val="383838"/>
                </a:solidFill>
                <a:latin typeface="Arial MT"/>
                <a:cs typeface="Arial MT"/>
              </a:rPr>
              <a:t>IoT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has</a:t>
            </a:r>
            <a:r>
              <a:rPr dirty="0" sz="1750" spc="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grown</a:t>
            </a:r>
            <a:r>
              <a:rPr dirty="0" sz="1750" spc="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from</a:t>
            </a:r>
            <a:r>
              <a:rPr dirty="0" sz="1750" spc="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</a:t>
            </a:r>
            <a:r>
              <a:rPr dirty="0" sz="1750" spc="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5">
                <a:solidFill>
                  <a:srgbClr val="383838"/>
                </a:solidFill>
                <a:latin typeface="Arial MT"/>
                <a:cs typeface="Arial MT"/>
              </a:rPr>
              <a:t>futuristic</a:t>
            </a:r>
            <a:r>
              <a:rPr dirty="0" sz="1750" spc="-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90">
                <a:solidFill>
                  <a:srgbClr val="383838"/>
                </a:solidFill>
                <a:latin typeface="Arial MT"/>
                <a:cs typeface="Arial MT"/>
              </a:rPr>
              <a:t>concept</a:t>
            </a:r>
            <a:r>
              <a:rPr dirty="0" sz="1750" spc="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in</a:t>
            </a:r>
            <a:r>
              <a:rPr dirty="0" sz="1750" spc="-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80">
                <a:solidFill>
                  <a:srgbClr val="383838"/>
                </a:solidFill>
                <a:latin typeface="Arial MT"/>
                <a:cs typeface="Arial MT"/>
              </a:rPr>
              <a:t>the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 1990s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20">
                <a:solidFill>
                  <a:srgbClr val="383838"/>
                </a:solidFill>
                <a:latin typeface="Arial MT"/>
                <a:cs typeface="Arial MT"/>
              </a:rPr>
              <a:t>to</a:t>
            </a:r>
            <a:r>
              <a:rPr dirty="0" sz="1750" spc="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 </a:t>
            </a:r>
            <a:r>
              <a:rPr dirty="0" sz="1750" spc="-185">
                <a:solidFill>
                  <a:srgbClr val="383838"/>
                </a:solidFill>
                <a:latin typeface="Arial MT"/>
                <a:cs typeface="Arial MT"/>
              </a:rPr>
              <a:t>15</a:t>
            </a:r>
            <a:r>
              <a:rPr dirty="0" sz="1750" spc="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billion</a:t>
            </a:r>
            <a:r>
              <a:rPr dirty="0" sz="1750" spc="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device</a:t>
            </a:r>
            <a:r>
              <a:rPr dirty="0" sz="1750" spc="-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45">
                <a:solidFill>
                  <a:srgbClr val="383838"/>
                </a:solidFill>
                <a:latin typeface="Arial MT"/>
                <a:cs typeface="Arial MT"/>
              </a:rPr>
              <a:t>reality</a:t>
            </a:r>
            <a:r>
              <a:rPr dirty="0" sz="1750" spc="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today.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793788" y="5283453"/>
            <a:ext cx="4196715" cy="2051050"/>
          </a:xfrm>
          <a:custGeom>
            <a:avLst/>
            <a:gdLst/>
            <a:ahLst/>
            <a:cxnLst/>
            <a:rect l="l" t="t" r="r" b="b"/>
            <a:pathLst>
              <a:path w="4196715" h="2051050">
                <a:moveTo>
                  <a:pt x="4162386" y="0"/>
                </a:moveTo>
                <a:lnTo>
                  <a:pt x="34023" y="0"/>
                </a:lnTo>
                <a:lnTo>
                  <a:pt x="20777" y="2674"/>
                </a:lnTo>
                <a:lnTo>
                  <a:pt x="9963" y="9969"/>
                </a:lnTo>
                <a:lnTo>
                  <a:pt x="2672" y="20788"/>
                </a:lnTo>
                <a:lnTo>
                  <a:pt x="0" y="34036"/>
                </a:lnTo>
                <a:lnTo>
                  <a:pt x="0" y="2016531"/>
                </a:lnTo>
                <a:lnTo>
                  <a:pt x="2672" y="2029777"/>
                </a:lnTo>
                <a:lnTo>
                  <a:pt x="9963" y="2040591"/>
                </a:lnTo>
                <a:lnTo>
                  <a:pt x="20777" y="2047881"/>
                </a:lnTo>
                <a:lnTo>
                  <a:pt x="34023" y="2050554"/>
                </a:lnTo>
                <a:lnTo>
                  <a:pt x="4162386" y="2050554"/>
                </a:lnTo>
                <a:lnTo>
                  <a:pt x="4175634" y="2047881"/>
                </a:lnTo>
                <a:lnTo>
                  <a:pt x="4186453" y="2040591"/>
                </a:lnTo>
                <a:lnTo>
                  <a:pt x="4193747" y="2029777"/>
                </a:lnTo>
                <a:lnTo>
                  <a:pt x="4196422" y="2016531"/>
                </a:lnTo>
                <a:lnTo>
                  <a:pt x="4196422" y="34036"/>
                </a:lnTo>
                <a:lnTo>
                  <a:pt x="4193747" y="20788"/>
                </a:lnTo>
                <a:lnTo>
                  <a:pt x="4186453" y="9969"/>
                </a:lnTo>
                <a:lnTo>
                  <a:pt x="4175634" y="2674"/>
                </a:lnTo>
                <a:lnTo>
                  <a:pt x="4162386" y="0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008075" y="5481954"/>
            <a:ext cx="3251835" cy="1609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114">
                <a:solidFill>
                  <a:srgbClr val="383838"/>
                </a:solidFill>
                <a:latin typeface="Times New Roman"/>
                <a:cs typeface="Times New Roman"/>
              </a:rPr>
              <a:t>Connected</a:t>
            </a:r>
            <a:r>
              <a:rPr dirty="0" sz="2300" spc="-30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2300" spc="-10">
                <a:solidFill>
                  <a:srgbClr val="383838"/>
                </a:solidFill>
                <a:latin typeface="Times New Roman"/>
                <a:cs typeface="Times New Roman"/>
              </a:rPr>
              <a:t>Living</a:t>
            </a:r>
            <a:endParaRPr sz="2300">
              <a:latin typeface="Times New Roman"/>
              <a:cs typeface="Times New Roman"/>
            </a:endParaRPr>
          </a:p>
          <a:p>
            <a:pPr marL="12700" marR="5080">
              <a:lnSpc>
                <a:spcPct val="138300"/>
              </a:lnSpc>
              <a:spcBef>
                <a:spcPts val="990"/>
              </a:spcBef>
            </a:pP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Devices</a:t>
            </a:r>
            <a:r>
              <a:rPr dirty="0" sz="1750" spc="1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communicate </a:t>
            </a:r>
            <a:r>
              <a:rPr dirty="0" sz="1750" spc="10">
                <a:solidFill>
                  <a:srgbClr val="383838"/>
                </a:solidFill>
                <a:latin typeface="Arial MT"/>
                <a:cs typeface="Arial MT"/>
              </a:rPr>
              <a:t>autonomously</a:t>
            </a:r>
            <a:r>
              <a:rPr dirty="0" sz="1750" spc="120">
                <a:solidFill>
                  <a:srgbClr val="383838"/>
                </a:solidFill>
                <a:latin typeface="Arial MT"/>
                <a:cs typeface="Arial MT"/>
              </a:rPr>
              <a:t> to</a:t>
            </a:r>
            <a:r>
              <a:rPr dirty="0" sz="1750" spc="1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0">
                <a:solidFill>
                  <a:srgbClr val="383838"/>
                </a:solidFill>
                <a:latin typeface="Arial MT"/>
                <a:cs typeface="Arial MT"/>
              </a:rPr>
              <a:t>enhance</a:t>
            </a:r>
            <a:r>
              <a:rPr dirty="0" sz="1750" spc="1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daily routines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5216905" y="5283453"/>
            <a:ext cx="4196715" cy="2051050"/>
          </a:xfrm>
          <a:custGeom>
            <a:avLst/>
            <a:gdLst/>
            <a:ahLst/>
            <a:cxnLst/>
            <a:rect l="l" t="t" r="r" b="b"/>
            <a:pathLst>
              <a:path w="4196715" h="2051050">
                <a:moveTo>
                  <a:pt x="4162425" y="0"/>
                </a:moveTo>
                <a:lnTo>
                  <a:pt x="34036" y="0"/>
                </a:lnTo>
                <a:lnTo>
                  <a:pt x="20788" y="2674"/>
                </a:lnTo>
                <a:lnTo>
                  <a:pt x="9969" y="9969"/>
                </a:lnTo>
                <a:lnTo>
                  <a:pt x="2674" y="20788"/>
                </a:lnTo>
                <a:lnTo>
                  <a:pt x="0" y="34036"/>
                </a:lnTo>
                <a:lnTo>
                  <a:pt x="0" y="2016531"/>
                </a:lnTo>
                <a:lnTo>
                  <a:pt x="2674" y="2029777"/>
                </a:lnTo>
                <a:lnTo>
                  <a:pt x="9969" y="2040591"/>
                </a:lnTo>
                <a:lnTo>
                  <a:pt x="20788" y="2047881"/>
                </a:lnTo>
                <a:lnTo>
                  <a:pt x="34036" y="2050554"/>
                </a:lnTo>
                <a:lnTo>
                  <a:pt x="4162425" y="2050554"/>
                </a:lnTo>
                <a:lnTo>
                  <a:pt x="4175672" y="2047881"/>
                </a:lnTo>
                <a:lnTo>
                  <a:pt x="4186491" y="2040591"/>
                </a:lnTo>
                <a:lnTo>
                  <a:pt x="4193786" y="2029777"/>
                </a:lnTo>
                <a:lnTo>
                  <a:pt x="4196461" y="2016531"/>
                </a:lnTo>
                <a:lnTo>
                  <a:pt x="4196461" y="34036"/>
                </a:lnTo>
                <a:lnTo>
                  <a:pt x="4193786" y="20788"/>
                </a:lnTo>
                <a:lnTo>
                  <a:pt x="4186491" y="9969"/>
                </a:lnTo>
                <a:lnTo>
                  <a:pt x="4175672" y="2674"/>
                </a:lnTo>
                <a:lnTo>
                  <a:pt x="4162425" y="0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5431663" y="5481954"/>
            <a:ext cx="3317875" cy="1240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105">
                <a:solidFill>
                  <a:srgbClr val="383838"/>
                </a:solidFill>
                <a:latin typeface="Times New Roman"/>
                <a:cs typeface="Times New Roman"/>
              </a:rPr>
              <a:t>Data</a:t>
            </a:r>
            <a:r>
              <a:rPr dirty="0" sz="2300" spc="-20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2300" spc="95">
                <a:solidFill>
                  <a:srgbClr val="383838"/>
                </a:solidFill>
                <a:latin typeface="Times New Roman"/>
                <a:cs typeface="Times New Roman"/>
              </a:rPr>
              <a:t>Intelligence</a:t>
            </a:r>
            <a:endParaRPr sz="2300">
              <a:latin typeface="Times New Roman"/>
              <a:cs typeface="Times New Roman"/>
            </a:endParaRPr>
          </a:p>
          <a:p>
            <a:pPr marL="12700" marR="5080">
              <a:lnSpc>
                <a:spcPct val="138300"/>
              </a:lnSpc>
              <a:spcBef>
                <a:spcPts val="990"/>
              </a:spcBef>
            </a:pP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Real-</a:t>
            </a:r>
            <a:r>
              <a:rPr dirty="0" sz="1750" spc="80">
                <a:solidFill>
                  <a:srgbClr val="383838"/>
                </a:solidFill>
                <a:latin typeface="Arial MT"/>
                <a:cs typeface="Arial MT"/>
              </a:rPr>
              <a:t>time</a:t>
            </a:r>
            <a:r>
              <a:rPr dirty="0" sz="1750" spc="1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insights</a:t>
            </a:r>
            <a:r>
              <a:rPr dirty="0" sz="1750" spc="1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drive</a:t>
            </a:r>
            <a:r>
              <a:rPr dirty="0" sz="1750" spc="1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smarter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decisions</a:t>
            </a:r>
            <a:r>
              <a:rPr dirty="0" sz="1750" spc="1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80">
                <a:solidFill>
                  <a:srgbClr val="383838"/>
                </a:solidFill>
                <a:latin typeface="Arial MT"/>
                <a:cs typeface="Arial MT"/>
              </a:rPr>
              <a:t>at</a:t>
            </a:r>
            <a:r>
              <a:rPr dirty="0" sz="1750" spc="1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20">
                <a:solidFill>
                  <a:srgbClr val="383838"/>
                </a:solidFill>
                <a:latin typeface="Arial MT"/>
                <a:cs typeface="Arial MT"/>
              </a:rPr>
              <a:t>home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9640189" y="5283453"/>
            <a:ext cx="4196715" cy="2051050"/>
          </a:xfrm>
          <a:custGeom>
            <a:avLst/>
            <a:gdLst/>
            <a:ahLst/>
            <a:cxnLst/>
            <a:rect l="l" t="t" r="r" b="b"/>
            <a:pathLst>
              <a:path w="4196715" h="2051050">
                <a:moveTo>
                  <a:pt x="4162297" y="0"/>
                </a:moveTo>
                <a:lnTo>
                  <a:pt x="33908" y="0"/>
                </a:lnTo>
                <a:lnTo>
                  <a:pt x="20681" y="2674"/>
                </a:lnTo>
                <a:lnTo>
                  <a:pt x="9905" y="9969"/>
                </a:lnTo>
                <a:lnTo>
                  <a:pt x="2655" y="20788"/>
                </a:lnTo>
                <a:lnTo>
                  <a:pt x="0" y="34036"/>
                </a:lnTo>
                <a:lnTo>
                  <a:pt x="0" y="2016531"/>
                </a:lnTo>
                <a:lnTo>
                  <a:pt x="2655" y="2029777"/>
                </a:lnTo>
                <a:lnTo>
                  <a:pt x="9905" y="2040591"/>
                </a:lnTo>
                <a:lnTo>
                  <a:pt x="20681" y="2047881"/>
                </a:lnTo>
                <a:lnTo>
                  <a:pt x="33908" y="2050554"/>
                </a:lnTo>
                <a:lnTo>
                  <a:pt x="4162297" y="2050554"/>
                </a:lnTo>
                <a:lnTo>
                  <a:pt x="4175545" y="2047881"/>
                </a:lnTo>
                <a:lnTo>
                  <a:pt x="4186364" y="2040591"/>
                </a:lnTo>
                <a:lnTo>
                  <a:pt x="4193659" y="2029777"/>
                </a:lnTo>
                <a:lnTo>
                  <a:pt x="4196333" y="2016531"/>
                </a:lnTo>
                <a:lnTo>
                  <a:pt x="4196333" y="34036"/>
                </a:lnTo>
                <a:lnTo>
                  <a:pt x="4193659" y="20788"/>
                </a:lnTo>
                <a:lnTo>
                  <a:pt x="4186364" y="9969"/>
                </a:lnTo>
                <a:lnTo>
                  <a:pt x="4175545" y="2674"/>
                </a:lnTo>
                <a:lnTo>
                  <a:pt x="4162297" y="0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9855200" y="5481954"/>
            <a:ext cx="3601085" cy="1240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100">
                <a:solidFill>
                  <a:srgbClr val="383838"/>
                </a:solidFill>
                <a:latin typeface="Times New Roman"/>
                <a:cs typeface="Times New Roman"/>
              </a:rPr>
              <a:t>Remote</a:t>
            </a:r>
            <a:r>
              <a:rPr dirty="0" sz="2300" spc="-5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2300" spc="85">
                <a:solidFill>
                  <a:srgbClr val="383838"/>
                </a:solidFill>
                <a:latin typeface="Times New Roman"/>
                <a:cs typeface="Times New Roman"/>
              </a:rPr>
              <a:t>Control</a:t>
            </a:r>
            <a:endParaRPr sz="2300">
              <a:latin typeface="Times New Roman"/>
              <a:cs typeface="Times New Roman"/>
            </a:endParaRPr>
          </a:p>
          <a:p>
            <a:pPr marL="12700" marR="5080">
              <a:lnSpc>
                <a:spcPct val="138300"/>
              </a:lnSpc>
              <a:spcBef>
                <a:spcPts val="990"/>
              </a:spcBef>
            </a:pP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Manage</a:t>
            </a:r>
            <a:r>
              <a:rPr dirty="0" sz="1750" spc="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your</a:t>
            </a:r>
            <a:r>
              <a:rPr dirty="0" sz="1750" spc="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home</a:t>
            </a:r>
            <a:r>
              <a:rPr dirty="0" sz="1750" spc="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from</a:t>
            </a:r>
            <a:r>
              <a:rPr dirty="0" sz="1750" spc="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anywhere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in</a:t>
            </a:r>
            <a:r>
              <a:rPr dirty="0" sz="1750" spc="-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5">
                <a:solidFill>
                  <a:srgbClr val="383838"/>
                </a:solidFill>
                <a:latin typeface="Arial MT"/>
                <a:cs typeface="Arial MT"/>
              </a:rPr>
              <a:t>the</a:t>
            </a:r>
            <a:r>
              <a:rPr dirty="0" sz="1750" spc="-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world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54355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105"/>
              </a:spcBef>
            </a:pPr>
            <a:r>
              <a:rPr dirty="0" spc="250"/>
              <a:t>What</a:t>
            </a:r>
            <a:r>
              <a:rPr dirty="0" spc="-60"/>
              <a:t> </a:t>
            </a:r>
            <a:r>
              <a:rPr dirty="0" spc="130"/>
              <a:t>Makes</a:t>
            </a:r>
            <a:r>
              <a:rPr dirty="0" spc="-30"/>
              <a:t> </a:t>
            </a:r>
            <a:r>
              <a:rPr dirty="0" spc="285"/>
              <a:t>a</a:t>
            </a:r>
            <a:r>
              <a:rPr dirty="0" spc="-50"/>
              <a:t> </a:t>
            </a:r>
            <a:r>
              <a:rPr dirty="0" spc="225"/>
              <a:t>Home</a:t>
            </a:r>
            <a:r>
              <a:rPr dirty="0" spc="-240"/>
              <a:t> </a:t>
            </a:r>
            <a:r>
              <a:rPr dirty="0" spc="185"/>
              <a:t>'Smart'?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1304" y="2175179"/>
            <a:ext cx="12709525" cy="1132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8300"/>
              </a:lnSpc>
              <a:spcBef>
                <a:spcPts val="100"/>
              </a:spcBef>
            </a:pP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smart</a:t>
            </a:r>
            <a:r>
              <a:rPr dirty="0" sz="1750" spc="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home</a:t>
            </a:r>
            <a:r>
              <a:rPr dirty="0" sz="1750" spc="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uses</a:t>
            </a:r>
            <a:r>
              <a:rPr dirty="0" sz="1750" spc="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25">
                <a:solidFill>
                  <a:srgbClr val="383838"/>
                </a:solidFill>
                <a:latin typeface="Arial MT"/>
                <a:cs typeface="Arial MT"/>
              </a:rPr>
              <a:t>IoT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 technology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20">
                <a:solidFill>
                  <a:srgbClr val="383838"/>
                </a:solidFill>
                <a:latin typeface="Arial MT"/>
                <a:cs typeface="Arial MT"/>
              </a:rPr>
              <a:t>to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automate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750" spc="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control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household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systems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750" spc="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appliances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remotely.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Imagine</a:t>
            </a:r>
            <a:r>
              <a:rPr dirty="0" sz="1750" spc="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adjusting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your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air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 conditioner</a:t>
            </a:r>
            <a:r>
              <a:rPr dirty="0" sz="1750" spc="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before you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arrive</a:t>
            </a:r>
            <a:r>
              <a:rPr dirty="0" sz="1750" spc="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home,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 or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receiving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alerts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when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someone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rings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your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doorbell</a:t>
            </a:r>
            <a:r>
              <a:rPr dirty="0" sz="1750" spc="9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45">
                <a:solidFill>
                  <a:srgbClr val="383838"/>
                </a:solidFill>
                <a:latin typeface="Arial MT"/>
                <a:cs typeface="Arial MT"/>
              </a:rPr>
              <a:t>–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all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5">
                <a:solidFill>
                  <a:srgbClr val="383838"/>
                </a:solidFill>
                <a:latin typeface="Arial MT"/>
                <a:cs typeface="Arial MT"/>
              </a:rPr>
              <a:t>from</a:t>
            </a:r>
            <a:r>
              <a:rPr dirty="0" sz="1750" spc="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your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mobile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phone.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896988" y="3594087"/>
            <a:ext cx="474345" cy="652145"/>
            <a:chOff x="896988" y="3594087"/>
            <a:chExt cx="474345" cy="652145"/>
          </a:xfrm>
        </p:grpSpPr>
        <p:sp>
          <p:nvSpPr>
            <p:cNvPr id="5" name="object 5" descr=""/>
            <p:cNvSpPr/>
            <p:nvPr/>
          </p:nvSpPr>
          <p:spPr>
            <a:xfrm>
              <a:off x="910817" y="3607916"/>
              <a:ext cx="447040" cy="624840"/>
            </a:xfrm>
            <a:custGeom>
              <a:avLst/>
              <a:gdLst/>
              <a:ahLst/>
              <a:cxnLst/>
              <a:rect l="l" t="t" r="r" b="b"/>
              <a:pathLst>
                <a:path w="447040" h="624839">
                  <a:moveTo>
                    <a:pt x="143699" y="511301"/>
                  </a:moveTo>
                  <a:lnTo>
                    <a:pt x="145264" y="511301"/>
                  </a:lnTo>
                  <a:lnTo>
                    <a:pt x="147079" y="511306"/>
                  </a:lnTo>
                  <a:lnTo>
                    <a:pt x="149634" y="511306"/>
                  </a:lnTo>
                  <a:lnTo>
                    <a:pt x="152179" y="511306"/>
                  </a:lnTo>
                  <a:lnTo>
                    <a:pt x="154746" y="511306"/>
                  </a:lnTo>
                  <a:lnTo>
                    <a:pt x="157313" y="511306"/>
                  </a:lnTo>
                  <a:lnTo>
                    <a:pt x="159874" y="511312"/>
                  </a:lnTo>
                  <a:lnTo>
                    <a:pt x="162441" y="511312"/>
                  </a:lnTo>
                  <a:lnTo>
                    <a:pt x="165008" y="511312"/>
                  </a:lnTo>
                  <a:lnTo>
                    <a:pt x="167575" y="511312"/>
                  </a:lnTo>
                  <a:lnTo>
                    <a:pt x="170136" y="511312"/>
                  </a:lnTo>
                  <a:lnTo>
                    <a:pt x="172703" y="511317"/>
                  </a:lnTo>
                  <a:lnTo>
                    <a:pt x="175270" y="511317"/>
                  </a:lnTo>
                  <a:lnTo>
                    <a:pt x="177831" y="511317"/>
                  </a:lnTo>
                  <a:lnTo>
                    <a:pt x="180398" y="511317"/>
                  </a:lnTo>
                  <a:lnTo>
                    <a:pt x="182965" y="511323"/>
                  </a:lnTo>
                  <a:lnTo>
                    <a:pt x="185526" y="511323"/>
                  </a:lnTo>
                  <a:lnTo>
                    <a:pt x="188093" y="511323"/>
                  </a:lnTo>
                  <a:lnTo>
                    <a:pt x="190660" y="511323"/>
                  </a:lnTo>
                  <a:lnTo>
                    <a:pt x="193226" y="511323"/>
                  </a:lnTo>
                  <a:lnTo>
                    <a:pt x="195788" y="511328"/>
                  </a:lnTo>
                  <a:lnTo>
                    <a:pt x="198355" y="511328"/>
                  </a:lnTo>
                  <a:lnTo>
                    <a:pt x="200921" y="511328"/>
                  </a:lnTo>
                  <a:lnTo>
                    <a:pt x="203483" y="511328"/>
                  </a:lnTo>
                  <a:lnTo>
                    <a:pt x="206050" y="511328"/>
                  </a:lnTo>
                  <a:lnTo>
                    <a:pt x="208616" y="511334"/>
                  </a:lnTo>
                  <a:lnTo>
                    <a:pt x="211183" y="511334"/>
                  </a:lnTo>
                  <a:lnTo>
                    <a:pt x="213745" y="511334"/>
                  </a:lnTo>
                  <a:lnTo>
                    <a:pt x="216295" y="511334"/>
                  </a:lnTo>
                  <a:lnTo>
                    <a:pt x="218851" y="511339"/>
                  </a:lnTo>
                  <a:lnTo>
                    <a:pt x="221395" y="511339"/>
                  </a:lnTo>
                  <a:lnTo>
                    <a:pt x="223979" y="511339"/>
                  </a:lnTo>
                  <a:lnTo>
                    <a:pt x="226557" y="511339"/>
                  </a:lnTo>
                  <a:lnTo>
                    <a:pt x="229140" y="511339"/>
                  </a:lnTo>
                  <a:lnTo>
                    <a:pt x="231701" y="511345"/>
                  </a:lnTo>
                  <a:lnTo>
                    <a:pt x="234268" y="511345"/>
                  </a:lnTo>
                  <a:lnTo>
                    <a:pt x="236835" y="511345"/>
                  </a:lnTo>
                  <a:lnTo>
                    <a:pt x="239396" y="511345"/>
                  </a:lnTo>
                  <a:lnTo>
                    <a:pt x="241963" y="511345"/>
                  </a:lnTo>
                  <a:lnTo>
                    <a:pt x="244530" y="511350"/>
                  </a:lnTo>
                  <a:lnTo>
                    <a:pt x="247097" y="511350"/>
                  </a:lnTo>
                  <a:lnTo>
                    <a:pt x="249658" y="511350"/>
                  </a:lnTo>
                  <a:lnTo>
                    <a:pt x="252225" y="511350"/>
                  </a:lnTo>
                  <a:lnTo>
                    <a:pt x="254792" y="511350"/>
                  </a:lnTo>
                  <a:lnTo>
                    <a:pt x="257353" y="511356"/>
                  </a:lnTo>
                  <a:lnTo>
                    <a:pt x="259920" y="511356"/>
                  </a:lnTo>
                  <a:lnTo>
                    <a:pt x="262487" y="511356"/>
                  </a:lnTo>
                  <a:lnTo>
                    <a:pt x="265054" y="511356"/>
                  </a:lnTo>
                  <a:lnTo>
                    <a:pt x="267615" y="511362"/>
                  </a:lnTo>
                  <a:lnTo>
                    <a:pt x="270182" y="511362"/>
                  </a:lnTo>
                  <a:lnTo>
                    <a:pt x="272749" y="511362"/>
                  </a:lnTo>
                  <a:lnTo>
                    <a:pt x="275310" y="511362"/>
                  </a:lnTo>
                  <a:lnTo>
                    <a:pt x="277877" y="511362"/>
                  </a:lnTo>
                  <a:lnTo>
                    <a:pt x="280444" y="511367"/>
                  </a:lnTo>
                  <a:lnTo>
                    <a:pt x="283011" y="511367"/>
                  </a:lnTo>
                  <a:lnTo>
                    <a:pt x="285572" y="511367"/>
                  </a:lnTo>
                  <a:lnTo>
                    <a:pt x="288139" y="511367"/>
                  </a:lnTo>
                  <a:lnTo>
                    <a:pt x="290706" y="511367"/>
                  </a:lnTo>
                  <a:lnTo>
                    <a:pt x="293267" y="511373"/>
                  </a:lnTo>
                  <a:lnTo>
                    <a:pt x="295834" y="511373"/>
                  </a:lnTo>
                  <a:lnTo>
                    <a:pt x="298434" y="511373"/>
                  </a:lnTo>
                  <a:lnTo>
                    <a:pt x="300298" y="511373"/>
                  </a:lnTo>
                  <a:lnTo>
                    <a:pt x="301925" y="511373"/>
                  </a:lnTo>
                </a:path>
                <a:path w="447040" h="624839">
                  <a:moveTo>
                    <a:pt x="130781" y="525766"/>
                  </a:moveTo>
                  <a:lnTo>
                    <a:pt x="130781" y="526447"/>
                  </a:lnTo>
                  <a:lnTo>
                    <a:pt x="130781" y="527415"/>
                  </a:lnTo>
                  <a:lnTo>
                    <a:pt x="130781" y="528620"/>
                  </a:lnTo>
                  <a:lnTo>
                    <a:pt x="130781" y="529981"/>
                  </a:lnTo>
                  <a:lnTo>
                    <a:pt x="130781" y="531187"/>
                  </a:lnTo>
                  <a:lnTo>
                    <a:pt x="130781" y="532542"/>
                  </a:lnTo>
                  <a:lnTo>
                    <a:pt x="130781" y="533754"/>
                  </a:lnTo>
                  <a:lnTo>
                    <a:pt x="130781" y="535109"/>
                  </a:lnTo>
                  <a:lnTo>
                    <a:pt x="130781" y="536315"/>
                  </a:lnTo>
                  <a:lnTo>
                    <a:pt x="130781" y="537676"/>
                  </a:lnTo>
                  <a:lnTo>
                    <a:pt x="130787" y="538882"/>
                  </a:lnTo>
                  <a:lnTo>
                    <a:pt x="130787" y="540243"/>
                  </a:lnTo>
                  <a:lnTo>
                    <a:pt x="130787" y="541448"/>
                  </a:lnTo>
                  <a:lnTo>
                    <a:pt x="130787" y="542804"/>
                  </a:lnTo>
                  <a:lnTo>
                    <a:pt x="130787" y="544010"/>
                  </a:lnTo>
                  <a:lnTo>
                    <a:pt x="130787" y="545370"/>
                  </a:lnTo>
                  <a:lnTo>
                    <a:pt x="130787" y="546576"/>
                  </a:lnTo>
                  <a:lnTo>
                    <a:pt x="130787" y="547937"/>
                  </a:lnTo>
                  <a:lnTo>
                    <a:pt x="130787" y="549143"/>
                  </a:lnTo>
                  <a:lnTo>
                    <a:pt x="130787" y="550498"/>
                  </a:lnTo>
                  <a:lnTo>
                    <a:pt x="130792" y="551710"/>
                  </a:lnTo>
                  <a:lnTo>
                    <a:pt x="130792" y="553065"/>
                  </a:lnTo>
                  <a:lnTo>
                    <a:pt x="130792" y="554271"/>
                  </a:lnTo>
                  <a:lnTo>
                    <a:pt x="130792" y="555632"/>
                  </a:lnTo>
                  <a:lnTo>
                    <a:pt x="130792" y="556838"/>
                  </a:lnTo>
                  <a:lnTo>
                    <a:pt x="130792" y="558199"/>
                  </a:lnTo>
                  <a:lnTo>
                    <a:pt x="130792" y="559404"/>
                  </a:lnTo>
                  <a:lnTo>
                    <a:pt x="141856" y="596804"/>
                  </a:lnTo>
                  <a:lnTo>
                    <a:pt x="172277" y="620034"/>
                  </a:lnTo>
                  <a:lnTo>
                    <a:pt x="201098" y="624339"/>
                  </a:lnTo>
                  <a:lnTo>
                    <a:pt x="202454" y="624343"/>
                  </a:lnTo>
                  <a:lnTo>
                    <a:pt x="203660" y="624345"/>
                  </a:lnTo>
                  <a:lnTo>
                    <a:pt x="205021" y="624348"/>
                  </a:lnTo>
                  <a:lnTo>
                    <a:pt x="206227" y="624351"/>
                  </a:lnTo>
                  <a:lnTo>
                    <a:pt x="207587" y="624354"/>
                  </a:lnTo>
                  <a:lnTo>
                    <a:pt x="208793" y="624356"/>
                  </a:lnTo>
                  <a:lnTo>
                    <a:pt x="210149" y="624359"/>
                  </a:lnTo>
                  <a:lnTo>
                    <a:pt x="211355" y="624362"/>
                  </a:lnTo>
                  <a:lnTo>
                    <a:pt x="212716" y="624365"/>
                  </a:lnTo>
                  <a:lnTo>
                    <a:pt x="213922" y="624367"/>
                  </a:lnTo>
                  <a:lnTo>
                    <a:pt x="215282" y="624370"/>
                  </a:lnTo>
                  <a:lnTo>
                    <a:pt x="216488" y="624373"/>
                  </a:lnTo>
                  <a:lnTo>
                    <a:pt x="217844" y="624376"/>
                  </a:lnTo>
                  <a:lnTo>
                    <a:pt x="219055" y="624378"/>
                  </a:lnTo>
                  <a:lnTo>
                    <a:pt x="220411" y="624382"/>
                  </a:lnTo>
                  <a:lnTo>
                    <a:pt x="221617" y="624384"/>
                  </a:lnTo>
                  <a:lnTo>
                    <a:pt x="222977" y="624387"/>
                  </a:lnTo>
                  <a:lnTo>
                    <a:pt x="224183" y="624390"/>
                  </a:lnTo>
                  <a:lnTo>
                    <a:pt x="225544" y="624393"/>
                  </a:lnTo>
                  <a:lnTo>
                    <a:pt x="226750" y="624395"/>
                  </a:lnTo>
                  <a:lnTo>
                    <a:pt x="228106" y="624399"/>
                  </a:lnTo>
                  <a:lnTo>
                    <a:pt x="229312" y="624401"/>
                  </a:lnTo>
                  <a:lnTo>
                    <a:pt x="230672" y="624404"/>
                  </a:lnTo>
                  <a:lnTo>
                    <a:pt x="231878" y="624406"/>
                  </a:lnTo>
                  <a:lnTo>
                    <a:pt x="233239" y="624406"/>
                  </a:lnTo>
                  <a:lnTo>
                    <a:pt x="234445" y="624403"/>
                  </a:lnTo>
                  <a:lnTo>
                    <a:pt x="235801" y="624394"/>
                  </a:lnTo>
                  <a:lnTo>
                    <a:pt x="237012" y="624382"/>
                  </a:lnTo>
                  <a:lnTo>
                    <a:pt x="238367" y="624367"/>
                  </a:lnTo>
                  <a:lnTo>
                    <a:pt x="239573" y="624354"/>
                  </a:lnTo>
                  <a:lnTo>
                    <a:pt x="240934" y="624340"/>
                  </a:lnTo>
                  <a:lnTo>
                    <a:pt x="242140" y="624328"/>
                  </a:lnTo>
                  <a:lnTo>
                    <a:pt x="243534" y="624316"/>
                  </a:lnTo>
                  <a:lnTo>
                    <a:pt x="245011" y="624294"/>
                  </a:lnTo>
                  <a:lnTo>
                    <a:pt x="246677" y="624262"/>
                  </a:lnTo>
                  <a:lnTo>
                    <a:pt x="248391" y="624221"/>
                  </a:lnTo>
                  <a:lnTo>
                    <a:pt x="249819" y="624187"/>
                  </a:lnTo>
                  <a:lnTo>
                    <a:pt x="286413" y="613208"/>
                  </a:lnTo>
                  <a:lnTo>
                    <a:pt x="311141" y="582654"/>
                  </a:lnTo>
                  <a:lnTo>
                    <a:pt x="314576" y="560843"/>
                  </a:lnTo>
                  <a:lnTo>
                    <a:pt x="314626" y="559454"/>
                  </a:lnTo>
                  <a:lnTo>
                    <a:pt x="314665" y="558232"/>
                  </a:lnTo>
                  <a:lnTo>
                    <a:pt x="314698" y="556838"/>
                  </a:lnTo>
                  <a:lnTo>
                    <a:pt x="314709" y="555632"/>
                  </a:lnTo>
                  <a:lnTo>
                    <a:pt x="314714" y="554271"/>
                  </a:lnTo>
                  <a:lnTo>
                    <a:pt x="314720" y="553065"/>
                  </a:lnTo>
                  <a:lnTo>
                    <a:pt x="314720" y="551710"/>
                  </a:lnTo>
                  <a:lnTo>
                    <a:pt x="314720" y="550498"/>
                  </a:lnTo>
                  <a:lnTo>
                    <a:pt x="314720" y="549143"/>
                  </a:lnTo>
                  <a:lnTo>
                    <a:pt x="314726" y="547937"/>
                  </a:lnTo>
                  <a:lnTo>
                    <a:pt x="314726" y="546576"/>
                  </a:lnTo>
                  <a:lnTo>
                    <a:pt x="314726" y="545370"/>
                  </a:lnTo>
                  <a:lnTo>
                    <a:pt x="314731" y="544010"/>
                  </a:lnTo>
                  <a:lnTo>
                    <a:pt x="314731" y="542804"/>
                  </a:lnTo>
                  <a:lnTo>
                    <a:pt x="314731" y="541448"/>
                  </a:lnTo>
                  <a:lnTo>
                    <a:pt x="314731" y="540243"/>
                  </a:lnTo>
                  <a:lnTo>
                    <a:pt x="314737" y="538882"/>
                  </a:lnTo>
                  <a:lnTo>
                    <a:pt x="314737" y="537676"/>
                  </a:lnTo>
                  <a:lnTo>
                    <a:pt x="314737" y="536315"/>
                  </a:lnTo>
                  <a:lnTo>
                    <a:pt x="314742" y="535109"/>
                  </a:lnTo>
                  <a:lnTo>
                    <a:pt x="314742" y="533754"/>
                  </a:lnTo>
                  <a:lnTo>
                    <a:pt x="314742" y="532542"/>
                  </a:lnTo>
                  <a:lnTo>
                    <a:pt x="314742" y="531187"/>
                  </a:lnTo>
                  <a:lnTo>
                    <a:pt x="314748" y="529981"/>
                  </a:lnTo>
                  <a:lnTo>
                    <a:pt x="314748" y="528620"/>
                  </a:lnTo>
                  <a:lnTo>
                    <a:pt x="314748" y="527415"/>
                  </a:lnTo>
                  <a:lnTo>
                    <a:pt x="314748" y="526447"/>
                  </a:lnTo>
                  <a:lnTo>
                    <a:pt x="314753" y="525766"/>
                  </a:lnTo>
                </a:path>
                <a:path w="447040" h="624839">
                  <a:moveTo>
                    <a:pt x="116276" y="500309"/>
                  </a:moveTo>
                  <a:lnTo>
                    <a:pt x="112177" y="460730"/>
                  </a:lnTo>
                  <a:lnTo>
                    <a:pt x="98823" y="424630"/>
                  </a:lnTo>
                  <a:lnTo>
                    <a:pt x="78266" y="391135"/>
                  </a:lnTo>
                  <a:lnTo>
                    <a:pt x="60741" y="368085"/>
                  </a:lnTo>
                  <a:lnTo>
                    <a:pt x="58788" y="365579"/>
                  </a:lnTo>
                  <a:lnTo>
                    <a:pt x="34680" y="332311"/>
                  </a:lnTo>
                  <a:lnTo>
                    <a:pt x="15655" y="296350"/>
                  </a:lnTo>
                  <a:lnTo>
                    <a:pt x="3778" y="258164"/>
                  </a:lnTo>
                  <a:lnTo>
                    <a:pt x="33" y="219641"/>
                  </a:lnTo>
                  <a:lnTo>
                    <a:pt x="0" y="214685"/>
                  </a:lnTo>
                  <a:lnTo>
                    <a:pt x="11" y="212207"/>
                  </a:lnTo>
                  <a:lnTo>
                    <a:pt x="4547" y="173878"/>
                  </a:lnTo>
                  <a:lnTo>
                    <a:pt x="16761" y="135460"/>
                  </a:lnTo>
                  <a:lnTo>
                    <a:pt x="36522" y="99653"/>
                  </a:lnTo>
                  <a:lnTo>
                    <a:pt x="56879" y="74124"/>
                  </a:lnTo>
                  <a:lnTo>
                    <a:pt x="59269" y="71524"/>
                  </a:lnTo>
                  <a:lnTo>
                    <a:pt x="89197" y="44806"/>
                  </a:lnTo>
                  <a:lnTo>
                    <a:pt x="109798" y="30922"/>
                  </a:lnTo>
                  <a:lnTo>
                    <a:pt x="112327" y="29428"/>
                  </a:lnTo>
                  <a:lnTo>
                    <a:pt x="125188" y="22514"/>
                  </a:lnTo>
                  <a:lnTo>
                    <a:pt x="127694" y="21241"/>
                  </a:lnTo>
                  <a:lnTo>
                    <a:pt x="130245" y="20080"/>
                  </a:lnTo>
                  <a:lnTo>
                    <a:pt x="132850" y="18863"/>
                  </a:lnTo>
                  <a:lnTo>
                    <a:pt x="135439" y="17756"/>
                  </a:lnTo>
                  <a:lnTo>
                    <a:pt x="138045" y="16650"/>
                  </a:lnTo>
                  <a:lnTo>
                    <a:pt x="140562" y="15599"/>
                  </a:lnTo>
                  <a:lnTo>
                    <a:pt x="143090" y="14603"/>
                  </a:lnTo>
                  <a:lnTo>
                    <a:pt x="145596" y="13607"/>
                  </a:lnTo>
                  <a:lnTo>
                    <a:pt x="148141" y="12722"/>
                  </a:lnTo>
                  <a:lnTo>
                    <a:pt x="150691" y="11782"/>
                  </a:lnTo>
                  <a:lnTo>
                    <a:pt x="153252" y="10952"/>
                  </a:lnTo>
                  <a:lnTo>
                    <a:pt x="166059" y="7135"/>
                  </a:lnTo>
                  <a:lnTo>
                    <a:pt x="168587" y="6472"/>
                  </a:lnTo>
                  <a:lnTo>
                    <a:pt x="196689" y="1382"/>
                  </a:lnTo>
                  <a:lnTo>
                    <a:pt x="199245" y="1106"/>
                  </a:lnTo>
                  <a:lnTo>
                    <a:pt x="201829" y="829"/>
                  </a:lnTo>
                  <a:lnTo>
                    <a:pt x="204373" y="608"/>
                  </a:lnTo>
                  <a:lnTo>
                    <a:pt x="206924" y="442"/>
                  </a:lnTo>
                  <a:lnTo>
                    <a:pt x="209424" y="276"/>
                  </a:lnTo>
                  <a:lnTo>
                    <a:pt x="211698" y="165"/>
                  </a:lnTo>
                  <a:lnTo>
                    <a:pt x="213634" y="110"/>
                  </a:lnTo>
                  <a:lnTo>
                    <a:pt x="215183" y="55"/>
                  </a:lnTo>
                  <a:lnTo>
                    <a:pt x="216522" y="55"/>
                  </a:lnTo>
                  <a:lnTo>
                    <a:pt x="217833" y="0"/>
                  </a:lnTo>
                  <a:lnTo>
                    <a:pt x="219072" y="0"/>
                  </a:lnTo>
                  <a:lnTo>
                    <a:pt x="220433" y="0"/>
                  </a:lnTo>
                  <a:lnTo>
                    <a:pt x="221639" y="0"/>
                  </a:lnTo>
                  <a:lnTo>
                    <a:pt x="222994" y="0"/>
                  </a:lnTo>
                  <a:lnTo>
                    <a:pt x="224106" y="0"/>
                  </a:lnTo>
                  <a:lnTo>
                    <a:pt x="225423" y="55"/>
                  </a:lnTo>
                  <a:lnTo>
                    <a:pt x="226595" y="55"/>
                  </a:lnTo>
                  <a:lnTo>
                    <a:pt x="228023" y="110"/>
                  </a:lnTo>
                  <a:lnTo>
                    <a:pt x="229273" y="165"/>
                  </a:lnTo>
                  <a:lnTo>
                    <a:pt x="230672" y="165"/>
                  </a:lnTo>
                  <a:lnTo>
                    <a:pt x="231878" y="221"/>
                  </a:lnTo>
                  <a:lnTo>
                    <a:pt x="233239" y="276"/>
                  </a:lnTo>
                  <a:lnTo>
                    <a:pt x="234445" y="387"/>
                  </a:lnTo>
                  <a:lnTo>
                    <a:pt x="235801" y="442"/>
                  </a:lnTo>
                  <a:lnTo>
                    <a:pt x="237012" y="497"/>
                  </a:lnTo>
                  <a:lnTo>
                    <a:pt x="238395" y="608"/>
                  </a:lnTo>
                  <a:lnTo>
                    <a:pt x="239601" y="663"/>
                  </a:lnTo>
                  <a:lnTo>
                    <a:pt x="240956" y="774"/>
                  </a:lnTo>
                  <a:lnTo>
                    <a:pt x="242068" y="829"/>
                  </a:lnTo>
                  <a:lnTo>
                    <a:pt x="243374" y="940"/>
                  </a:lnTo>
                  <a:lnTo>
                    <a:pt x="244541" y="1051"/>
                  </a:lnTo>
                  <a:lnTo>
                    <a:pt x="245963" y="1216"/>
                  </a:lnTo>
                  <a:lnTo>
                    <a:pt x="247224" y="1327"/>
                  </a:lnTo>
                  <a:lnTo>
                    <a:pt x="248635" y="1493"/>
                  </a:lnTo>
                  <a:lnTo>
                    <a:pt x="249830" y="1604"/>
                  </a:lnTo>
                  <a:lnTo>
                    <a:pt x="251235" y="1770"/>
                  </a:lnTo>
                  <a:lnTo>
                    <a:pt x="252673" y="1991"/>
                  </a:lnTo>
                  <a:lnTo>
                    <a:pt x="254338" y="2212"/>
                  </a:lnTo>
                  <a:lnTo>
                    <a:pt x="256003" y="2433"/>
                  </a:lnTo>
                  <a:lnTo>
                    <a:pt x="257381" y="2655"/>
                  </a:lnTo>
                  <a:lnTo>
                    <a:pt x="258764" y="2876"/>
                  </a:lnTo>
                  <a:lnTo>
                    <a:pt x="259920" y="3042"/>
                  </a:lnTo>
                  <a:lnTo>
                    <a:pt x="261397" y="3319"/>
                  </a:lnTo>
                  <a:lnTo>
                    <a:pt x="262880" y="3540"/>
                  </a:lnTo>
                  <a:lnTo>
                    <a:pt x="264578" y="3872"/>
                  </a:lnTo>
                  <a:lnTo>
                    <a:pt x="266282" y="4204"/>
                  </a:lnTo>
                  <a:lnTo>
                    <a:pt x="268002" y="4535"/>
                  </a:lnTo>
                  <a:lnTo>
                    <a:pt x="269938" y="4978"/>
                  </a:lnTo>
                  <a:lnTo>
                    <a:pt x="271869" y="5365"/>
                  </a:lnTo>
                  <a:lnTo>
                    <a:pt x="273794" y="5808"/>
                  </a:lnTo>
                  <a:lnTo>
                    <a:pt x="275299" y="6195"/>
                  </a:lnTo>
                  <a:lnTo>
                    <a:pt x="276809" y="6582"/>
                  </a:lnTo>
                  <a:lnTo>
                    <a:pt x="278248" y="6914"/>
                  </a:lnTo>
                  <a:lnTo>
                    <a:pt x="279879" y="7357"/>
                  </a:lnTo>
                  <a:lnTo>
                    <a:pt x="281467" y="7799"/>
                  </a:lnTo>
                  <a:lnTo>
                    <a:pt x="282883" y="8186"/>
                  </a:lnTo>
                  <a:lnTo>
                    <a:pt x="284333" y="8574"/>
                  </a:lnTo>
                  <a:lnTo>
                    <a:pt x="285600" y="8961"/>
                  </a:lnTo>
                  <a:lnTo>
                    <a:pt x="287032" y="9403"/>
                  </a:lnTo>
                  <a:lnTo>
                    <a:pt x="288432" y="9846"/>
                  </a:lnTo>
                  <a:lnTo>
                    <a:pt x="290036" y="10344"/>
                  </a:lnTo>
                  <a:lnTo>
                    <a:pt x="291751" y="10897"/>
                  </a:lnTo>
                  <a:lnTo>
                    <a:pt x="293582" y="11505"/>
                  </a:lnTo>
                  <a:lnTo>
                    <a:pt x="295668" y="12225"/>
                  </a:lnTo>
                  <a:lnTo>
                    <a:pt x="297964" y="13054"/>
                  </a:lnTo>
                  <a:lnTo>
                    <a:pt x="300453" y="13939"/>
                  </a:lnTo>
                  <a:lnTo>
                    <a:pt x="302926" y="14880"/>
                  </a:lnTo>
                  <a:lnTo>
                    <a:pt x="305172" y="15765"/>
                  </a:lnTo>
                  <a:lnTo>
                    <a:pt x="307113" y="16595"/>
                  </a:lnTo>
                  <a:lnTo>
                    <a:pt x="308635" y="17203"/>
                  </a:lnTo>
                  <a:lnTo>
                    <a:pt x="310051" y="17812"/>
                  </a:lnTo>
                  <a:lnTo>
                    <a:pt x="311268" y="18309"/>
                  </a:lnTo>
                  <a:lnTo>
                    <a:pt x="312618" y="18918"/>
                  </a:lnTo>
                  <a:lnTo>
                    <a:pt x="313774" y="19471"/>
                  </a:lnTo>
                  <a:lnTo>
                    <a:pt x="315207" y="20080"/>
                  </a:lnTo>
                  <a:lnTo>
                    <a:pt x="316678" y="20799"/>
                  </a:lnTo>
                  <a:lnTo>
                    <a:pt x="318393" y="21628"/>
                  </a:lnTo>
                  <a:lnTo>
                    <a:pt x="320119" y="22458"/>
                  </a:lnTo>
                  <a:lnTo>
                    <a:pt x="321829" y="23288"/>
                  </a:lnTo>
                  <a:lnTo>
                    <a:pt x="323538" y="24173"/>
                  </a:lnTo>
                  <a:lnTo>
                    <a:pt x="325198" y="25003"/>
                  </a:lnTo>
                  <a:lnTo>
                    <a:pt x="326686" y="25777"/>
                  </a:lnTo>
                  <a:lnTo>
                    <a:pt x="328096" y="26552"/>
                  </a:lnTo>
                  <a:lnTo>
                    <a:pt x="329313" y="27215"/>
                  </a:lnTo>
                  <a:lnTo>
                    <a:pt x="330624" y="27935"/>
                  </a:lnTo>
                  <a:lnTo>
                    <a:pt x="331808" y="28598"/>
                  </a:lnTo>
                  <a:lnTo>
                    <a:pt x="333186" y="29373"/>
                  </a:lnTo>
                  <a:lnTo>
                    <a:pt x="334652" y="30258"/>
                  </a:lnTo>
                  <a:lnTo>
                    <a:pt x="336544" y="31364"/>
                  </a:lnTo>
                  <a:lnTo>
                    <a:pt x="338491" y="32526"/>
                  </a:lnTo>
                  <a:lnTo>
                    <a:pt x="340383" y="33688"/>
                  </a:lnTo>
                  <a:lnTo>
                    <a:pt x="341893" y="34628"/>
                  </a:lnTo>
                  <a:lnTo>
                    <a:pt x="343271" y="35513"/>
                  </a:lnTo>
                  <a:lnTo>
                    <a:pt x="344499" y="36287"/>
                  </a:lnTo>
                  <a:lnTo>
                    <a:pt x="345915" y="37228"/>
                  </a:lnTo>
                  <a:lnTo>
                    <a:pt x="347447" y="38279"/>
                  </a:lnTo>
                  <a:lnTo>
                    <a:pt x="349201" y="39441"/>
                  </a:lnTo>
                  <a:lnTo>
                    <a:pt x="350943" y="40658"/>
                  </a:lnTo>
                  <a:lnTo>
                    <a:pt x="352454" y="41764"/>
                  </a:lnTo>
                  <a:lnTo>
                    <a:pt x="353842" y="42760"/>
                  </a:lnTo>
                  <a:lnTo>
                    <a:pt x="355037" y="43589"/>
                  </a:lnTo>
                  <a:lnTo>
                    <a:pt x="356321" y="44585"/>
                  </a:lnTo>
                  <a:lnTo>
                    <a:pt x="357504" y="45470"/>
                  </a:lnTo>
                  <a:lnTo>
                    <a:pt x="358826" y="46466"/>
                  </a:lnTo>
                  <a:lnTo>
                    <a:pt x="360082" y="47406"/>
                  </a:lnTo>
                  <a:lnTo>
                    <a:pt x="361570" y="48568"/>
                  </a:lnTo>
                  <a:lnTo>
                    <a:pt x="363092" y="49785"/>
                  </a:lnTo>
                  <a:lnTo>
                    <a:pt x="364790" y="51168"/>
                  </a:lnTo>
                  <a:lnTo>
                    <a:pt x="366427" y="52551"/>
                  </a:lnTo>
                  <a:lnTo>
                    <a:pt x="367844" y="53712"/>
                  </a:lnTo>
                  <a:lnTo>
                    <a:pt x="369193" y="54874"/>
                  </a:lnTo>
                  <a:lnTo>
                    <a:pt x="370399" y="55925"/>
                  </a:lnTo>
                  <a:lnTo>
                    <a:pt x="371793" y="57142"/>
                  </a:lnTo>
                  <a:lnTo>
                    <a:pt x="373066" y="58248"/>
                  </a:lnTo>
                  <a:lnTo>
                    <a:pt x="380545" y="65274"/>
                  </a:lnTo>
                  <a:lnTo>
                    <a:pt x="381945" y="66601"/>
                  </a:lnTo>
                  <a:lnTo>
                    <a:pt x="391487" y="76669"/>
                  </a:lnTo>
                  <a:lnTo>
                    <a:pt x="392544" y="77831"/>
                  </a:lnTo>
                  <a:lnTo>
                    <a:pt x="393684" y="79158"/>
                  </a:lnTo>
                  <a:lnTo>
                    <a:pt x="394724" y="80375"/>
                  </a:lnTo>
                  <a:lnTo>
                    <a:pt x="395941" y="81758"/>
                  </a:lnTo>
                  <a:lnTo>
                    <a:pt x="397196" y="83307"/>
                  </a:lnTo>
                  <a:lnTo>
                    <a:pt x="398585" y="84967"/>
                  </a:lnTo>
                  <a:lnTo>
                    <a:pt x="399918" y="86626"/>
                  </a:lnTo>
                  <a:lnTo>
                    <a:pt x="401063" y="88120"/>
                  </a:lnTo>
                  <a:lnTo>
                    <a:pt x="402164" y="89558"/>
                  </a:lnTo>
                  <a:lnTo>
                    <a:pt x="403282" y="90996"/>
                  </a:lnTo>
                  <a:lnTo>
                    <a:pt x="409605" y="99863"/>
                  </a:lnTo>
                  <a:lnTo>
                    <a:pt x="410434" y="101091"/>
                  </a:lnTo>
                  <a:lnTo>
                    <a:pt x="429265" y="135543"/>
                  </a:lnTo>
                  <a:lnTo>
                    <a:pt x="439157" y="163583"/>
                  </a:lnTo>
                  <a:lnTo>
                    <a:pt x="439599" y="165060"/>
                  </a:lnTo>
                  <a:lnTo>
                    <a:pt x="439986" y="166520"/>
                  </a:lnTo>
                  <a:lnTo>
                    <a:pt x="440263" y="167765"/>
                  </a:lnTo>
                  <a:lnTo>
                    <a:pt x="440650" y="169231"/>
                  </a:lnTo>
                  <a:lnTo>
                    <a:pt x="440982" y="170675"/>
                  </a:lnTo>
                  <a:lnTo>
                    <a:pt x="441369" y="172323"/>
                  </a:lnTo>
                  <a:lnTo>
                    <a:pt x="441757" y="174027"/>
                  </a:lnTo>
                  <a:lnTo>
                    <a:pt x="442089" y="175714"/>
                  </a:lnTo>
                  <a:lnTo>
                    <a:pt x="442420" y="177418"/>
                  </a:lnTo>
                  <a:lnTo>
                    <a:pt x="442752" y="179116"/>
                  </a:lnTo>
                  <a:lnTo>
                    <a:pt x="444301" y="188221"/>
                  </a:lnTo>
                  <a:lnTo>
                    <a:pt x="444523" y="189604"/>
                  </a:lnTo>
                  <a:lnTo>
                    <a:pt x="444689" y="190783"/>
                  </a:lnTo>
                  <a:lnTo>
                    <a:pt x="444855" y="192210"/>
                  </a:lnTo>
                  <a:lnTo>
                    <a:pt x="445020" y="193416"/>
                  </a:lnTo>
                  <a:lnTo>
                    <a:pt x="445186" y="194793"/>
                  </a:lnTo>
                  <a:lnTo>
                    <a:pt x="445297" y="195993"/>
                  </a:lnTo>
                  <a:lnTo>
                    <a:pt x="445463" y="197360"/>
                  </a:lnTo>
                  <a:lnTo>
                    <a:pt x="445574" y="198577"/>
                  </a:lnTo>
                  <a:lnTo>
                    <a:pt x="445740" y="199954"/>
                  </a:lnTo>
                  <a:lnTo>
                    <a:pt x="445850" y="201166"/>
                  </a:lnTo>
                  <a:lnTo>
                    <a:pt x="445961" y="202543"/>
                  </a:lnTo>
                  <a:lnTo>
                    <a:pt x="446016" y="203688"/>
                  </a:lnTo>
                  <a:lnTo>
                    <a:pt x="446127" y="205027"/>
                  </a:lnTo>
                  <a:lnTo>
                    <a:pt x="446237" y="206183"/>
                  </a:lnTo>
                  <a:lnTo>
                    <a:pt x="446293" y="207582"/>
                  </a:lnTo>
                  <a:lnTo>
                    <a:pt x="446348" y="208805"/>
                  </a:lnTo>
                  <a:lnTo>
                    <a:pt x="446459" y="210193"/>
                  </a:lnTo>
                  <a:lnTo>
                    <a:pt x="446514" y="211405"/>
                  </a:lnTo>
                  <a:lnTo>
                    <a:pt x="446514" y="212760"/>
                  </a:lnTo>
                  <a:lnTo>
                    <a:pt x="446569" y="213966"/>
                  </a:lnTo>
                  <a:lnTo>
                    <a:pt x="446625" y="215327"/>
                  </a:lnTo>
                  <a:lnTo>
                    <a:pt x="446625" y="216533"/>
                  </a:lnTo>
                  <a:lnTo>
                    <a:pt x="446625" y="217888"/>
                  </a:lnTo>
                  <a:lnTo>
                    <a:pt x="446680" y="219099"/>
                  </a:lnTo>
                  <a:lnTo>
                    <a:pt x="446625" y="220460"/>
                  </a:lnTo>
                  <a:lnTo>
                    <a:pt x="446625" y="221644"/>
                  </a:lnTo>
                  <a:lnTo>
                    <a:pt x="446569" y="223010"/>
                  </a:lnTo>
                  <a:lnTo>
                    <a:pt x="446514" y="224183"/>
                  </a:lnTo>
                  <a:lnTo>
                    <a:pt x="446459" y="225583"/>
                  </a:lnTo>
                  <a:lnTo>
                    <a:pt x="446403" y="226772"/>
                  </a:lnTo>
                  <a:lnTo>
                    <a:pt x="446293" y="228155"/>
                  </a:lnTo>
                  <a:lnTo>
                    <a:pt x="446238" y="229350"/>
                  </a:lnTo>
                  <a:lnTo>
                    <a:pt x="446127" y="230716"/>
                  </a:lnTo>
                  <a:lnTo>
                    <a:pt x="446072" y="231922"/>
                  </a:lnTo>
                  <a:lnTo>
                    <a:pt x="445961" y="233283"/>
                  </a:lnTo>
                  <a:lnTo>
                    <a:pt x="445850" y="234489"/>
                  </a:lnTo>
                  <a:lnTo>
                    <a:pt x="445740" y="235888"/>
                  </a:lnTo>
                  <a:lnTo>
                    <a:pt x="445629" y="237138"/>
                  </a:lnTo>
                  <a:lnTo>
                    <a:pt x="445518" y="238549"/>
                  </a:lnTo>
                  <a:lnTo>
                    <a:pt x="445408" y="239722"/>
                  </a:lnTo>
                  <a:lnTo>
                    <a:pt x="445242" y="241077"/>
                  </a:lnTo>
                  <a:lnTo>
                    <a:pt x="445131" y="242250"/>
                  </a:lnTo>
                  <a:lnTo>
                    <a:pt x="444965" y="243682"/>
                  </a:lnTo>
                  <a:lnTo>
                    <a:pt x="444799" y="244855"/>
                  </a:lnTo>
                  <a:lnTo>
                    <a:pt x="444633" y="246188"/>
                  </a:lnTo>
                  <a:lnTo>
                    <a:pt x="444467" y="247300"/>
                  </a:lnTo>
                  <a:lnTo>
                    <a:pt x="444246" y="248683"/>
                  </a:lnTo>
                  <a:lnTo>
                    <a:pt x="444025" y="249905"/>
                  </a:lnTo>
                  <a:lnTo>
                    <a:pt x="443748" y="251388"/>
                  </a:lnTo>
                  <a:lnTo>
                    <a:pt x="443472" y="252893"/>
                  </a:lnTo>
                  <a:lnTo>
                    <a:pt x="443140" y="254834"/>
                  </a:lnTo>
                  <a:lnTo>
                    <a:pt x="442697" y="256776"/>
                  </a:lnTo>
                  <a:lnTo>
                    <a:pt x="442310" y="258679"/>
                  </a:lnTo>
                  <a:lnTo>
                    <a:pt x="442033" y="260100"/>
                  </a:lnTo>
                  <a:lnTo>
                    <a:pt x="441701" y="261494"/>
                  </a:lnTo>
                  <a:lnTo>
                    <a:pt x="441425" y="262639"/>
                  </a:lnTo>
                  <a:lnTo>
                    <a:pt x="441037" y="264067"/>
                  </a:lnTo>
                  <a:lnTo>
                    <a:pt x="440761" y="265261"/>
                  </a:lnTo>
                  <a:lnTo>
                    <a:pt x="437995" y="275003"/>
                  </a:lnTo>
                  <a:lnTo>
                    <a:pt x="437220" y="277586"/>
                  </a:lnTo>
                  <a:lnTo>
                    <a:pt x="421913" y="313277"/>
                  </a:lnTo>
                  <a:lnTo>
                    <a:pt x="403907" y="342235"/>
                  </a:lnTo>
                  <a:lnTo>
                    <a:pt x="402491" y="344260"/>
                  </a:lnTo>
                  <a:lnTo>
                    <a:pt x="391139" y="359406"/>
                  </a:lnTo>
                  <a:lnTo>
                    <a:pt x="390005" y="360855"/>
                  </a:lnTo>
                  <a:lnTo>
                    <a:pt x="388688" y="362520"/>
                  </a:lnTo>
                  <a:lnTo>
                    <a:pt x="387377" y="364185"/>
                  </a:lnTo>
                  <a:lnTo>
                    <a:pt x="386226" y="365640"/>
                  </a:lnTo>
                  <a:lnTo>
                    <a:pt x="385103" y="367061"/>
                  </a:lnTo>
                  <a:lnTo>
                    <a:pt x="383958" y="368505"/>
                  </a:lnTo>
                  <a:lnTo>
                    <a:pt x="382647" y="370159"/>
                  </a:lnTo>
                  <a:lnTo>
                    <a:pt x="367772" y="389896"/>
                  </a:lnTo>
                  <a:lnTo>
                    <a:pt x="366914" y="391113"/>
                  </a:lnTo>
                  <a:lnTo>
                    <a:pt x="365974" y="392469"/>
                  </a:lnTo>
                  <a:lnTo>
                    <a:pt x="365183" y="393614"/>
                  </a:lnTo>
                  <a:lnTo>
                    <a:pt x="364287" y="394930"/>
                  </a:lnTo>
                  <a:lnTo>
                    <a:pt x="363473" y="396119"/>
                  </a:lnTo>
                  <a:lnTo>
                    <a:pt x="344106" y="429918"/>
                  </a:lnTo>
                  <a:lnTo>
                    <a:pt x="331880" y="466732"/>
                  </a:lnTo>
                  <a:lnTo>
                    <a:pt x="330398" y="478155"/>
                  </a:lnTo>
                  <a:lnTo>
                    <a:pt x="330276" y="479565"/>
                  </a:lnTo>
                  <a:lnTo>
                    <a:pt x="329380" y="493527"/>
                  </a:lnTo>
                  <a:lnTo>
                    <a:pt x="329336" y="494955"/>
                  </a:lnTo>
                  <a:lnTo>
                    <a:pt x="329302" y="496144"/>
                  </a:lnTo>
                  <a:lnTo>
                    <a:pt x="329264" y="497665"/>
                  </a:lnTo>
                  <a:lnTo>
                    <a:pt x="329247" y="498594"/>
                  </a:lnTo>
                  <a:lnTo>
                    <a:pt x="329230" y="499745"/>
                  </a:lnTo>
                </a:path>
                <a:path w="447040" h="624839">
                  <a:moveTo>
                    <a:pt x="143699" y="511301"/>
                  </a:moveTo>
                  <a:lnTo>
                    <a:pt x="130770" y="511295"/>
                  </a:lnTo>
                </a:path>
                <a:path w="447040" h="624839">
                  <a:moveTo>
                    <a:pt x="301925" y="511373"/>
                  </a:moveTo>
                  <a:lnTo>
                    <a:pt x="314770" y="511384"/>
                  </a:lnTo>
                </a:path>
                <a:path w="447040" h="624839">
                  <a:moveTo>
                    <a:pt x="130781" y="525766"/>
                  </a:moveTo>
                  <a:lnTo>
                    <a:pt x="130770" y="511295"/>
                  </a:lnTo>
                </a:path>
                <a:path w="447040" h="624839">
                  <a:moveTo>
                    <a:pt x="314753" y="525766"/>
                  </a:moveTo>
                  <a:lnTo>
                    <a:pt x="314770" y="511384"/>
                  </a:lnTo>
                </a:path>
                <a:path w="447040" h="624839">
                  <a:moveTo>
                    <a:pt x="116276" y="500309"/>
                  </a:moveTo>
                  <a:lnTo>
                    <a:pt x="116337" y="511290"/>
                  </a:lnTo>
                </a:path>
                <a:path w="447040" h="624839">
                  <a:moveTo>
                    <a:pt x="329230" y="499745"/>
                  </a:moveTo>
                  <a:lnTo>
                    <a:pt x="329042" y="511389"/>
                  </a:lnTo>
                </a:path>
              </a:pathLst>
            </a:custGeom>
            <a:ln w="27657">
              <a:solidFill>
                <a:srgbClr val="DF4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27747" y="4105389"/>
              <a:ext cx="212090" cy="27940"/>
            </a:xfrm>
            <a:custGeom>
              <a:avLst/>
              <a:gdLst/>
              <a:ahLst/>
              <a:cxnLst/>
              <a:rect l="l" t="t" r="r" b="b"/>
              <a:pathLst>
                <a:path w="212090" h="27939">
                  <a:moveTo>
                    <a:pt x="27660" y="13830"/>
                  </a:moveTo>
                  <a:lnTo>
                    <a:pt x="23609" y="4051"/>
                  </a:lnTo>
                  <a:lnTo>
                    <a:pt x="13830" y="0"/>
                  </a:lnTo>
                  <a:lnTo>
                    <a:pt x="4051" y="4051"/>
                  </a:lnTo>
                  <a:lnTo>
                    <a:pt x="0" y="13830"/>
                  </a:lnTo>
                  <a:lnTo>
                    <a:pt x="4051" y="23609"/>
                  </a:lnTo>
                  <a:lnTo>
                    <a:pt x="13830" y="27660"/>
                  </a:lnTo>
                  <a:lnTo>
                    <a:pt x="23609" y="23609"/>
                  </a:lnTo>
                  <a:lnTo>
                    <a:pt x="27660" y="13830"/>
                  </a:lnTo>
                  <a:close/>
                </a:path>
                <a:path w="212090" h="27939">
                  <a:moveTo>
                    <a:pt x="211658" y="13919"/>
                  </a:moveTo>
                  <a:lnTo>
                    <a:pt x="207606" y="4140"/>
                  </a:lnTo>
                  <a:lnTo>
                    <a:pt x="197827" y="88"/>
                  </a:lnTo>
                  <a:lnTo>
                    <a:pt x="188048" y="4140"/>
                  </a:lnTo>
                  <a:lnTo>
                    <a:pt x="184010" y="13919"/>
                  </a:lnTo>
                  <a:lnTo>
                    <a:pt x="188048" y="23698"/>
                  </a:lnTo>
                  <a:lnTo>
                    <a:pt x="197827" y="27749"/>
                  </a:lnTo>
                  <a:lnTo>
                    <a:pt x="207606" y="23698"/>
                  </a:lnTo>
                  <a:lnTo>
                    <a:pt x="211658" y="13919"/>
                  </a:lnTo>
                  <a:close/>
                </a:path>
              </a:pathLst>
            </a:custGeom>
            <a:solidFill>
              <a:srgbClr val="DF4F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745107" y="3724757"/>
            <a:ext cx="3178175" cy="3470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945515">
              <a:lnSpc>
                <a:spcPct val="105200"/>
              </a:lnSpc>
              <a:spcBef>
                <a:spcPts val="100"/>
              </a:spcBef>
            </a:pPr>
            <a:r>
              <a:rPr dirty="0" sz="2300">
                <a:solidFill>
                  <a:srgbClr val="383838"/>
                </a:solidFill>
                <a:latin typeface="Times New Roman"/>
                <a:cs typeface="Times New Roman"/>
              </a:rPr>
              <a:t>Voice-</a:t>
            </a:r>
            <a:r>
              <a:rPr dirty="0" sz="2300" spc="85">
                <a:solidFill>
                  <a:srgbClr val="383838"/>
                </a:solidFill>
                <a:latin typeface="Times New Roman"/>
                <a:cs typeface="Times New Roman"/>
              </a:rPr>
              <a:t>Controlled </a:t>
            </a:r>
            <a:r>
              <a:rPr dirty="0" sz="2300" spc="75">
                <a:solidFill>
                  <a:srgbClr val="383838"/>
                </a:solidFill>
                <a:latin typeface="Times New Roman"/>
                <a:cs typeface="Times New Roman"/>
              </a:rPr>
              <a:t>Lighting</a:t>
            </a:r>
            <a:endParaRPr sz="2300">
              <a:latin typeface="Times New Roman"/>
              <a:cs typeface="Times New Roman"/>
            </a:endParaRPr>
          </a:p>
          <a:p>
            <a:pPr marL="12700" marR="5080">
              <a:lnSpc>
                <a:spcPct val="138100"/>
              </a:lnSpc>
              <a:spcBef>
                <a:spcPts val="1015"/>
              </a:spcBef>
            </a:pP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Simply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say</a:t>
            </a:r>
            <a:r>
              <a:rPr dirty="0" sz="1750" spc="8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"turn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80">
                <a:solidFill>
                  <a:srgbClr val="383838"/>
                </a:solidFill>
                <a:latin typeface="Arial MT"/>
                <a:cs typeface="Arial MT"/>
              </a:rPr>
              <a:t>off</a:t>
            </a:r>
            <a:r>
              <a:rPr dirty="0" sz="1750" spc="9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the 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bedroom</a:t>
            </a:r>
            <a:r>
              <a:rPr dirty="0" sz="1750" spc="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lights"</a:t>
            </a:r>
            <a:r>
              <a:rPr dirty="0" sz="1750" spc="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watch</a:t>
            </a:r>
            <a:r>
              <a:rPr dirty="0" sz="1750" spc="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the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magic</a:t>
            </a:r>
            <a:r>
              <a:rPr dirty="0" sz="1750" spc="114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happen.</a:t>
            </a:r>
            <a:r>
              <a:rPr dirty="0" sz="1750" spc="1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Smart</a:t>
            </a:r>
            <a:r>
              <a:rPr dirty="0" sz="1750" spc="1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bulbs </a:t>
            </a:r>
            <a:r>
              <a:rPr dirty="0" sz="1750" spc="10">
                <a:solidFill>
                  <a:srgbClr val="383838"/>
                </a:solidFill>
                <a:latin typeface="Arial MT"/>
                <a:cs typeface="Arial MT"/>
              </a:rPr>
              <a:t>learn</a:t>
            </a:r>
            <a:r>
              <a:rPr dirty="0" sz="1750" spc="1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your</a:t>
            </a:r>
            <a:r>
              <a:rPr dirty="0" sz="1750" spc="10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0">
                <a:solidFill>
                  <a:srgbClr val="383838"/>
                </a:solidFill>
                <a:latin typeface="Arial MT"/>
                <a:cs typeface="Arial MT"/>
              </a:rPr>
              <a:t>preferences</a:t>
            </a:r>
            <a:r>
              <a:rPr dirty="0" sz="1750" spc="1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25">
                <a:solidFill>
                  <a:srgbClr val="383838"/>
                </a:solidFill>
                <a:latin typeface="Arial MT"/>
                <a:cs typeface="Arial MT"/>
              </a:rPr>
              <a:t>and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adjust</a:t>
            </a:r>
            <a:r>
              <a:rPr dirty="0" sz="1750" spc="1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brightness</a:t>
            </a:r>
            <a:r>
              <a:rPr dirty="0" sz="1750" spc="10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750" spc="16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colour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temperature</a:t>
            </a:r>
            <a:r>
              <a:rPr dirty="0" sz="1750" spc="-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throughout</a:t>
            </a:r>
            <a:r>
              <a:rPr dirty="0" sz="1750" spc="-6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the </a:t>
            </a:r>
            <a:r>
              <a:rPr dirty="0" sz="1750" spc="-20">
                <a:solidFill>
                  <a:srgbClr val="383838"/>
                </a:solidFill>
                <a:latin typeface="Arial MT"/>
                <a:cs typeface="Arial MT"/>
              </a:rPr>
              <a:t>day.</a:t>
            </a:r>
            <a:endParaRPr sz="1750">
              <a:latin typeface="Arial MT"/>
              <a:cs typeface="Arial MT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50128" y="3594143"/>
            <a:ext cx="652137" cy="65192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6187821" y="3724757"/>
            <a:ext cx="2899410" cy="3103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10845">
              <a:lnSpc>
                <a:spcPct val="105200"/>
              </a:lnSpc>
              <a:spcBef>
                <a:spcPts val="100"/>
              </a:spcBef>
            </a:pPr>
            <a:r>
              <a:rPr dirty="0" sz="2300" spc="125">
                <a:solidFill>
                  <a:srgbClr val="383838"/>
                </a:solidFill>
                <a:latin typeface="Times New Roman"/>
                <a:cs typeface="Times New Roman"/>
              </a:rPr>
              <a:t>Intelligent</a:t>
            </a:r>
            <a:r>
              <a:rPr dirty="0" sz="2300" spc="-45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2300" spc="90">
                <a:solidFill>
                  <a:srgbClr val="383838"/>
                </a:solidFill>
                <a:latin typeface="Times New Roman"/>
                <a:cs typeface="Times New Roman"/>
              </a:rPr>
              <a:t>Climate Control</a:t>
            </a:r>
            <a:endParaRPr sz="2300">
              <a:latin typeface="Times New Roman"/>
              <a:cs typeface="Times New Roman"/>
            </a:endParaRPr>
          </a:p>
          <a:p>
            <a:pPr marL="12700" marR="5080">
              <a:lnSpc>
                <a:spcPct val="138200"/>
              </a:lnSpc>
              <a:spcBef>
                <a:spcPts val="1015"/>
              </a:spcBef>
            </a:pP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Smart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thermostats</a:t>
            </a:r>
            <a:r>
              <a:rPr dirty="0" sz="1750" spc="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like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20">
                <a:solidFill>
                  <a:srgbClr val="383838"/>
                </a:solidFill>
                <a:latin typeface="Arial MT"/>
                <a:cs typeface="Arial MT"/>
              </a:rPr>
              <a:t>Nest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learn</a:t>
            </a:r>
            <a:r>
              <a:rPr dirty="0" sz="1750" spc="1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your</a:t>
            </a:r>
            <a:r>
              <a:rPr dirty="0" sz="1750" spc="10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schedule</a:t>
            </a:r>
            <a:r>
              <a:rPr dirty="0" sz="1750" spc="114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25">
                <a:solidFill>
                  <a:srgbClr val="383838"/>
                </a:solidFill>
                <a:latin typeface="Arial MT"/>
                <a:cs typeface="Arial MT"/>
              </a:rPr>
              <a:t>and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temperature</a:t>
            </a:r>
            <a:r>
              <a:rPr dirty="0" sz="1750" spc="-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preferences,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automatically</a:t>
            </a:r>
            <a:r>
              <a:rPr dirty="0" sz="1750" spc="-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45">
                <a:solidFill>
                  <a:srgbClr val="383838"/>
                </a:solidFill>
                <a:latin typeface="Arial MT"/>
                <a:cs typeface="Arial MT"/>
              </a:rPr>
              <a:t>optimising </a:t>
            </a:r>
            <a:r>
              <a:rPr dirty="0" sz="1750" spc="90">
                <a:solidFill>
                  <a:srgbClr val="383838"/>
                </a:solidFill>
                <a:latin typeface="Arial MT"/>
                <a:cs typeface="Arial MT"/>
              </a:rPr>
              <a:t>comfort</a:t>
            </a:r>
            <a:r>
              <a:rPr dirty="0" sz="1750" spc="1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whilst</a:t>
            </a:r>
            <a:r>
              <a:rPr dirty="0" sz="1750" spc="114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reducing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energy</a:t>
            </a:r>
            <a:r>
              <a:rPr dirty="0" sz="1750" spc="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bills</a:t>
            </a:r>
            <a:r>
              <a:rPr dirty="0" sz="1750" spc="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10">
                <a:solidFill>
                  <a:srgbClr val="383838"/>
                </a:solidFill>
                <a:latin typeface="Arial MT"/>
                <a:cs typeface="Arial MT"/>
              </a:rPr>
              <a:t>by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up</a:t>
            </a:r>
            <a:r>
              <a:rPr dirty="0" sz="1750" spc="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20">
                <a:solidFill>
                  <a:srgbClr val="383838"/>
                </a:solidFill>
                <a:latin typeface="Arial MT"/>
                <a:cs typeface="Arial MT"/>
              </a:rPr>
              <a:t>to</a:t>
            </a:r>
            <a:r>
              <a:rPr dirty="0" sz="1750" spc="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20">
                <a:solidFill>
                  <a:srgbClr val="383838"/>
                </a:solidFill>
                <a:latin typeface="Arial MT"/>
                <a:cs typeface="Arial MT"/>
              </a:rPr>
              <a:t>30%.</a:t>
            </a:r>
            <a:endParaRPr sz="1750">
              <a:latin typeface="Arial MT"/>
              <a:cs typeface="Arial MT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92234" y="3593965"/>
            <a:ext cx="652304" cy="652285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0630281" y="3724757"/>
            <a:ext cx="3194685" cy="2734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66445">
              <a:lnSpc>
                <a:spcPct val="105200"/>
              </a:lnSpc>
              <a:spcBef>
                <a:spcPts val="100"/>
              </a:spcBef>
            </a:pPr>
            <a:r>
              <a:rPr dirty="0" sz="2300" spc="80">
                <a:solidFill>
                  <a:srgbClr val="383838"/>
                </a:solidFill>
                <a:latin typeface="Times New Roman"/>
                <a:cs typeface="Times New Roman"/>
              </a:rPr>
              <a:t>Advanced</a:t>
            </a:r>
            <a:r>
              <a:rPr dirty="0" sz="2300" spc="-25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2300" spc="75">
                <a:solidFill>
                  <a:srgbClr val="383838"/>
                </a:solidFill>
                <a:latin typeface="Times New Roman"/>
                <a:cs typeface="Times New Roman"/>
              </a:rPr>
              <a:t>Security </a:t>
            </a:r>
            <a:r>
              <a:rPr dirty="0" sz="2300" spc="85">
                <a:solidFill>
                  <a:srgbClr val="383838"/>
                </a:solidFill>
                <a:latin typeface="Times New Roman"/>
                <a:cs typeface="Times New Roman"/>
              </a:rPr>
              <a:t>Systems</a:t>
            </a:r>
            <a:endParaRPr sz="2300">
              <a:latin typeface="Times New Roman"/>
              <a:cs typeface="Times New Roman"/>
            </a:endParaRPr>
          </a:p>
          <a:p>
            <a:pPr marL="12700" marR="5080">
              <a:lnSpc>
                <a:spcPct val="138200"/>
              </a:lnSpc>
              <a:spcBef>
                <a:spcPts val="1015"/>
              </a:spcBef>
            </a:pP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Monitor</a:t>
            </a:r>
            <a:r>
              <a:rPr dirty="0" sz="1750" spc="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your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home</a:t>
            </a:r>
            <a:r>
              <a:rPr dirty="0" sz="1750" spc="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24/7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with 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smart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cameras,</a:t>
            </a:r>
            <a:r>
              <a:rPr dirty="0" sz="1750" spc="8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receive</a:t>
            </a:r>
            <a:r>
              <a:rPr dirty="0" sz="1750" spc="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instant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alerts</a:t>
            </a:r>
            <a:r>
              <a:rPr dirty="0" sz="1750" spc="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for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unusual</a:t>
            </a:r>
            <a:r>
              <a:rPr dirty="0" sz="1750" spc="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activity,</a:t>
            </a:r>
            <a:r>
              <a:rPr dirty="0" sz="1750" spc="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25">
                <a:solidFill>
                  <a:srgbClr val="383838"/>
                </a:solidFill>
                <a:latin typeface="Arial MT"/>
                <a:cs typeface="Arial MT"/>
              </a:rPr>
              <a:t>and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grant</a:t>
            </a:r>
            <a:r>
              <a:rPr dirty="0" sz="1750" spc="10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access</a:t>
            </a:r>
            <a:r>
              <a:rPr dirty="0" sz="1750" spc="125">
                <a:solidFill>
                  <a:srgbClr val="383838"/>
                </a:solidFill>
                <a:latin typeface="Arial MT"/>
                <a:cs typeface="Arial MT"/>
              </a:rPr>
              <a:t> to</a:t>
            </a:r>
            <a:r>
              <a:rPr dirty="0" sz="1750" spc="1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visitors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remotely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45">
                <a:solidFill>
                  <a:srgbClr val="383838"/>
                </a:solidFill>
                <a:latin typeface="Arial MT"/>
                <a:cs typeface="Arial MT"/>
              </a:rPr>
              <a:t>through</a:t>
            </a:r>
            <a:r>
              <a:rPr dirty="0" sz="1750" spc="-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smart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 locks.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0274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105"/>
              </a:spcBef>
            </a:pPr>
            <a:r>
              <a:rPr dirty="0" spc="140"/>
              <a:t>Building</a:t>
            </a:r>
            <a:r>
              <a:rPr dirty="0" spc="-45"/>
              <a:t> </a:t>
            </a:r>
            <a:r>
              <a:rPr dirty="0" spc="70"/>
              <a:t>Blocks</a:t>
            </a:r>
            <a:r>
              <a:rPr dirty="0" spc="-50"/>
              <a:t> </a:t>
            </a:r>
            <a:r>
              <a:rPr dirty="0" spc="135"/>
              <a:t>of</a:t>
            </a:r>
            <a:r>
              <a:rPr dirty="0" spc="-35"/>
              <a:t> </a:t>
            </a:r>
            <a:r>
              <a:rPr dirty="0" spc="240"/>
              <a:t>Smart</a:t>
            </a:r>
            <a:r>
              <a:rPr dirty="0" spc="-45"/>
              <a:t> </a:t>
            </a:r>
            <a:r>
              <a:rPr dirty="0" spc="225"/>
              <a:t>Home</a:t>
            </a:r>
            <a:r>
              <a:rPr dirty="0" spc="-120"/>
              <a:t> </a:t>
            </a:r>
            <a:r>
              <a:rPr dirty="0" spc="245"/>
              <a:t>Automation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1304" y="1982216"/>
            <a:ext cx="272415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25">
                <a:solidFill>
                  <a:srgbClr val="383838"/>
                </a:solidFill>
                <a:latin typeface="Arial MT"/>
                <a:cs typeface="Arial MT"/>
              </a:rPr>
              <a:t>01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793788" y="2296286"/>
            <a:ext cx="4196715" cy="30480"/>
          </a:xfrm>
          <a:custGeom>
            <a:avLst/>
            <a:gdLst/>
            <a:ahLst/>
            <a:cxnLst/>
            <a:rect l="l" t="t" r="r" b="b"/>
            <a:pathLst>
              <a:path w="4196715" h="30480">
                <a:moveTo>
                  <a:pt x="4196334" y="0"/>
                </a:moveTo>
                <a:lnTo>
                  <a:pt x="0" y="0"/>
                </a:lnTo>
                <a:lnTo>
                  <a:pt x="0" y="30479"/>
                </a:lnTo>
                <a:lnTo>
                  <a:pt x="4196334" y="30479"/>
                </a:lnTo>
                <a:lnTo>
                  <a:pt x="4196334" y="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781304" y="2441575"/>
            <a:ext cx="4166235" cy="23450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100">
                <a:solidFill>
                  <a:srgbClr val="383838"/>
                </a:solidFill>
                <a:latin typeface="Times New Roman"/>
                <a:cs typeface="Times New Roman"/>
              </a:rPr>
              <a:t>Sensors</a:t>
            </a:r>
            <a:r>
              <a:rPr dirty="0" sz="2300" spc="-5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2300" spc="210">
                <a:solidFill>
                  <a:srgbClr val="383838"/>
                </a:solidFill>
                <a:latin typeface="Times New Roman"/>
                <a:cs typeface="Times New Roman"/>
              </a:rPr>
              <a:t>&amp;</a:t>
            </a:r>
            <a:r>
              <a:rPr dirty="0" sz="2300" spc="-50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2300" spc="85">
                <a:solidFill>
                  <a:srgbClr val="383838"/>
                </a:solidFill>
                <a:latin typeface="Times New Roman"/>
                <a:cs typeface="Times New Roman"/>
              </a:rPr>
              <a:t>Actuators</a:t>
            </a:r>
            <a:endParaRPr sz="2300">
              <a:latin typeface="Times New Roman"/>
              <a:cs typeface="Times New Roman"/>
            </a:endParaRPr>
          </a:p>
          <a:p>
            <a:pPr marL="12700" marR="5080">
              <a:lnSpc>
                <a:spcPct val="138200"/>
              </a:lnSpc>
              <a:spcBef>
                <a:spcPts val="990"/>
              </a:spcBef>
            </a:pP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The</a:t>
            </a:r>
            <a:r>
              <a:rPr dirty="0" sz="1750" spc="-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eyes</a:t>
            </a:r>
            <a:r>
              <a:rPr dirty="0" sz="1750" spc="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750" spc="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hands 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of</a:t>
            </a:r>
            <a:r>
              <a:rPr dirty="0" sz="1750" spc="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your</a:t>
            </a:r>
            <a:r>
              <a:rPr dirty="0" sz="1750" spc="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smart</a:t>
            </a:r>
            <a:r>
              <a:rPr dirty="0" sz="1750" spc="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20">
                <a:solidFill>
                  <a:srgbClr val="383838"/>
                </a:solidFill>
                <a:latin typeface="Arial MT"/>
                <a:cs typeface="Arial MT"/>
              </a:rPr>
              <a:t>home </a:t>
            </a:r>
            <a:r>
              <a:rPr dirty="0" sz="1750" spc="145">
                <a:solidFill>
                  <a:srgbClr val="383838"/>
                </a:solidFill>
                <a:latin typeface="Arial MT"/>
                <a:cs typeface="Arial MT"/>
              </a:rPr>
              <a:t>–</a:t>
            </a:r>
            <a:r>
              <a:rPr dirty="0" sz="1750" spc="-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motion</a:t>
            </a:r>
            <a:r>
              <a:rPr dirty="0" sz="1750" spc="-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detectors,</a:t>
            </a:r>
            <a:r>
              <a:rPr dirty="0" sz="1750" spc="-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temperature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sensors,</a:t>
            </a:r>
            <a:r>
              <a:rPr dirty="0" sz="1750" spc="-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door</a:t>
            </a:r>
            <a:r>
              <a:rPr dirty="0" sz="1750" spc="-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contacts,</a:t>
            </a:r>
            <a:r>
              <a:rPr dirty="0" sz="1750" spc="-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750" spc="-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smart switches</a:t>
            </a:r>
            <a:r>
              <a:rPr dirty="0" sz="1750" spc="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90">
                <a:solidFill>
                  <a:srgbClr val="383838"/>
                </a:solidFill>
                <a:latin typeface="Arial MT"/>
                <a:cs typeface="Arial MT"/>
              </a:rPr>
              <a:t>that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gather</a:t>
            </a:r>
            <a:r>
              <a:rPr dirty="0" sz="1750" spc="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data</a:t>
            </a:r>
            <a:r>
              <a:rPr dirty="0" sz="1750" spc="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750" spc="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45">
                <a:solidFill>
                  <a:srgbClr val="383838"/>
                </a:solidFill>
                <a:latin typeface="Arial MT"/>
                <a:cs typeface="Arial MT"/>
              </a:rPr>
              <a:t>execute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commands.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204840" y="1982216"/>
            <a:ext cx="272415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25">
                <a:solidFill>
                  <a:srgbClr val="383838"/>
                </a:solidFill>
                <a:latin typeface="Arial MT"/>
                <a:cs typeface="Arial MT"/>
              </a:rPr>
              <a:t>02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5216905" y="2296286"/>
            <a:ext cx="4196715" cy="30480"/>
          </a:xfrm>
          <a:custGeom>
            <a:avLst/>
            <a:gdLst/>
            <a:ahLst/>
            <a:cxnLst/>
            <a:rect l="l" t="t" r="r" b="b"/>
            <a:pathLst>
              <a:path w="4196715" h="30480">
                <a:moveTo>
                  <a:pt x="4196334" y="0"/>
                </a:moveTo>
                <a:lnTo>
                  <a:pt x="0" y="0"/>
                </a:lnTo>
                <a:lnTo>
                  <a:pt x="0" y="30479"/>
                </a:lnTo>
                <a:lnTo>
                  <a:pt x="4196334" y="30479"/>
                </a:lnTo>
                <a:lnTo>
                  <a:pt x="4196334" y="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204840" y="2441575"/>
            <a:ext cx="4032250" cy="23450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120">
                <a:solidFill>
                  <a:srgbClr val="383838"/>
                </a:solidFill>
                <a:latin typeface="Times New Roman"/>
                <a:cs typeface="Times New Roman"/>
              </a:rPr>
              <a:t>Smart</a:t>
            </a:r>
            <a:r>
              <a:rPr dirty="0" sz="2300" spc="-25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2300" spc="-10">
                <a:solidFill>
                  <a:srgbClr val="383838"/>
                </a:solidFill>
                <a:latin typeface="Times New Roman"/>
                <a:cs typeface="Times New Roman"/>
              </a:rPr>
              <a:t>Devices</a:t>
            </a:r>
            <a:endParaRPr sz="2300">
              <a:latin typeface="Times New Roman"/>
              <a:cs typeface="Times New Roman"/>
            </a:endParaRPr>
          </a:p>
          <a:p>
            <a:pPr marL="12700" marR="5080">
              <a:lnSpc>
                <a:spcPct val="138200"/>
              </a:lnSpc>
              <a:spcBef>
                <a:spcPts val="990"/>
              </a:spcBef>
            </a:pP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The</a:t>
            </a:r>
            <a:r>
              <a:rPr dirty="0" sz="1750" spc="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workhorses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45">
                <a:solidFill>
                  <a:srgbClr val="383838"/>
                </a:solidFill>
                <a:latin typeface="Arial MT"/>
                <a:cs typeface="Arial MT"/>
              </a:rPr>
              <a:t>–</a:t>
            </a:r>
            <a:r>
              <a:rPr dirty="0" sz="1750" spc="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connected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appliances,</a:t>
            </a:r>
            <a:r>
              <a:rPr dirty="0" sz="1750" spc="2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lighting</a:t>
            </a:r>
            <a:r>
              <a:rPr dirty="0" sz="1750" spc="1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systems, 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entertainment</a:t>
            </a:r>
            <a:r>
              <a:rPr dirty="0" sz="1750" spc="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units,</a:t>
            </a:r>
            <a:r>
              <a:rPr dirty="0" sz="1750" spc="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security 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equipment</a:t>
            </a:r>
            <a:r>
              <a:rPr dirty="0" sz="1750" spc="-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90">
                <a:solidFill>
                  <a:srgbClr val="383838"/>
                </a:solidFill>
                <a:latin typeface="Arial MT"/>
                <a:cs typeface="Arial MT"/>
              </a:rPr>
              <a:t>that</a:t>
            </a:r>
            <a:r>
              <a:rPr dirty="0" sz="1750" spc="-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respond</a:t>
            </a:r>
            <a:r>
              <a:rPr dirty="0" sz="1750" spc="-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20">
                <a:solidFill>
                  <a:srgbClr val="383838"/>
                </a:solidFill>
                <a:latin typeface="Arial MT"/>
                <a:cs typeface="Arial MT"/>
              </a:rPr>
              <a:t>to</a:t>
            </a:r>
            <a:r>
              <a:rPr dirty="0" sz="1750" spc="-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45">
                <a:solidFill>
                  <a:srgbClr val="383838"/>
                </a:solidFill>
                <a:latin typeface="Arial MT"/>
                <a:cs typeface="Arial MT"/>
              </a:rPr>
              <a:t>commands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750" spc="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automation</a:t>
            </a:r>
            <a:r>
              <a:rPr dirty="0" sz="1750" spc="-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rules.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628378" y="1982216"/>
            <a:ext cx="272415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25">
                <a:solidFill>
                  <a:srgbClr val="383838"/>
                </a:solidFill>
                <a:latin typeface="Arial MT"/>
                <a:cs typeface="Arial MT"/>
              </a:rPr>
              <a:t>03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9640189" y="2296286"/>
            <a:ext cx="4196715" cy="30480"/>
          </a:xfrm>
          <a:custGeom>
            <a:avLst/>
            <a:gdLst/>
            <a:ahLst/>
            <a:cxnLst/>
            <a:rect l="l" t="t" r="r" b="b"/>
            <a:pathLst>
              <a:path w="4196715" h="30480">
                <a:moveTo>
                  <a:pt x="4196333" y="0"/>
                </a:moveTo>
                <a:lnTo>
                  <a:pt x="0" y="0"/>
                </a:lnTo>
                <a:lnTo>
                  <a:pt x="0" y="30479"/>
                </a:lnTo>
                <a:lnTo>
                  <a:pt x="4196333" y="30479"/>
                </a:lnTo>
                <a:lnTo>
                  <a:pt x="4196333" y="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9628378" y="2441575"/>
            <a:ext cx="4060825" cy="19761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95">
                <a:solidFill>
                  <a:srgbClr val="383838"/>
                </a:solidFill>
                <a:latin typeface="Times New Roman"/>
                <a:cs typeface="Times New Roman"/>
              </a:rPr>
              <a:t>Connectivity</a:t>
            </a:r>
            <a:r>
              <a:rPr dirty="0" sz="2300" spc="-25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2300" spc="75">
                <a:solidFill>
                  <a:srgbClr val="383838"/>
                </a:solidFill>
                <a:latin typeface="Times New Roman"/>
                <a:cs typeface="Times New Roman"/>
              </a:rPr>
              <a:t>Networks</a:t>
            </a:r>
            <a:endParaRPr sz="2300">
              <a:latin typeface="Times New Roman"/>
              <a:cs typeface="Times New Roman"/>
            </a:endParaRPr>
          </a:p>
          <a:p>
            <a:pPr marL="12700" marR="5080">
              <a:lnSpc>
                <a:spcPct val="138100"/>
              </a:lnSpc>
              <a:spcBef>
                <a:spcPts val="990"/>
              </a:spcBef>
            </a:pP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The</a:t>
            </a:r>
            <a:r>
              <a:rPr dirty="0" sz="1750" spc="-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nervous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system</a:t>
            </a:r>
            <a:r>
              <a:rPr dirty="0" sz="1750" spc="-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45">
                <a:solidFill>
                  <a:srgbClr val="383838"/>
                </a:solidFill>
                <a:latin typeface="Arial MT"/>
                <a:cs typeface="Arial MT"/>
              </a:rPr>
              <a:t>–</a:t>
            </a:r>
            <a:r>
              <a:rPr dirty="0" sz="1750" spc="-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20">
                <a:solidFill>
                  <a:srgbClr val="383838"/>
                </a:solidFill>
                <a:latin typeface="Arial MT"/>
                <a:cs typeface="Arial MT"/>
              </a:rPr>
              <a:t>Wi-</a:t>
            </a:r>
            <a:r>
              <a:rPr dirty="0" sz="1750" spc="-105">
                <a:solidFill>
                  <a:srgbClr val="383838"/>
                </a:solidFill>
                <a:latin typeface="Arial MT"/>
                <a:cs typeface="Arial MT"/>
              </a:rPr>
              <a:t>Fi,</a:t>
            </a:r>
            <a:r>
              <a:rPr dirty="0" sz="1750" spc="-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Zigbee,</a:t>
            </a:r>
            <a:r>
              <a:rPr dirty="0" sz="1750" spc="-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Z-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Wave,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 and</a:t>
            </a:r>
            <a:r>
              <a:rPr dirty="0" sz="1750" spc="-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45">
                <a:solidFill>
                  <a:srgbClr val="383838"/>
                </a:solidFill>
                <a:latin typeface="Arial MT"/>
                <a:cs typeface="Arial MT"/>
              </a:rPr>
              <a:t>Bluetooth</a:t>
            </a:r>
            <a:r>
              <a:rPr dirty="0" sz="1750" spc="-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protocols</a:t>
            </a:r>
            <a:r>
              <a:rPr dirty="0" sz="1750" spc="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that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enable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seamless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90">
                <a:solidFill>
                  <a:srgbClr val="383838"/>
                </a:solidFill>
                <a:latin typeface="Arial MT"/>
                <a:cs typeface="Arial MT"/>
              </a:rPr>
              <a:t>device-</a:t>
            </a:r>
            <a:r>
              <a:rPr dirty="0" sz="1750" spc="180">
                <a:solidFill>
                  <a:srgbClr val="383838"/>
                </a:solidFill>
                <a:latin typeface="Arial MT"/>
                <a:cs typeface="Arial MT"/>
              </a:rPr>
              <a:t>to-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device</a:t>
            </a:r>
            <a:r>
              <a:rPr dirty="0" sz="1750" spc="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25">
                <a:solidFill>
                  <a:srgbClr val="383838"/>
                </a:solidFill>
                <a:latin typeface="Arial MT"/>
                <a:cs typeface="Arial MT"/>
              </a:rPr>
              <a:t>and </a:t>
            </a:r>
            <a:r>
              <a:rPr dirty="0" sz="1750" spc="90">
                <a:solidFill>
                  <a:srgbClr val="383838"/>
                </a:solidFill>
                <a:latin typeface="Arial MT"/>
                <a:cs typeface="Arial MT"/>
              </a:rPr>
              <a:t>device-</a:t>
            </a:r>
            <a:r>
              <a:rPr dirty="0" sz="1750" spc="180">
                <a:solidFill>
                  <a:srgbClr val="383838"/>
                </a:solidFill>
                <a:latin typeface="Arial MT"/>
                <a:cs typeface="Arial MT"/>
              </a:rPr>
              <a:t>to-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cloud</a:t>
            </a:r>
            <a:r>
              <a:rPr dirty="0" sz="1750" spc="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35">
                <a:solidFill>
                  <a:srgbClr val="383838"/>
                </a:solidFill>
                <a:latin typeface="Arial MT"/>
                <a:cs typeface="Arial MT"/>
              </a:rPr>
              <a:t>communication.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81304" y="5231638"/>
            <a:ext cx="272415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25">
                <a:solidFill>
                  <a:srgbClr val="383838"/>
                </a:solidFill>
                <a:latin typeface="Arial MT"/>
                <a:cs typeface="Arial MT"/>
              </a:rPr>
              <a:t>04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793788" y="5545073"/>
            <a:ext cx="6408420" cy="30480"/>
          </a:xfrm>
          <a:custGeom>
            <a:avLst/>
            <a:gdLst/>
            <a:ahLst/>
            <a:cxnLst/>
            <a:rect l="l" t="t" r="r" b="b"/>
            <a:pathLst>
              <a:path w="6408420" h="30479">
                <a:moveTo>
                  <a:pt x="6407912" y="0"/>
                </a:moveTo>
                <a:lnTo>
                  <a:pt x="0" y="0"/>
                </a:lnTo>
                <a:lnTo>
                  <a:pt x="0" y="30480"/>
                </a:lnTo>
                <a:lnTo>
                  <a:pt x="6407912" y="30480"/>
                </a:lnTo>
                <a:lnTo>
                  <a:pt x="6407912" y="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781304" y="5690996"/>
            <a:ext cx="6130925" cy="1609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100">
                <a:solidFill>
                  <a:srgbClr val="383838"/>
                </a:solidFill>
                <a:latin typeface="Times New Roman"/>
                <a:cs typeface="Times New Roman"/>
              </a:rPr>
              <a:t>Control</a:t>
            </a:r>
            <a:r>
              <a:rPr dirty="0" sz="2300" spc="-40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2300" spc="65">
                <a:solidFill>
                  <a:srgbClr val="383838"/>
                </a:solidFill>
                <a:latin typeface="Times New Roman"/>
                <a:cs typeface="Times New Roman"/>
              </a:rPr>
              <a:t>Hub</a:t>
            </a:r>
            <a:endParaRPr sz="2300">
              <a:latin typeface="Times New Roman"/>
              <a:cs typeface="Times New Roman"/>
            </a:endParaRPr>
          </a:p>
          <a:p>
            <a:pPr marL="12700" marR="5080">
              <a:lnSpc>
                <a:spcPct val="138300"/>
              </a:lnSpc>
              <a:spcBef>
                <a:spcPts val="990"/>
              </a:spcBef>
            </a:pP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The</a:t>
            </a:r>
            <a:r>
              <a:rPr dirty="0" sz="1750" spc="-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brain</a:t>
            </a:r>
            <a:r>
              <a:rPr dirty="0" sz="1750" spc="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45">
                <a:solidFill>
                  <a:srgbClr val="383838"/>
                </a:solidFill>
                <a:latin typeface="Arial MT"/>
                <a:cs typeface="Arial MT"/>
              </a:rPr>
              <a:t>–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</a:t>
            </a:r>
            <a:r>
              <a:rPr dirty="0" sz="1750" spc="-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central</a:t>
            </a:r>
            <a:r>
              <a:rPr dirty="0" sz="1750" spc="-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controller</a:t>
            </a:r>
            <a:r>
              <a:rPr dirty="0" sz="1750" spc="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or</a:t>
            </a:r>
            <a:r>
              <a:rPr dirty="0" sz="1750" spc="-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app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90">
                <a:solidFill>
                  <a:srgbClr val="383838"/>
                </a:solidFill>
                <a:latin typeface="Arial MT"/>
                <a:cs typeface="Arial MT"/>
              </a:rPr>
              <a:t>that</a:t>
            </a:r>
            <a:r>
              <a:rPr dirty="0" sz="1750" spc="-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orchestrates</a:t>
            </a:r>
            <a:r>
              <a:rPr dirty="0" sz="1750" spc="-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25">
                <a:solidFill>
                  <a:srgbClr val="383838"/>
                </a:solidFill>
                <a:latin typeface="Arial MT"/>
                <a:cs typeface="Arial MT"/>
              </a:rPr>
              <a:t>all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devices,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processes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automation</a:t>
            </a:r>
            <a:r>
              <a:rPr dirty="0" sz="1750" spc="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rules,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provides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5">
                <a:solidFill>
                  <a:srgbClr val="383838"/>
                </a:solidFill>
                <a:latin typeface="Arial MT"/>
                <a:cs typeface="Arial MT"/>
              </a:rPr>
              <a:t>the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20">
                <a:solidFill>
                  <a:srgbClr val="383838"/>
                </a:solidFill>
                <a:latin typeface="Arial MT"/>
                <a:cs typeface="Arial MT"/>
              </a:rPr>
              <a:t>user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interface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for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control.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416545" y="5231638"/>
            <a:ext cx="272415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25">
                <a:solidFill>
                  <a:srgbClr val="383838"/>
                </a:solidFill>
                <a:latin typeface="Arial MT"/>
                <a:cs typeface="Arial MT"/>
              </a:rPr>
              <a:t>05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7428483" y="5545073"/>
            <a:ext cx="6408420" cy="30480"/>
          </a:xfrm>
          <a:custGeom>
            <a:avLst/>
            <a:gdLst/>
            <a:ahLst/>
            <a:cxnLst/>
            <a:rect l="l" t="t" r="r" b="b"/>
            <a:pathLst>
              <a:path w="6408419" h="30479">
                <a:moveTo>
                  <a:pt x="6407912" y="0"/>
                </a:moveTo>
                <a:lnTo>
                  <a:pt x="0" y="0"/>
                </a:lnTo>
                <a:lnTo>
                  <a:pt x="0" y="30480"/>
                </a:lnTo>
                <a:lnTo>
                  <a:pt x="6407912" y="30480"/>
                </a:lnTo>
                <a:lnTo>
                  <a:pt x="6407912" y="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7416545" y="5690996"/>
            <a:ext cx="6423660" cy="1609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75">
                <a:solidFill>
                  <a:srgbClr val="383838"/>
                </a:solidFill>
                <a:latin typeface="Times New Roman"/>
                <a:cs typeface="Times New Roman"/>
              </a:rPr>
              <a:t>Cloud</a:t>
            </a:r>
            <a:r>
              <a:rPr dirty="0" sz="2300" spc="-20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2300" spc="105">
                <a:solidFill>
                  <a:srgbClr val="383838"/>
                </a:solidFill>
                <a:latin typeface="Times New Roman"/>
                <a:cs typeface="Times New Roman"/>
              </a:rPr>
              <a:t>Platform</a:t>
            </a:r>
            <a:endParaRPr sz="2300">
              <a:latin typeface="Times New Roman"/>
              <a:cs typeface="Times New Roman"/>
            </a:endParaRPr>
          </a:p>
          <a:p>
            <a:pPr marL="12700" marR="5080">
              <a:lnSpc>
                <a:spcPct val="138300"/>
              </a:lnSpc>
              <a:spcBef>
                <a:spcPts val="990"/>
              </a:spcBef>
            </a:pP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The</a:t>
            </a:r>
            <a:r>
              <a:rPr dirty="0" sz="1750" spc="-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memory</a:t>
            </a:r>
            <a:r>
              <a:rPr dirty="0" sz="1750" spc="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45">
                <a:solidFill>
                  <a:srgbClr val="383838"/>
                </a:solidFill>
                <a:latin typeface="Arial MT"/>
                <a:cs typeface="Arial MT"/>
              </a:rPr>
              <a:t>–</a:t>
            </a:r>
            <a:r>
              <a:rPr dirty="0" sz="1750" spc="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remote</a:t>
            </a:r>
            <a:r>
              <a:rPr dirty="0" sz="1750" spc="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servers</a:t>
            </a:r>
            <a:r>
              <a:rPr dirty="0" sz="1750" spc="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90">
                <a:solidFill>
                  <a:srgbClr val="383838"/>
                </a:solidFill>
                <a:latin typeface="Arial MT"/>
                <a:cs typeface="Arial MT"/>
              </a:rPr>
              <a:t>that</a:t>
            </a:r>
            <a:r>
              <a:rPr dirty="0" sz="1750" spc="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store</a:t>
            </a:r>
            <a:r>
              <a:rPr dirty="0" sz="1750" spc="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data, enable</a:t>
            </a:r>
            <a:r>
              <a:rPr dirty="0" sz="1750" spc="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remote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access,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perform</a:t>
            </a:r>
            <a:r>
              <a:rPr dirty="0" sz="1750" spc="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analytics,</a:t>
            </a:r>
            <a:r>
              <a:rPr dirty="0" sz="1750" spc="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750" spc="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facilitate</a:t>
            </a:r>
            <a:r>
              <a:rPr dirty="0" sz="1750" spc="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integration</a:t>
            </a:r>
            <a:r>
              <a:rPr dirty="0" sz="1750" spc="-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5">
                <a:solidFill>
                  <a:srgbClr val="383838"/>
                </a:solidFill>
                <a:latin typeface="Arial MT"/>
                <a:cs typeface="Arial MT"/>
              </a:rPr>
              <a:t>with</a:t>
            </a:r>
            <a:r>
              <a:rPr dirty="0" sz="1750" spc="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10">
                <a:solidFill>
                  <a:srgbClr val="383838"/>
                </a:solidFill>
                <a:latin typeface="Arial MT"/>
                <a:cs typeface="Arial MT"/>
              </a:rPr>
              <a:t>third- </a:t>
            </a:r>
            <a:r>
              <a:rPr dirty="0" sz="1750" spc="85">
                <a:solidFill>
                  <a:srgbClr val="383838"/>
                </a:solidFill>
                <a:latin typeface="Arial MT"/>
                <a:cs typeface="Arial MT"/>
              </a:rPr>
              <a:t>party</a:t>
            </a:r>
            <a:r>
              <a:rPr dirty="0" sz="1750" spc="-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services.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5753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105"/>
              </a:spcBef>
            </a:pPr>
            <a:r>
              <a:rPr dirty="0" spc="-80"/>
              <a:t>Key</a:t>
            </a:r>
            <a:r>
              <a:rPr dirty="0" spc="-70"/>
              <a:t> </a:t>
            </a:r>
            <a:r>
              <a:rPr dirty="0" spc="235"/>
              <a:t>Features</a:t>
            </a:r>
            <a:r>
              <a:rPr dirty="0" spc="-80"/>
              <a:t> </a:t>
            </a:r>
            <a:r>
              <a:rPr dirty="0" spc="275"/>
              <a:t>That</a:t>
            </a:r>
            <a:r>
              <a:rPr dirty="0" spc="-70"/>
              <a:t> </a:t>
            </a:r>
            <a:r>
              <a:rPr dirty="0" spc="195"/>
              <a:t>Transform</a:t>
            </a:r>
            <a:r>
              <a:rPr dirty="0" spc="-85"/>
              <a:t> </a:t>
            </a:r>
            <a:r>
              <a:rPr dirty="0" spc="80"/>
              <a:t>Daily</a:t>
            </a:r>
            <a:r>
              <a:rPr dirty="0" spc="-65"/>
              <a:t> </a:t>
            </a:r>
            <a:r>
              <a:rPr dirty="0" spc="70"/>
              <a:t>Living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810382" y="1963166"/>
            <a:ext cx="5434330" cy="2595880"/>
            <a:chOff x="2810382" y="1963166"/>
            <a:chExt cx="5434330" cy="2595880"/>
          </a:xfrm>
        </p:grpSpPr>
        <p:sp>
          <p:nvSpPr>
            <p:cNvPr id="4" name="object 4" descr=""/>
            <p:cNvSpPr/>
            <p:nvPr/>
          </p:nvSpPr>
          <p:spPr>
            <a:xfrm>
              <a:off x="2840862" y="1978406"/>
              <a:ext cx="5388610" cy="2565400"/>
            </a:xfrm>
            <a:custGeom>
              <a:avLst/>
              <a:gdLst/>
              <a:ahLst/>
              <a:cxnLst/>
              <a:rect l="l" t="t" r="r" b="b"/>
              <a:pathLst>
                <a:path w="5388609" h="2565400">
                  <a:moveTo>
                    <a:pt x="0" y="146431"/>
                  </a:moveTo>
                  <a:lnTo>
                    <a:pt x="7461" y="100136"/>
                  </a:lnTo>
                  <a:lnTo>
                    <a:pt x="28236" y="59938"/>
                  </a:lnTo>
                  <a:lnTo>
                    <a:pt x="59911" y="28244"/>
                  </a:lnTo>
                  <a:lnTo>
                    <a:pt x="100071" y="7462"/>
                  </a:lnTo>
                  <a:lnTo>
                    <a:pt x="146304" y="0"/>
                  </a:lnTo>
                  <a:lnTo>
                    <a:pt x="5241797" y="0"/>
                  </a:lnTo>
                  <a:lnTo>
                    <a:pt x="5288078" y="7462"/>
                  </a:lnTo>
                  <a:lnTo>
                    <a:pt x="5328245" y="28244"/>
                  </a:lnTo>
                  <a:lnTo>
                    <a:pt x="5359901" y="59938"/>
                  </a:lnTo>
                  <a:lnTo>
                    <a:pt x="5380652" y="100136"/>
                  </a:lnTo>
                  <a:lnTo>
                    <a:pt x="5388102" y="146431"/>
                  </a:lnTo>
                  <a:lnTo>
                    <a:pt x="5388102" y="2418842"/>
                  </a:lnTo>
                  <a:lnTo>
                    <a:pt x="5380652" y="2465074"/>
                  </a:lnTo>
                  <a:lnTo>
                    <a:pt x="5359901" y="2505234"/>
                  </a:lnTo>
                  <a:lnTo>
                    <a:pt x="5328245" y="2536909"/>
                  </a:lnTo>
                  <a:lnTo>
                    <a:pt x="5288078" y="2557684"/>
                  </a:lnTo>
                  <a:lnTo>
                    <a:pt x="5241797" y="2565146"/>
                  </a:lnTo>
                  <a:lnTo>
                    <a:pt x="146304" y="2565146"/>
                  </a:lnTo>
                  <a:lnTo>
                    <a:pt x="100071" y="2557684"/>
                  </a:lnTo>
                  <a:lnTo>
                    <a:pt x="59911" y="2536909"/>
                  </a:lnTo>
                  <a:lnTo>
                    <a:pt x="28236" y="2505234"/>
                  </a:lnTo>
                  <a:lnTo>
                    <a:pt x="7461" y="2465074"/>
                  </a:lnTo>
                  <a:lnTo>
                    <a:pt x="0" y="2418842"/>
                  </a:lnTo>
                  <a:lnTo>
                    <a:pt x="0" y="146431"/>
                  </a:lnTo>
                  <a:close/>
                </a:path>
              </a:pathLst>
            </a:custGeom>
            <a:ln w="30480">
              <a:solidFill>
                <a:srgbClr val="D7D3D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810382" y="1978406"/>
              <a:ext cx="121920" cy="2565400"/>
            </a:xfrm>
            <a:custGeom>
              <a:avLst/>
              <a:gdLst/>
              <a:ahLst/>
              <a:cxnLst/>
              <a:rect l="l" t="t" r="r" b="b"/>
              <a:pathLst>
                <a:path w="121919" h="2565400">
                  <a:moveTo>
                    <a:pt x="87884" y="0"/>
                  </a:moveTo>
                  <a:lnTo>
                    <a:pt x="34036" y="0"/>
                  </a:lnTo>
                  <a:lnTo>
                    <a:pt x="20788" y="2674"/>
                  </a:lnTo>
                  <a:lnTo>
                    <a:pt x="9969" y="9969"/>
                  </a:lnTo>
                  <a:lnTo>
                    <a:pt x="2674" y="20788"/>
                  </a:lnTo>
                  <a:lnTo>
                    <a:pt x="0" y="34036"/>
                  </a:lnTo>
                  <a:lnTo>
                    <a:pt x="0" y="2531110"/>
                  </a:lnTo>
                  <a:lnTo>
                    <a:pt x="2674" y="2544357"/>
                  </a:lnTo>
                  <a:lnTo>
                    <a:pt x="9969" y="2555176"/>
                  </a:lnTo>
                  <a:lnTo>
                    <a:pt x="20788" y="2562471"/>
                  </a:lnTo>
                  <a:lnTo>
                    <a:pt x="34036" y="2565146"/>
                  </a:lnTo>
                  <a:lnTo>
                    <a:pt x="87884" y="2565146"/>
                  </a:lnTo>
                  <a:lnTo>
                    <a:pt x="101131" y="2562471"/>
                  </a:lnTo>
                  <a:lnTo>
                    <a:pt x="111950" y="2555176"/>
                  </a:lnTo>
                  <a:lnTo>
                    <a:pt x="119245" y="2544357"/>
                  </a:lnTo>
                  <a:lnTo>
                    <a:pt x="121919" y="2531110"/>
                  </a:lnTo>
                  <a:lnTo>
                    <a:pt x="121919" y="34036"/>
                  </a:lnTo>
                  <a:lnTo>
                    <a:pt x="119245" y="20788"/>
                  </a:lnTo>
                  <a:lnTo>
                    <a:pt x="111950" y="9969"/>
                  </a:lnTo>
                  <a:lnTo>
                    <a:pt x="101131" y="2674"/>
                  </a:lnTo>
                  <a:lnTo>
                    <a:pt x="87884" y="0"/>
                  </a:lnTo>
                  <a:close/>
                </a:path>
              </a:pathLst>
            </a:custGeom>
            <a:solidFill>
              <a:srgbClr val="DF4F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3177032" y="2206879"/>
            <a:ext cx="4803775" cy="20669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105">
                <a:solidFill>
                  <a:srgbClr val="383838"/>
                </a:solidFill>
                <a:latin typeface="Times New Roman"/>
                <a:cs typeface="Times New Roman"/>
              </a:rPr>
              <a:t>Remote</a:t>
            </a:r>
            <a:r>
              <a:rPr dirty="0" sz="2300" spc="-5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2300">
                <a:solidFill>
                  <a:srgbClr val="383838"/>
                </a:solidFill>
                <a:latin typeface="Times New Roman"/>
                <a:cs typeface="Times New Roman"/>
              </a:rPr>
              <a:t>Access</a:t>
            </a:r>
            <a:r>
              <a:rPr dirty="0" sz="2300" spc="55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2300" spc="210">
                <a:solidFill>
                  <a:srgbClr val="383838"/>
                </a:solidFill>
                <a:latin typeface="Times New Roman"/>
                <a:cs typeface="Times New Roman"/>
              </a:rPr>
              <a:t>&amp;</a:t>
            </a:r>
            <a:r>
              <a:rPr dirty="0" sz="2300" spc="35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2300" spc="90">
                <a:solidFill>
                  <a:srgbClr val="383838"/>
                </a:solidFill>
                <a:latin typeface="Times New Roman"/>
                <a:cs typeface="Times New Roman"/>
              </a:rPr>
              <a:t>Control</a:t>
            </a:r>
            <a:endParaRPr sz="2300">
              <a:latin typeface="Times New Roman"/>
              <a:cs typeface="Times New Roman"/>
            </a:endParaRPr>
          </a:p>
          <a:p>
            <a:pPr marL="12700" marR="5080">
              <a:lnSpc>
                <a:spcPct val="138100"/>
              </a:lnSpc>
              <a:spcBef>
                <a:spcPts val="1705"/>
              </a:spcBef>
            </a:pP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Control</a:t>
            </a:r>
            <a:r>
              <a:rPr dirty="0" sz="1750" spc="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your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entire</a:t>
            </a:r>
            <a:r>
              <a:rPr dirty="0" sz="1750" spc="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home</a:t>
            </a:r>
            <a:r>
              <a:rPr dirty="0" sz="1750" spc="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from</a:t>
            </a:r>
            <a:r>
              <a:rPr dirty="0" sz="1750" spc="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your</a:t>
            </a:r>
            <a:r>
              <a:rPr dirty="0" sz="1750" spc="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office, </a:t>
            </a:r>
            <a:r>
              <a:rPr dirty="0" sz="1750" spc="10">
                <a:solidFill>
                  <a:srgbClr val="383838"/>
                </a:solidFill>
                <a:latin typeface="Arial MT"/>
                <a:cs typeface="Arial MT"/>
              </a:rPr>
              <a:t>holiday</a:t>
            </a:r>
            <a:r>
              <a:rPr dirty="0" sz="1750" spc="1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0">
                <a:solidFill>
                  <a:srgbClr val="383838"/>
                </a:solidFill>
                <a:latin typeface="Arial MT"/>
                <a:cs typeface="Arial MT"/>
              </a:rPr>
              <a:t>destination,</a:t>
            </a:r>
            <a:r>
              <a:rPr dirty="0" sz="1750" spc="8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or</a:t>
            </a:r>
            <a:r>
              <a:rPr dirty="0" sz="1750" spc="1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0">
                <a:solidFill>
                  <a:srgbClr val="383838"/>
                </a:solidFill>
                <a:latin typeface="Arial MT"/>
                <a:cs typeface="Arial MT"/>
              </a:rPr>
              <a:t>whilst</a:t>
            </a:r>
            <a:r>
              <a:rPr dirty="0" sz="1750" spc="1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commuting.</a:t>
            </a:r>
            <a:r>
              <a:rPr dirty="0" sz="1750" spc="9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20">
                <a:solidFill>
                  <a:srgbClr val="383838"/>
                </a:solidFill>
                <a:latin typeface="Arial MT"/>
                <a:cs typeface="Arial MT"/>
              </a:rPr>
              <a:t>Lock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doors,</a:t>
            </a:r>
            <a:r>
              <a:rPr dirty="0" sz="1750" spc="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switch</a:t>
            </a:r>
            <a:r>
              <a:rPr dirty="0" sz="1750" spc="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80">
                <a:solidFill>
                  <a:srgbClr val="383838"/>
                </a:solidFill>
                <a:latin typeface="Arial MT"/>
                <a:cs typeface="Arial MT"/>
              </a:rPr>
              <a:t>off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appliances,</a:t>
            </a:r>
            <a:r>
              <a:rPr dirty="0" sz="1750" spc="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or</a:t>
            </a:r>
            <a:r>
              <a:rPr dirty="0" sz="1750" spc="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adjust</a:t>
            </a:r>
            <a:r>
              <a:rPr dirty="0" sz="1750" spc="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settings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instantly</a:t>
            </a:r>
            <a:r>
              <a:rPr dirty="0" sz="1750" spc="-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through</a:t>
            </a:r>
            <a:r>
              <a:rPr dirty="0" sz="1750" spc="-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mobile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20">
                <a:solidFill>
                  <a:srgbClr val="383838"/>
                </a:solidFill>
                <a:latin typeface="Arial MT"/>
                <a:cs typeface="Arial MT"/>
              </a:rPr>
              <a:t>apps.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8425306" y="1963166"/>
            <a:ext cx="5434330" cy="2595880"/>
            <a:chOff x="8425306" y="1963166"/>
            <a:chExt cx="5434330" cy="2595880"/>
          </a:xfrm>
        </p:grpSpPr>
        <p:sp>
          <p:nvSpPr>
            <p:cNvPr id="8" name="object 8" descr=""/>
            <p:cNvSpPr/>
            <p:nvPr/>
          </p:nvSpPr>
          <p:spPr>
            <a:xfrm>
              <a:off x="8455786" y="1978406"/>
              <a:ext cx="5388610" cy="2565400"/>
            </a:xfrm>
            <a:custGeom>
              <a:avLst/>
              <a:gdLst/>
              <a:ahLst/>
              <a:cxnLst/>
              <a:rect l="l" t="t" r="r" b="b"/>
              <a:pathLst>
                <a:path w="5388609" h="2565400">
                  <a:moveTo>
                    <a:pt x="0" y="146304"/>
                  </a:moveTo>
                  <a:lnTo>
                    <a:pt x="7461" y="100071"/>
                  </a:lnTo>
                  <a:lnTo>
                    <a:pt x="28236" y="59911"/>
                  </a:lnTo>
                  <a:lnTo>
                    <a:pt x="59911" y="28236"/>
                  </a:lnTo>
                  <a:lnTo>
                    <a:pt x="100071" y="7461"/>
                  </a:lnTo>
                  <a:lnTo>
                    <a:pt x="146304" y="0"/>
                  </a:lnTo>
                  <a:lnTo>
                    <a:pt x="5242052" y="0"/>
                  </a:lnTo>
                  <a:lnTo>
                    <a:pt x="5288284" y="7461"/>
                  </a:lnTo>
                  <a:lnTo>
                    <a:pt x="5328444" y="28236"/>
                  </a:lnTo>
                  <a:lnTo>
                    <a:pt x="5360119" y="59911"/>
                  </a:lnTo>
                  <a:lnTo>
                    <a:pt x="5380894" y="100071"/>
                  </a:lnTo>
                  <a:lnTo>
                    <a:pt x="5388356" y="146304"/>
                  </a:lnTo>
                  <a:lnTo>
                    <a:pt x="5388356" y="2418842"/>
                  </a:lnTo>
                  <a:lnTo>
                    <a:pt x="5380894" y="2465074"/>
                  </a:lnTo>
                  <a:lnTo>
                    <a:pt x="5360119" y="2505234"/>
                  </a:lnTo>
                  <a:lnTo>
                    <a:pt x="5328444" y="2536909"/>
                  </a:lnTo>
                  <a:lnTo>
                    <a:pt x="5288284" y="2557684"/>
                  </a:lnTo>
                  <a:lnTo>
                    <a:pt x="5242052" y="2565146"/>
                  </a:lnTo>
                  <a:lnTo>
                    <a:pt x="146304" y="2565146"/>
                  </a:lnTo>
                  <a:lnTo>
                    <a:pt x="100071" y="2557684"/>
                  </a:lnTo>
                  <a:lnTo>
                    <a:pt x="59911" y="2536909"/>
                  </a:lnTo>
                  <a:lnTo>
                    <a:pt x="28236" y="2505234"/>
                  </a:lnTo>
                  <a:lnTo>
                    <a:pt x="7461" y="2465074"/>
                  </a:lnTo>
                  <a:lnTo>
                    <a:pt x="0" y="2418842"/>
                  </a:lnTo>
                  <a:lnTo>
                    <a:pt x="0" y="146304"/>
                  </a:lnTo>
                  <a:close/>
                </a:path>
              </a:pathLst>
            </a:custGeom>
            <a:ln w="30480">
              <a:solidFill>
                <a:srgbClr val="D7D3D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425306" y="1978406"/>
              <a:ext cx="121920" cy="2565400"/>
            </a:xfrm>
            <a:custGeom>
              <a:avLst/>
              <a:gdLst/>
              <a:ahLst/>
              <a:cxnLst/>
              <a:rect l="l" t="t" r="r" b="b"/>
              <a:pathLst>
                <a:path w="121920" h="2565400">
                  <a:moveTo>
                    <a:pt x="87884" y="0"/>
                  </a:moveTo>
                  <a:lnTo>
                    <a:pt x="34036" y="0"/>
                  </a:lnTo>
                  <a:lnTo>
                    <a:pt x="20788" y="2674"/>
                  </a:lnTo>
                  <a:lnTo>
                    <a:pt x="9969" y="9969"/>
                  </a:lnTo>
                  <a:lnTo>
                    <a:pt x="2674" y="20788"/>
                  </a:lnTo>
                  <a:lnTo>
                    <a:pt x="0" y="34036"/>
                  </a:lnTo>
                  <a:lnTo>
                    <a:pt x="0" y="2531110"/>
                  </a:lnTo>
                  <a:lnTo>
                    <a:pt x="2674" y="2544357"/>
                  </a:lnTo>
                  <a:lnTo>
                    <a:pt x="9969" y="2555176"/>
                  </a:lnTo>
                  <a:lnTo>
                    <a:pt x="20788" y="2562471"/>
                  </a:lnTo>
                  <a:lnTo>
                    <a:pt x="34036" y="2565146"/>
                  </a:lnTo>
                  <a:lnTo>
                    <a:pt x="87884" y="2565146"/>
                  </a:lnTo>
                  <a:lnTo>
                    <a:pt x="101131" y="2562471"/>
                  </a:lnTo>
                  <a:lnTo>
                    <a:pt x="111950" y="2555176"/>
                  </a:lnTo>
                  <a:lnTo>
                    <a:pt x="119245" y="2544357"/>
                  </a:lnTo>
                  <a:lnTo>
                    <a:pt x="121920" y="2531110"/>
                  </a:lnTo>
                  <a:lnTo>
                    <a:pt x="121920" y="34036"/>
                  </a:lnTo>
                  <a:lnTo>
                    <a:pt x="119245" y="20788"/>
                  </a:lnTo>
                  <a:lnTo>
                    <a:pt x="111950" y="9969"/>
                  </a:lnTo>
                  <a:lnTo>
                    <a:pt x="101131" y="2674"/>
                  </a:lnTo>
                  <a:lnTo>
                    <a:pt x="87884" y="0"/>
                  </a:lnTo>
                  <a:close/>
                </a:path>
              </a:pathLst>
            </a:custGeom>
            <a:solidFill>
              <a:srgbClr val="DF4F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8792718" y="2206879"/>
            <a:ext cx="4763770" cy="20669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125">
                <a:solidFill>
                  <a:srgbClr val="383838"/>
                </a:solidFill>
                <a:latin typeface="Times New Roman"/>
                <a:cs typeface="Times New Roman"/>
              </a:rPr>
              <a:t>Intelligent</a:t>
            </a:r>
            <a:r>
              <a:rPr dirty="0" sz="2300" spc="-95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2300" spc="114">
                <a:solidFill>
                  <a:srgbClr val="383838"/>
                </a:solidFill>
                <a:latin typeface="Times New Roman"/>
                <a:cs typeface="Times New Roman"/>
              </a:rPr>
              <a:t>Automation</a:t>
            </a:r>
            <a:endParaRPr sz="2300">
              <a:latin typeface="Times New Roman"/>
              <a:cs typeface="Times New Roman"/>
            </a:endParaRPr>
          </a:p>
          <a:p>
            <a:pPr marL="12700" marR="5080">
              <a:lnSpc>
                <a:spcPct val="138100"/>
              </a:lnSpc>
              <a:spcBef>
                <a:spcPts val="1705"/>
              </a:spcBef>
            </a:pP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Create</a:t>
            </a:r>
            <a:r>
              <a:rPr dirty="0" sz="1750" spc="10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routines</a:t>
            </a:r>
            <a:r>
              <a:rPr dirty="0" sz="1750" spc="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90">
                <a:solidFill>
                  <a:srgbClr val="383838"/>
                </a:solidFill>
                <a:latin typeface="Arial MT"/>
                <a:cs typeface="Arial MT"/>
              </a:rPr>
              <a:t>that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run</a:t>
            </a:r>
            <a:r>
              <a:rPr dirty="0" sz="1750" spc="9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automatically</a:t>
            </a:r>
            <a:r>
              <a:rPr dirty="0" sz="1750" spc="10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45">
                <a:solidFill>
                  <a:srgbClr val="383838"/>
                </a:solidFill>
                <a:latin typeface="Arial MT"/>
                <a:cs typeface="Arial MT"/>
              </a:rPr>
              <a:t>–</a:t>
            </a:r>
            <a:r>
              <a:rPr dirty="0" sz="1750" spc="9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lights </a:t>
            </a:r>
            <a:r>
              <a:rPr dirty="0" sz="1750" spc="90">
                <a:solidFill>
                  <a:srgbClr val="383838"/>
                </a:solidFill>
                <a:latin typeface="Arial MT"/>
                <a:cs typeface="Arial MT"/>
              </a:rPr>
              <a:t>that</a:t>
            </a:r>
            <a:r>
              <a:rPr dirty="0" sz="1750" spc="-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80">
                <a:solidFill>
                  <a:srgbClr val="383838"/>
                </a:solidFill>
                <a:latin typeface="Arial MT"/>
                <a:cs typeface="Arial MT"/>
              </a:rPr>
              <a:t>dim</a:t>
            </a:r>
            <a:r>
              <a:rPr dirty="0" sz="1750" spc="-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80">
                <a:solidFill>
                  <a:srgbClr val="383838"/>
                </a:solidFill>
                <a:latin typeface="Arial MT"/>
                <a:cs typeface="Arial MT"/>
              </a:rPr>
              <a:t>at</a:t>
            </a:r>
            <a:r>
              <a:rPr dirty="0" sz="1750" spc="-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bedtime,</a:t>
            </a:r>
            <a:r>
              <a:rPr dirty="0" sz="1750" spc="-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curtains</a:t>
            </a:r>
            <a:r>
              <a:rPr dirty="0" sz="1750" spc="-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90">
                <a:solidFill>
                  <a:srgbClr val="383838"/>
                </a:solidFill>
                <a:latin typeface="Arial MT"/>
                <a:cs typeface="Arial MT"/>
              </a:rPr>
              <a:t>that</a:t>
            </a:r>
            <a:r>
              <a:rPr dirty="0" sz="1750" spc="-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open</a:t>
            </a:r>
            <a:r>
              <a:rPr dirty="0" sz="1750" spc="-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with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sunrise,</a:t>
            </a:r>
            <a:r>
              <a:rPr dirty="0" sz="1750" spc="-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or</a:t>
            </a:r>
            <a:r>
              <a:rPr dirty="0" sz="1750" spc="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coffee</a:t>
            </a:r>
            <a:r>
              <a:rPr dirty="0" sz="1750" spc="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makers</a:t>
            </a:r>
            <a:r>
              <a:rPr dirty="0" sz="1750" spc="-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95">
                <a:solidFill>
                  <a:srgbClr val="383838"/>
                </a:solidFill>
                <a:latin typeface="Arial MT"/>
                <a:cs typeface="Arial MT"/>
              </a:rPr>
              <a:t>that</a:t>
            </a:r>
            <a:r>
              <a:rPr dirty="0" sz="1750" spc="-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5">
                <a:solidFill>
                  <a:srgbClr val="383838"/>
                </a:solidFill>
                <a:latin typeface="Arial MT"/>
                <a:cs typeface="Arial MT"/>
              </a:rPr>
              <a:t>start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 brewing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when</a:t>
            </a:r>
            <a:r>
              <a:rPr dirty="0" sz="1750" spc="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your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alarm</a:t>
            </a:r>
            <a:r>
              <a:rPr dirty="0" sz="1750" spc="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rings.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2810382" y="4755134"/>
            <a:ext cx="5434330" cy="2595880"/>
            <a:chOff x="2810382" y="4755134"/>
            <a:chExt cx="5434330" cy="2595880"/>
          </a:xfrm>
        </p:grpSpPr>
        <p:sp>
          <p:nvSpPr>
            <p:cNvPr id="12" name="object 12" descr=""/>
            <p:cNvSpPr/>
            <p:nvPr/>
          </p:nvSpPr>
          <p:spPr>
            <a:xfrm>
              <a:off x="2840862" y="4770374"/>
              <a:ext cx="5388610" cy="2565400"/>
            </a:xfrm>
            <a:custGeom>
              <a:avLst/>
              <a:gdLst/>
              <a:ahLst/>
              <a:cxnLst/>
              <a:rect l="l" t="t" r="r" b="b"/>
              <a:pathLst>
                <a:path w="5388609" h="2565400">
                  <a:moveTo>
                    <a:pt x="0" y="146303"/>
                  </a:moveTo>
                  <a:lnTo>
                    <a:pt x="7461" y="100071"/>
                  </a:lnTo>
                  <a:lnTo>
                    <a:pt x="28236" y="59911"/>
                  </a:lnTo>
                  <a:lnTo>
                    <a:pt x="59911" y="28236"/>
                  </a:lnTo>
                  <a:lnTo>
                    <a:pt x="100071" y="7461"/>
                  </a:lnTo>
                  <a:lnTo>
                    <a:pt x="146304" y="0"/>
                  </a:lnTo>
                  <a:lnTo>
                    <a:pt x="5241797" y="0"/>
                  </a:lnTo>
                  <a:lnTo>
                    <a:pt x="5288078" y="7461"/>
                  </a:lnTo>
                  <a:lnTo>
                    <a:pt x="5328245" y="28236"/>
                  </a:lnTo>
                  <a:lnTo>
                    <a:pt x="5359901" y="59911"/>
                  </a:lnTo>
                  <a:lnTo>
                    <a:pt x="5380652" y="100071"/>
                  </a:lnTo>
                  <a:lnTo>
                    <a:pt x="5388102" y="146303"/>
                  </a:lnTo>
                  <a:lnTo>
                    <a:pt x="5388102" y="2418753"/>
                  </a:lnTo>
                  <a:lnTo>
                    <a:pt x="5380652" y="2465001"/>
                  </a:lnTo>
                  <a:lnTo>
                    <a:pt x="5359901" y="2505166"/>
                  </a:lnTo>
                  <a:lnTo>
                    <a:pt x="5328245" y="2536839"/>
                  </a:lnTo>
                  <a:lnTo>
                    <a:pt x="5288078" y="2557610"/>
                  </a:lnTo>
                  <a:lnTo>
                    <a:pt x="5241797" y="2565069"/>
                  </a:lnTo>
                  <a:lnTo>
                    <a:pt x="146304" y="2565069"/>
                  </a:lnTo>
                  <a:lnTo>
                    <a:pt x="100071" y="2557610"/>
                  </a:lnTo>
                  <a:lnTo>
                    <a:pt x="59911" y="2536839"/>
                  </a:lnTo>
                  <a:lnTo>
                    <a:pt x="28236" y="2505166"/>
                  </a:lnTo>
                  <a:lnTo>
                    <a:pt x="7461" y="2465001"/>
                  </a:lnTo>
                  <a:lnTo>
                    <a:pt x="0" y="2418753"/>
                  </a:lnTo>
                  <a:lnTo>
                    <a:pt x="0" y="146303"/>
                  </a:lnTo>
                  <a:close/>
                </a:path>
              </a:pathLst>
            </a:custGeom>
            <a:ln w="30480">
              <a:solidFill>
                <a:srgbClr val="D7D3D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810382" y="4770374"/>
              <a:ext cx="121920" cy="2565400"/>
            </a:xfrm>
            <a:custGeom>
              <a:avLst/>
              <a:gdLst/>
              <a:ahLst/>
              <a:cxnLst/>
              <a:rect l="l" t="t" r="r" b="b"/>
              <a:pathLst>
                <a:path w="121919" h="2565400">
                  <a:moveTo>
                    <a:pt x="87884" y="0"/>
                  </a:moveTo>
                  <a:lnTo>
                    <a:pt x="34036" y="0"/>
                  </a:lnTo>
                  <a:lnTo>
                    <a:pt x="20788" y="2674"/>
                  </a:lnTo>
                  <a:lnTo>
                    <a:pt x="9969" y="9969"/>
                  </a:lnTo>
                  <a:lnTo>
                    <a:pt x="2674" y="20788"/>
                  </a:lnTo>
                  <a:lnTo>
                    <a:pt x="0" y="34036"/>
                  </a:lnTo>
                  <a:lnTo>
                    <a:pt x="0" y="2531046"/>
                  </a:lnTo>
                  <a:lnTo>
                    <a:pt x="2674" y="2544286"/>
                  </a:lnTo>
                  <a:lnTo>
                    <a:pt x="9969" y="2555101"/>
                  </a:lnTo>
                  <a:lnTo>
                    <a:pt x="20788" y="2562395"/>
                  </a:lnTo>
                  <a:lnTo>
                    <a:pt x="34036" y="2565069"/>
                  </a:lnTo>
                  <a:lnTo>
                    <a:pt x="87884" y="2565069"/>
                  </a:lnTo>
                  <a:lnTo>
                    <a:pt x="101131" y="2562395"/>
                  </a:lnTo>
                  <a:lnTo>
                    <a:pt x="111950" y="2555101"/>
                  </a:lnTo>
                  <a:lnTo>
                    <a:pt x="119245" y="2544286"/>
                  </a:lnTo>
                  <a:lnTo>
                    <a:pt x="121919" y="2531046"/>
                  </a:lnTo>
                  <a:lnTo>
                    <a:pt x="121919" y="34036"/>
                  </a:lnTo>
                  <a:lnTo>
                    <a:pt x="119245" y="20788"/>
                  </a:lnTo>
                  <a:lnTo>
                    <a:pt x="111950" y="9969"/>
                  </a:lnTo>
                  <a:lnTo>
                    <a:pt x="101131" y="2674"/>
                  </a:lnTo>
                  <a:lnTo>
                    <a:pt x="87884" y="0"/>
                  </a:lnTo>
                  <a:close/>
                </a:path>
              </a:pathLst>
            </a:custGeom>
            <a:solidFill>
              <a:srgbClr val="DF4F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3177032" y="4999101"/>
            <a:ext cx="4422140" cy="2066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75">
                <a:solidFill>
                  <a:srgbClr val="383838"/>
                </a:solidFill>
                <a:latin typeface="Times New Roman"/>
                <a:cs typeface="Times New Roman"/>
              </a:rPr>
              <a:t>Energy</a:t>
            </a:r>
            <a:r>
              <a:rPr dirty="0" sz="2300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2300" spc="95">
                <a:solidFill>
                  <a:srgbClr val="383838"/>
                </a:solidFill>
                <a:latin typeface="Times New Roman"/>
                <a:cs typeface="Times New Roman"/>
              </a:rPr>
              <a:t>Monitoring</a:t>
            </a:r>
            <a:endParaRPr sz="2300">
              <a:latin typeface="Times New Roman"/>
              <a:cs typeface="Times New Roman"/>
            </a:endParaRPr>
          </a:p>
          <a:p>
            <a:pPr marL="12700" marR="5080">
              <a:lnSpc>
                <a:spcPct val="138100"/>
              </a:lnSpc>
              <a:spcBef>
                <a:spcPts val="1710"/>
              </a:spcBef>
            </a:pP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Track</a:t>
            </a:r>
            <a:r>
              <a:rPr dirty="0" sz="1750" spc="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consumption</a:t>
            </a:r>
            <a:r>
              <a:rPr dirty="0" sz="1750" spc="-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patterns</a:t>
            </a:r>
            <a:r>
              <a:rPr dirty="0" sz="1750" spc="-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in</a:t>
            </a:r>
            <a:r>
              <a:rPr dirty="0" sz="1750" spc="-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real-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time, </a:t>
            </a:r>
            <a:r>
              <a:rPr dirty="0" sz="1750" spc="75">
                <a:solidFill>
                  <a:srgbClr val="383838"/>
                </a:solidFill>
                <a:latin typeface="Arial MT"/>
                <a:cs typeface="Arial MT"/>
              </a:rPr>
              <a:t>identify 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energy-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hungry</a:t>
            </a:r>
            <a:r>
              <a:rPr dirty="0" sz="1750" spc="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appliances,</a:t>
            </a:r>
            <a:r>
              <a:rPr dirty="0" sz="1750" spc="10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25">
                <a:solidFill>
                  <a:srgbClr val="383838"/>
                </a:solidFill>
                <a:latin typeface="Arial MT"/>
                <a:cs typeface="Arial MT"/>
              </a:rPr>
              <a:t>and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receive</a:t>
            </a:r>
            <a:r>
              <a:rPr dirty="0" sz="1750" spc="114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suggestions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20">
                <a:solidFill>
                  <a:srgbClr val="383838"/>
                </a:solidFill>
                <a:latin typeface="Arial MT"/>
                <a:cs typeface="Arial MT"/>
              </a:rPr>
              <a:t>to</a:t>
            </a:r>
            <a:r>
              <a:rPr dirty="0" sz="1750" spc="10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optimise</a:t>
            </a:r>
            <a:r>
              <a:rPr dirty="0" sz="1750" spc="10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usage</a:t>
            </a:r>
            <a:r>
              <a:rPr dirty="0" sz="1750" spc="9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25">
                <a:solidFill>
                  <a:srgbClr val="383838"/>
                </a:solidFill>
                <a:latin typeface="Arial MT"/>
                <a:cs typeface="Arial MT"/>
              </a:rPr>
              <a:t>and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reduce</a:t>
            </a:r>
            <a:r>
              <a:rPr dirty="0" sz="1750" spc="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5">
                <a:solidFill>
                  <a:srgbClr val="383838"/>
                </a:solidFill>
                <a:latin typeface="Arial MT"/>
                <a:cs typeface="Arial MT"/>
              </a:rPr>
              <a:t>electricity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 bills</a:t>
            </a:r>
            <a:r>
              <a:rPr dirty="0" sz="1750" spc="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significantly.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8425306" y="4755134"/>
            <a:ext cx="5434330" cy="2595880"/>
            <a:chOff x="8425306" y="4755134"/>
            <a:chExt cx="5434330" cy="2595880"/>
          </a:xfrm>
        </p:grpSpPr>
        <p:sp>
          <p:nvSpPr>
            <p:cNvPr id="16" name="object 16" descr=""/>
            <p:cNvSpPr/>
            <p:nvPr/>
          </p:nvSpPr>
          <p:spPr>
            <a:xfrm>
              <a:off x="8455786" y="4770374"/>
              <a:ext cx="5388610" cy="2565400"/>
            </a:xfrm>
            <a:custGeom>
              <a:avLst/>
              <a:gdLst/>
              <a:ahLst/>
              <a:cxnLst/>
              <a:rect l="l" t="t" r="r" b="b"/>
              <a:pathLst>
                <a:path w="5388609" h="2565400">
                  <a:moveTo>
                    <a:pt x="0" y="146303"/>
                  </a:moveTo>
                  <a:lnTo>
                    <a:pt x="7461" y="100071"/>
                  </a:lnTo>
                  <a:lnTo>
                    <a:pt x="28236" y="59911"/>
                  </a:lnTo>
                  <a:lnTo>
                    <a:pt x="59911" y="28236"/>
                  </a:lnTo>
                  <a:lnTo>
                    <a:pt x="100071" y="7461"/>
                  </a:lnTo>
                  <a:lnTo>
                    <a:pt x="146304" y="0"/>
                  </a:lnTo>
                  <a:lnTo>
                    <a:pt x="5242052" y="0"/>
                  </a:lnTo>
                  <a:lnTo>
                    <a:pt x="5288284" y="7461"/>
                  </a:lnTo>
                  <a:lnTo>
                    <a:pt x="5328444" y="28236"/>
                  </a:lnTo>
                  <a:lnTo>
                    <a:pt x="5360119" y="59911"/>
                  </a:lnTo>
                  <a:lnTo>
                    <a:pt x="5380894" y="100071"/>
                  </a:lnTo>
                  <a:lnTo>
                    <a:pt x="5388356" y="146303"/>
                  </a:lnTo>
                  <a:lnTo>
                    <a:pt x="5388356" y="2418753"/>
                  </a:lnTo>
                  <a:lnTo>
                    <a:pt x="5380894" y="2465001"/>
                  </a:lnTo>
                  <a:lnTo>
                    <a:pt x="5360119" y="2505166"/>
                  </a:lnTo>
                  <a:lnTo>
                    <a:pt x="5328444" y="2536839"/>
                  </a:lnTo>
                  <a:lnTo>
                    <a:pt x="5288284" y="2557610"/>
                  </a:lnTo>
                  <a:lnTo>
                    <a:pt x="5242052" y="2565069"/>
                  </a:lnTo>
                  <a:lnTo>
                    <a:pt x="146304" y="2565069"/>
                  </a:lnTo>
                  <a:lnTo>
                    <a:pt x="100071" y="2557610"/>
                  </a:lnTo>
                  <a:lnTo>
                    <a:pt x="59911" y="2536839"/>
                  </a:lnTo>
                  <a:lnTo>
                    <a:pt x="28236" y="2505166"/>
                  </a:lnTo>
                  <a:lnTo>
                    <a:pt x="7461" y="2465001"/>
                  </a:lnTo>
                  <a:lnTo>
                    <a:pt x="0" y="2418753"/>
                  </a:lnTo>
                  <a:lnTo>
                    <a:pt x="0" y="146303"/>
                  </a:lnTo>
                  <a:close/>
                </a:path>
              </a:pathLst>
            </a:custGeom>
            <a:ln w="30480">
              <a:solidFill>
                <a:srgbClr val="D7D3D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425306" y="4770374"/>
              <a:ext cx="121920" cy="2565400"/>
            </a:xfrm>
            <a:custGeom>
              <a:avLst/>
              <a:gdLst/>
              <a:ahLst/>
              <a:cxnLst/>
              <a:rect l="l" t="t" r="r" b="b"/>
              <a:pathLst>
                <a:path w="121920" h="2565400">
                  <a:moveTo>
                    <a:pt x="87884" y="0"/>
                  </a:moveTo>
                  <a:lnTo>
                    <a:pt x="34036" y="0"/>
                  </a:lnTo>
                  <a:lnTo>
                    <a:pt x="20788" y="2674"/>
                  </a:lnTo>
                  <a:lnTo>
                    <a:pt x="9969" y="9969"/>
                  </a:lnTo>
                  <a:lnTo>
                    <a:pt x="2674" y="20788"/>
                  </a:lnTo>
                  <a:lnTo>
                    <a:pt x="0" y="34036"/>
                  </a:lnTo>
                  <a:lnTo>
                    <a:pt x="0" y="2531046"/>
                  </a:lnTo>
                  <a:lnTo>
                    <a:pt x="2674" y="2544286"/>
                  </a:lnTo>
                  <a:lnTo>
                    <a:pt x="9969" y="2555101"/>
                  </a:lnTo>
                  <a:lnTo>
                    <a:pt x="20788" y="2562395"/>
                  </a:lnTo>
                  <a:lnTo>
                    <a:pt x="34036" y="2565069"/>
                  </a:lnTo>
                  <a:lnTo>
                    <a:pt x="87884" y="2565069"/>
                  </a:lnTo>
                  <a:lnTo>
                    <a:pt x="101131" y="2562395"/>
                  </a:lnTo>
                  <a:lnTo>
                    <a:pt x="111950" y="2555101"/>
                  </a:lnTo>
                  <a:lnTo>
                    <a:pt x="119245" y="2544286"/>
                  </a:lnTo>
                  <a:lnTo>
                    <a:pt x="121920" y="2531046"/>
                  </a:lnTo>
                  <a:lnTo>
                    <a:pt x="121920" y="34036"/>
                  </a:lnTo>
                  <a:lnTo>
                    <a:pt x="119245" y="20788"/>
                  </a:lnTo>
                  <a:lnTo>
                    <a:pt x="111950" y="9969"/>
                  </a:lnTo>
                  <a:lnTo>
                    <a:pt x="101131" y="2674"/>
                  </a:lnTo>
                  <a:lnTo>
                    <a:pt x="87884" y="0"/>
                  </a:lnTo>
                  <a:close/>
                </a:path>
              </a:pathLst>
            </a:custGeom>
            <a:solidFill>
              <a:srgbClr val="DF4F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8792718" y="4999101"/>
            <a:ext cx="4747260" cy="2066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50">
                <a:solidFill>
                  <a:srgbClr val="383838"/>
                </a:solidFill>
                <a:latin typeface="Times New Roman"/>
                <a:cs typeface="Times New Roman"/>
              </a:rPr>
              <a:t>Real-</a:t>
            </a:r>
            <a:r>
              <a:rPr dirty="0" sz="2300" spc="95">
                <a:solidFill>
                  <a:srgbClr val="383838"/>
                </a:solidFill>
                <a:latin typeface="Times New Roman"/>
                <a:cs typeface="Times New Roman"/>
              </a:rPr>
              <a:t>Time</a:t>
            </a:r>
            <a:r>
              <a:rPr dirty="0" sz="2300" spc="-65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2300" spc="75">
                <a:solidFill>
                  <a:srgbClr val="383838"/>
                </a:solidFill>
                <a:latin typeface="Times New Roman"/>
                <a:cs typeface="Times New Roman"/>
              </a:rPr>
              <a:t>Alerts</a:t>
            </a:r>
            <a:endParaRPr sz="2300">
              <a:latin typeface="Times New Roman"/>
              <a:cs typeface="Times New Roman"/>
            </a:endParaRPr>
          </a:p>
          <a:p>
            <a:pPr marL="12700" marR="5080">
              <a:lnSpc>
                <a:spcPct val="138100"/>
              </a:lnSpc>
              <a:spcBef>
                <a:spcPts val="1710"/>
              </a:spcBef>
            </a:pPr>
            <a:r>
              <a:rPr dirty="0" sz="1750" spc="10">
                <a:solidFill>
                  <a:srgbClr val="383838"/>
                </a:solidFill>
                <a:latin typeface="Arial MT"/>
                <a:cs typeface="Arial MT"/>
              </a:rPr>
              <a:t>Stay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informed</a:t>
            </a:r>
            <a:r>
              <a:rPr dirty="0" sz="1750" spc="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about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0">
                <a:solidFill>
                  <a:srgbClr val="383838"/>
                </a:solidFill>
                <a:latin typeface="Arial MT"/>
                <a:cs typeface="Arial MT"/>
              </a:rPr>
              <a:t>everything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45">
                <a:solidFill>
                  <a:srgbClr val="383838"/>
                </a:solidFill>
                <a:latin typeface="Arial MT"/>
                <a:cs typeface="Arial MT"/>
              </a:rPr>
              <a:t>–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 water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20">
                <a:solidFill>
                  <a:srgbClr val="383838"/>
                </a:solidFill>
                <a:latin typeface="Arial MT"/>
                <a:cs typeface="Arial MT"/>
              </a:rPr>
              <a:t>leaks,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smoke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detection,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unexpected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entry,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25">
                <a:solidFill>
                  <a:srgbClr val="383838"/>
                </a:solidFill>
                <a:latin typeface="Arial MT"/>
                <a:cs typeface="Arial MT"/>
              </a:rPr>
              <a:t>or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appliances</a:t>
            </a:r>
            <a:r>
              <a:rPr dirty="0" sz="1750" spc="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left</a:t>
            </a:r>
            <a:r>
              <a:rPr dirty="0" sz="1750" spc="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on.</a:t>
            </a:r>
            <a:r>
              <a:rPr dirty="0" sz="1750" spc="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Peace</a:t>
            </a:r>
            <a:r>
              <a:rPr dirty="0" sz="1750" spc="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of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mind,</a:t>
            </a:r>
            <a:r>
              <a:rPr dirty="0" sz="1750" spc="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delivered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instantly</a:t>
            </a:r>
            <a:r>
              <a:rPr dirty="0" sz="1750" spc="-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20">
                <a:solidFill>
                  <a:srgbClr val="383838"/>
                </a:solidFill>
                <a:latin typeface="Arial MT"/>
                <a:cs typeface="Arial MT"/>
              </a:rPr>
              <a:t>to</a:t>
            </a:r>
            <a:r>
              <a:rPr dirty="0" sz="1750" spc="-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your</a:t>
            </a:r>
            <a:r>
              <a:rPr dirty="0" sz="1750" spc="-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device.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3946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105"/>
              </a:spcBef>
            </a:pPr>
            <a:r>
              <a:rPr dirty="0" spc="180"/>
              <a:t>Technologies</a:t>
            </a:r>
            <a:r>
              <a:rPr dirty="0" spc="-75"/>
              <a:t> </a:t>
            </a:r>
            <a:r>
              <a:rPr dirty="0" spc="160"/>
              <a:t>Powering</a:t>
            </a:r>
            <a:r>
              <a:rPr dirty="0" spc="-10"/>
              <a:t> </a:t>
            </a:r>
            <a:r>
              <a:rPr dirty="0" spc="240"/>
              <a:t>Smart</a:t>
            </a:r>
            <a:r>
              <a:rPr dirty="0" spc="-40"/>
              <a:t> </a:t>
            </a:r>
            <a:r>
              <a:rPr dirty="0" spc="200"/>
              <a:t>Homes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93788" y="2151888"/>
            <a:ext cx="4196715" cy="5010785"/>
            <a:chOff x="793788" y="2151888"/>
            <a:chExt cx="4196715" cy="5010785"/>
          </a:xfrm>
        </p:grpSpPr>
        <p:sp>
          <p:nvSpPr>
            <p:cNvPr id="4" name="object 4" descr=""/>
            <p:cNvSpPr/>
            <p:nvPr/>
          </p:nvSpPr>
          <p:spPr>
            <a:xfrm>
              <a:off x="793788" y="2151888"/>
              <a:ext cx="4196715" cy="5010785"/>
            </a:xfrm>
            <a:custGeom>
              <a:avLst/>
              <a:gdLst/>
              <a:ahLst/>
              <a:cxnLst/>
              <a:rect l="l" t="t" r="r" b="b"/>
              <a:pathLst>
                <a:path w="4196715" h="5010784">
                  <a:moveTo>
                    <a:pt x="4162386" y="0"/>
                  </a:moveTo>
                  <a:lnTo>
                    <a:pt x="34036" y="0"/>
                  </a:lnTo>
                  <a:lnTo>
                    <a:pt x="20788" y="2674"/>
                  </a:lnTo>
                  <a:lnTo>
                    <a:pt x="9969" y="9969"/>
                  </a:lnTo>
                  <a:lnTo>
                    <a:pt x="2674" y="20788"/>
                  </a:lnTo>
                  <a:lnTo>
                    <a:pt x="0" y="34036"/>
                  </a:lnTo>
                  <a:lnTo>
                    <a:pt x="0" y="4976164"/>
                  </a:lnTo>
                  <a:lnTo>
                    <a:pt x="2674" y="4989412"/>
                  </a:lnTo>
                  <a:lnTo>
                    <a:pt x="9969" y="5000231"/>
                  </a:lnTo>
                  <a:lnTo>
                    <a:pt x="20788" y="5007525"/>
                  </a:lnTo>
                  <a:lnTo>
                    <a:pt x="34036" y="5010200"/>
                  </a:lnTo>
                  <a:lnTo>
                    <a:pt x="4162386" y="5010200"/>
                  </a:lnTo>
                  <a:lnTo>
                    <a:pt x="4175634" y="5007525"/>
                  </a:lnTo>
                  <a:lnTo>
                    <a:pt x="4186453" y="5000231"/>
                  </a:lnTo>
                  <a:lnTo>
                    <a:pt x="4193747" y="4989412"/>
                  </a:lnTo>
                  <a:lnTo>
                    <a:pt x="4196422" y="4976164"/>
                  </a:lnTo>
                  <a:lnTo>
                    <a:pt x="4196422" y="34036"/>
                  </a:lnTo>
                  <a:lnTo>
                    <a:pt x="4193747" y="20788"/>
                  </a:lnTo>
                  <a:lnTo>
                    <a:pt x="4186453" y="9969"/>
                  </a:lnTo>
                  <a:lnTo>
                    <a:pt x="4175634" y="2674"/>
                  </a:lnTo>
                  <a:lnTo>
                    <a:pt x="4162386" y="0"/>
                  </a:lnTo>
                  <a:close/>
                </a:path>
              </a:pathLst>
            </a:custGeom>
            <a:solidFill>
              <a:srgbClr val="F1ED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020610" y="2378710"/>
              <a:ext cx="680720" cy="680720"/>
            </a:xfrm>
            <a:custGeom>
              <a:avLst/>
              <a:gdLst/>
              <a:ahLst/>
              <a:cxnLst/>
              <a:rect l="l" t="t" r="r" b="b"/>
              <a:pathLst>
                <a:path w="680719" h="680719">
                  <a:moveTo>
                    <a:pt x="340194" y="0"/>
                  </a:moveTo>
                  <a:lnTo>
                    <a:pt x="294032" y="3107"/>
                  </a:lnTo>
                  <a:lnTo>
                    <a:pt x="249757" y="12158"/>
                  </a:lnTo>
                  <a:lnTo>
                    <a:pt x="207775" y="26747"/>
                  </a:lnTo>
                  <a:lnTo>
                    <a:pt x="168492" y="46467"/>
                  </a:lnTo>
                  <a:lnTo>
                    <a:pt x="132312" y="70913"/>
                  </a:lnTo>
                  <a:lnTo>
                    <a:pt x="99641" y="99679"/>
                  </a:lnTo>
                  <a:lnTo>
                    <a:pt x="70884" y="132357"/>
                  </a:lnTo>
                  <a:lnTo>
                    <a:pt x="46446" y="168543"/>
                  </a:lnTo>
                  <a:lnTo>
                    <a:pt x="26734" y="207829"/>
                  </a:lnTo>
                  <a:lnTo>
                    <a:pt x="12152" y="249810"/>
                  </a:lnTo>
                  <a:lnTo>
                    <a:pt x="3105" y="294080"/>
                  </a:lnTo>
                  <a:lnTo>
                    <a:pt x="0" y="340232"/>
                  </a:lnTo>
                  <a:lnTo>
                    <a:pt x="3105" y="386412"/>
                  </a:lnTo>
                  <a:lnTo>
                    <a:pt x="12152" y="430699"/>
                  </a:lnTo>
                  <a:lnTo>
                    <a:pt x="26734" y="472690"/>
                  </a:lnTo>
                  <a:lnTo>
                    <a:pt x="46446" y="511979"/>
                  </a:lnTo>
                  <a:lnTo>
                    <a:pt x="70884" y="548162"/>
                  </a:lnTo>
                  <a:lnTo>
                    <a:pt x="99641" y="580834"/>
                  </a:lnTo>
                  <a:lnTo>
                    <a:pt x="132312" y="609590"/>
                  </a:lnTo>
                  <a:lnTo>
                    <a:pt x="168492" y="634026"/>
                  </a:lnTo>
                  <a:lnTo>
                    <a:pt x="207775" y="653736"/>
                  </a:lnTo>
                  <a:lnTo>
                    <a:pt x="249757" y="668316"/>
                  </a:lnTo>
                  <a:lnTo>
                    <a:pt x="294032" y="677361"/>
                  </a:lnTo>
                  <a:lnTo>
                    <a:pt x="340194" y="680465"/>
                  </a:lnTo>
                  <a:lnTo>
                    <a:pt x="386373" y="677361"/>
                  </a:lnTo>
                  <a:lnTo>
                    <a:pt x="430661" y="668316"/>
                  </a:lnTo>
                  <a:lnTo>
                    <a:pt x="472651" y="653736"/>
                  </a:lnTo>
                  <a:lnTo>
                    <a:pt x="511941" y="634026"/>
                  </a:lnTo>
                  <a:lnTo>
                    <a:pt x="548124" y="609590"/>
                  </a:lnTo>
                  <a:lnTo>
                    <a:pt x="580796" y="580834"/>
                  </a:lnTo>
                  <a:lnTo>
                    <a:pt x="609552" y="548162"/>
                  </a:lnTo>
                  <a:lnTo>
                    <a:pt x="633988" y="511979"/>
                  </a:lnTo>
                  <a:lnTo>
                    <a:pt x="653698" y="472690"/>
                  </a:lnTo>
                  <a:lnTo>
                    <a:pt x="668278" y="430699"/>
                  </a:lnTo>
                  <a:lnTo>
                    <a:pt x="677323" y="386412"/>
                  </a:lnTo>
                  <a:lnTo>
                    <a:pt x="680427" y="340232"/>
                  </a:lnTo>
                  <a:lnTo>
                    <a:pt x="677323" y="294080"/>
                  </a:lnTo>
                  <a:lnTo>
                    <a:pt x="668278" y="249810"/>
                  </a:lnTo>
                  <a:lnTo>
                    <a:pt x="653698" y="207829"/>
                  </a:lnTo>
                  <a:lnTo>
                    <a:pt x="633988" y="168543"/>
                  </a:lnTo>
                  <a:lnTo>
                    <a:pt x="609552" y="132357"/>
                  </a:lnTo>
                  <a:lnTo>
                    <a:pt x="580796" y="99679"/>
                  </a:lnTo>
                  <a:lnTo>
                    <a:pt x="548124" y="70913"/>
                  </a:lnTo>
                  <a:lnTo>
                    <a:pt x="511941" y="46467"/>
                  </a:lnTo>
                  <a:lnTo>
                    <a:pt x="472651" y="26747"/>
                  </a:lnTo>
                  <a:lnTo>
                    <a:pt x="430661" y="12158"/>
                  </a:lnTo>
                  <a:lnTo>
                    <a:pt x="386373" y="3107"/>
                  </a:lnTo>
                  <a:lnTo>
                    <a:pt x="340194" y="0"/>
                  </a:lnTo>
                  <a:close/>
                </a:path>
              </a:pathLst>
            </a:custGeom>
            <a:solidFill>
              <a:srgbClr val="DF4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4576" y="2574292"/>
              <a:ext cx="286786" cy="282960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1008075" y="3257169"/>
            <a:ext cx="2620010" cy="376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95">
                <a:solidFill>
                  <a:srgbClr val="383838"/>
                </a:solidFill>
                <a:latin typeface="Times New Roman"/>
                <a:cs typeface="Times New Roman"/>
              </a:rPr>
              <a:t>Hardware</a:t>
            </a:r>
            <a:r>
              <a:rPr dirty="0" sz="2300" spc="-15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2300" spc="95">
                <a:solidFill>
                  <a:srgbClr val="383838"/>
                </a:solidFill>
                <a:latin typeface="Times New Roman"/>
                <a:cs typeface="Times New Roman"/>
              </a:rPr>
              <a:t>Platforms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08075" y="3733851"/>
            <a:ext cx="3559175" cy="3099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5600" marR="638175" indent="-343535">
              <a:lnSpc>
                <a:spcPct val="1383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Arduino</a:t>
            </a:r>
            <a:r>
              <a:rPr dirty="0" sz="1750" spc="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45">
                <a:solidFill>
                  <a:srgbClr val="383838"/>
                </a:solidFill>
                <a:latin typeface="Arial MT"/>
                <a:cs typeface="Arial MT"/>
              </a:rPr>
              <a:t>–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45">
                <a:solidFill>
                  <a:srgbClr val="383838"/>
                </a:solidFill>
                <a:latin typeface="Arial MT"/>
                <a:cs typeface="Arial MT"/>
              </a:rPr>
              <a:t>Perfect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for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85">
                <a:solidFill>
                  <a:srgbClr val="383838"/>
                </a:solidFill>
                <a:latin typeface="Arial MT"/>
                <a:cs typeface="Arial MT"/>
              </a:rPr>
              <a:t>DIY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automation</a:t>
            </a:r>
            <a:r>
              <a:rPr dirty="0" sz="1750" spc="-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projects</a:t>
            </a:r>
            <a:r>
              <a:rPr dirty="0" sz="1750" spc="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25">
                <a:solidFill>
                  <a:srgbClr val="383838"/>
                </a:solidFill>
                <a:latin typeface="Arial MT"/>
                <a:cs typeface="Arial MT"/>
              </a:rPr>
              <a:t>and 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prototyping</a:t>
            </a:r>
            <a:endParaRPr sz="1750">
              <a:latin typeface="Arial MT"/>
              <a:cs typeface="Arial MT"/>
            </a:endParaRPr>
          </a:p>
          <a:p>
            <a:pPr marL="355600" marR="144145" indent="-343535">
              <a:lnSpc>
                <a:spcPct val="138400"/>
              </a:lnSpc>
              <a:spcBef>
                <a:spcPts val="480"/>
              </a:spcBef>
              <a:buChar char="•"/>
              <a:tabLst>
                <a:tab pos="355600" algn="l"/>
              </a:tabLst>
            </a:pP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Raspberry</a:t>
            </a:r>
            <a:r>
              <a:rPr dirty="0" sz="1750" spc="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30">
                <a:solidFill>
                  <a:srgbClr val="383838"/>
                </a:solidFill>
                <a:latin typeface="Arial MT"/>
                <a:cs typeface="Arial MT"/>
              </a:rPr>
              <a:t>Pi</a:t>
            </a:r>
            <a:r>
              <a:rPr dirty="0" sz="1750" spc="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45">
                <a:solidFill>
                  <a:srgbClr val="383838"/>
                </a:solidFill>
                <a:latin typeface="Arial MT"/>
                <a:cs typeface="Arial MT"/>
              </a:rPr>
              <a:t>–</a:t>
            </a:r>
            <a:r>
              <a:rPr dirty="0" sz="1750" spc="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Powerful</a:t>
            </a:r>
            <a:r>
              <a:rPr dirty="0" sz="1750" spc="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85">
                <a:solidFill>
                  <a:srgbClr val="383838"/>
                </a:solidFill>
                <a:latin typeface="Arial MT"/>
                <a:cs typeface="Arial MT"/>
              </a:rPr>
              <a:t>mini- </a:t>
            </a:r>
            <a:r>
              <a:rPr dirty="0" sz="1750" spc="80">
                <a:solidFill>
                  <a:srgbClr val="383838"/>
                </a:solidFill>
                <a:latin typeface="Arial MT"/>
                <a:cs typeface="Arial MT"/>
              </a:rPr>
              <a:t>computer</a:t>
            </a:r>
            <a:r>
              <a:rPr dirty="0" sz="1750" spc="-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for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complex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20">
                <a:solidFill>
                  <a:srgbClr val="383838"/>
                </a:solidFill>
                <a:latin typeface="Arial MT"/>
                <a:cs typeface="Arial MT"/>
              </a:rPr>
              <a:t>home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servers</a:t>
            </a:r>
            <a:endParaRPr sz="1750">
              <a:latin typeface="Arial MT"/>
              <a:cs typeface="Arial MT"/>
            </a:endParaRPr>
          </a:p>
          <a:p>
            <a:pPr marL="355600" marR="5080" indent="-343535">
              <a:lnSpc>
                <a:spcPct val="138300"/>
              </a:lnSpc>
              <a:spcBef>
                <a:spcPts val="484"/>
              </a:spcBef>
              <a:buChar char="•"/>
              <a:tabLst>
                <a:tab pos="355600" algn="l"/>
              </a:tabLst>
            </a:pPr>
            <a:r>
              <a:rPr dirty="0" sz="1750" spc="-30">
                <a:solidFill>
                  <a:srgbClr val="383838"/>
                </a:solidFill>
                <a:latin typeface="Arial MT"/>
                <a:cs typeface="Arial MT"/>
              </a:rPr>
              <a:t>ESP32/ESP8266</a:t>
            </a:r>
            <a:r>
              <a:rPr dirty="0" sz="1750" spc="-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45">
                <a:solidFill>
                  <a:srgbClr val="383838"/>
                </a:solidFill>
                <a:latin typeface="Arial MT"/>
                <a:cs typeface="Arial MT"/>
              </a:rPr>
              <a:t>–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Affordable </a:t>
            </a:r>
            <a:r>
              <a:rPr dirty="0" sz="1750" spc="120">
                <a:solidFill>
                  <a:srgbClr val="383838"/>
                </a:solidFill>
                <a:latin typeface="Arial MT"/>
                <a:cs typeface="Arial MT"/>
              </a:rPr>
              <a:t>Wi-</a:t>
            </a:r>
            <a:r>
              <a:rPr dirty="0" sz="1750" spc="-50">
                <a:solidFill>
                  <a:srgbClr val="383838"/>
                </a:solidFill>
                <a:latin typeface="Arial MT"/>
                <a:cs typeface="Arial MT"/>
              </a:rPr>
              <a:t>Fi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enabled</a:t>
            </a:r>
            <a:r>
              <a:rPr dirty="0" sz="1750" spc="9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microcontrollers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5216905" y="2151888"/>
            <a:ext cx="4196715" cy="5010785"/>
            <a:chOff x="5216905" y="2151888"/>
            <a:chExt cx="4196715" cy="5010785"/>
          </a:xfrm>
        </p:grpSpPr>
        <p:sp>
          <p:nvSpPr>
            <p:cNvPr id="10" name="object 10" descr=""/>
            <p:cNvSpPr/>
            <p:nvPr/>
          </p:nvSpPr>
          <p:spPr>
            <a:xfrm>
              <a:off x="5216905" y="2151888"/>
              <a:ext cx="4196715" cy="5010785"/>
            </a:xfrm>
            <a:custGeom>
              <a:avLst/>
              <a:gdLst/>
              <a:ahLst/>
              <a:cxnLst/>
              <a:rect l="l" t="t" r="r" b="b"/>
              <a:pathLst>
                <a:path w="4196715" h="5010784">
                  <a:moveTo>
                    <a:pt x="4162425" y="0"/>
                  </a:moveTo>
                  <a:lnTo>
                    <a:pt x="34036" y="0"/>
                  </a:lnTo>
                  <a:lnTo>
                    <a:pt x="20788" y="2674"/>
                  </a:lnTo>
                  <a:lnTo>
                    <a:pt x="9969" y="9969"/>
                  </a:lnTo>
                  <a:lnTo>
                    <a:pt x="2674" y="20788"/>
                  </a:lnTo>
                  <a:lnTo>
                    <a:pt x="0" y="34036"/>
                  </a:lnTo>
                  <a:lnTo>
                    <a:pt x="0" y="4976164"/>
                  </a:lnTo>
                  <a:lnTo>
                    <a:pt x="2674" y="4989412"/>
                  </a:lnTo>
                  <a:lnTo>
                    <a:pt x="9969" y="5000231"/>
                  </a:lnTo>
                  <a:lnTo>
                    <a:pt x="20788" y="5007525"/>
                  </a:lnTo>
                  <a:lnTo>
                    <a:pt x="34036" y="5010200"/>
                  </a:lnTo>
                  <a:lnTo>
                    <a:pt x="4162425" y="5010200"/>
                  </a:lnTo>
                  <a:lnTo>
                    <a:pt x="4175672" y="5007525"/>
                  </a:lnTo>
                  <a:lnTo>
                    <a:pt x="4186491" y="5000231"/>
                  </a:lnTo>
                  <a:lnTo>
                    <a:pt x="4193786" y="4989412"/>
                  </a:lnTo>
                  <a:lnTo>
                    <a:pt x="4196461" y="4976164"/>
                  </a:lnTo>
                  <a:lnTo>
                    <a:pt x="4196461" y="34036"/>
                  </a:lnTo>
                  <a:lnTo>
                    <a:pt x="4193786" y="20788"/>
                  </a:lnTo>
                  <a:lnTo>
                    <a:pt x="4186491" y="9969"/>
                  </a:lnTo>
                  <a:lnTo>
                    <a:pt x="4175672" y="2674"/>
                  </a:lnTo>
                  <a:lnTo>
                    <a:pt x="4162425" y="0"/>
                  </a:lnTo>
                  <a:close/>
                </a:path>
              </a:pathLst>
            </a:custGeom>
            <a:solidFill>
              <a:srgbClr val="F1ED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443727" y="2378710"/>
              <a:ext cx="680720" cy="680720"/>
            </a:xfrm>
            <a:custGeom>
              <a:avLst/>
              <a:gdLst/>
              <a:ahLst/>
              <a:cxnLst/>
              <a:rect l="l" t="t" r="r" b="b"/>
              <a:pathLst>
                <a:path w="680720" h="680719">
                  <a:moveTo>
                    <a:pt x="340233" y="0"/>
                  </a:moveTo>
                  <a:lnTo>
                    <a:pt x="294080" y="3107"/>
                  </a:lnTo>
                  <a:lnTo>
                    <a:pt x="249810" y="12158"/>
                  </a:lnTo>
                  <a:lnTo>
                    <a:pt x="207829" y="26747"/>
                  </a:lnTo>
                  <a:lnTo>
                    <a:pt x="168543" y="46467"/>
                  </a:lnTo>
                  <a:lnTo>
                    <a:pt x="132357" y="70913"/>
                  </a:lnTo>
                  <a:lnTo>
                    <a:pt x="99679" y="99679"/>
                  </a:lnTo>
                  <a:lnTo>
                    <a:pt x="70913" y="132357"/>
                  </a:lnTo>
                  <a:lnTo>
                    <a:pt x="46467" y="168543"/>
                  </a:lnTo>
                  <a:lnTo>
                    <a:pt x="26747" y="207829"/>
                  </a:lnTo>
                  <a:lnTo>
                    <a:pt x="12158" y="249810"/>
                  </a:lnTo>
                  <a:lnTo>
                    <a:pt x="3107" y="294080"/>
                  </a:lnTo>
                  <a:lnTo>
                    <a:pt x="0" y="340232"/>
                  </a:lnTo>
                  <a:lnTo>
                    <a:pt x="3107" y="386412"/>
                  </a:lnTo>
                  <a:lnTo>
                    <a:pt x="12158" y="430699"/>
                  </a:lnTo>
                  <a:lnTo>
                    <a:pt x="26747" y="472690"/>
                  </a:lnTo>
                  <a:lnTo>
                    <a:pt x="46467" y="511979"/>
                  </a:lnTo>
                  <a:lnTo>
                    <a:pt x="70913" y="548162"/>
                  </a:lnTo>
                  <a:lnTo>
                    <a:pt x="99679" y="580834"/>
                  </a:lnTo>
                  <a:lnTo>
                    <a:pt x="132357" y="609590"/>
                  </a:lnTo>
                  <a:lnTo>
                    <a:pt x="168543" y="634026"/>
                  </a:lnTo>
                  <a:lnTo>
                    <a:pt x="207829" y="653736"/>
                  </a:lnTo>
                  <a:lnTo>
                    <a:pt x="249810" y="668316"/>
                  </a:lnTo>
                  <a:lnTo>
                    <a:pt x="294080" y="677361"/>
                  </a:lnTo>
                  <a:lnTo>
                    <a:pt x="340233" y="680465"/>
                  </a:lnTo>
                  <a:lnTo>
                    <a:pt x="386412" y="677361"/>
                  </a:lnTo>
                  <a:lnTo>
                    <a:pt x="430699" y="668316"/>
                  </a:lnTo>
                  <a:lnTo>
                    <a:pt x="472690" y="653736"/>
                  </a:lnTo>
                  <a:lnTo>
                    <a:pt x="511979" y="634026"/>
                  </a:lnTo>
                  <a:lnTo>
                    <a:pt x="548162" y="609590"/>
                  </a:lnTo>
                  <a:lnTo>
                    <a:pt x="580834" y="580834"/>
                  </a:lnTo>
                  <a:lnTo>
                    <a:pt x="609590" y="548162"/>
                  </a:lnTo>
                  <a:lnTo>
                    <a:pt x="634026" y="511979"/>
                  </a:lnTo>
                  <a:lnTo>
                    <a:pt x="653736" y="472690"/>
                  </a:lnTo>
                  <a:lnTo>
                    <a:pt x="668316" y="430699"/>
                  </a:lnTo>
                  <a:lnTo>
                    <a:pt x="677361" y="386412"/>
                  </a:lnTo>
                  <a:lnTo>
                    <a:pt x="680466" y="340232"/>
                  </a:lnTo>
                  <a:lnTo>
                    <a:pt x="677361" y="294080"/>
                  </a:lnTo>
                  <a:lnTo>
                    <a:pt x="668316" y="249810"/>
                  </a:lnTo>
                  <a:lnTo>
                    <a:pt x="653736" y="207829"/>
                  </a:lnTo>
                  <a:lnTo>
                    <a:pt x="634026" y="168543"/>
                  </a:lnTo>
                  <a:lnTo>
                    <a:pt x="609590" y="132357"/>
                  </a:lnTo>
                  <a:lnTo>
                    <a:pt x="580834" y="99679"/>
                  </a:lnTo>
                  <a:lnTo>
                    <a:pt x="548162" y="70913"/>
                  </a:lnTo>
                  <a:lnTo>
                    <a:pt x="511979" y="46467"/>
                  </a:lnTo>
                  <a:lnTo>
                    <a:pt x="472690" y="26747"/>
                  </a:lnTo>
                  <a:lnTo>
                    <a:pt x="430699" y="12158"/>
                  </a:lnTo>
                  <a:lnTo>
                    <a:pt x="386412" y="3107"/>
                  </a:lnTo>
                  <a:lnTo>
                    <a:pt x="340233" y="0"/>
                  </a:lnTo>
                  <a:close/>
                </a:path>
              </a:pathLst>
            </a:custGeom>
            <a:solidFill>
              <a:srgbClr val="DF4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51163" y="2769416"/>
              <a:ext cx="67843" cy="68310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5643579" y="2606195"/>
              <a:ext cx="281305" cy="118110"/>
            </a:xfrm>
            <a:custGeom>
              <a:avLst/>
              <a:gdLst/>
              <a:ahLst/>
              <a:cxnLst/>
              <a:rect l="l" t="t" r="r" b="b"/>
              <a:pathLst>
                <a:path w="281304" h="118110">
                  <a:moveTo>
                    <a:pt x="0" y="59944"/>
                  </a:moveTo>
                  <a:lnTo>
                    <a:pt x="343" y="59596"/>
                  </a:lnTo>
                  <a:lnTo>
                    <a:pt x="836" y="59096"/>
                  </a:lnTo>
                  <a:lnTo>
                    <a:pt x="1483" y="58439"/>
                  </a:lnTo>
                  <a:lnTo>
                    <a:pt x="2235" y="57675"/>
                  </a:lnTo>
                  <a:lnTo>
                    <a:pt x="31654" y="33180"/>
                  </a:lnTo>
                  <a:lnTo>
                    <a:pt x="44954" y="25000"/>
                  </a:lnTo>
                  <a:lnTo>
                    <a:pt x="45596" y="24626"/>
                  </a:lnTo>
                  <a:lnTo>
                    <a:pt x="51387" y="21548"/>
                  </a:lnTo>
                  <a:lnTo>
                    <a:pt x="52169" y="21165"/>
                  </a:lnTo>
                  <a:lnTo>
                    <a:pt x="55807" y="19420"/>
                  </a:lnTo>
                  <a:lnTo>
                    <a:pt x="56613" y="19040"/>
                  </a:lnTo>
                  <a:lnTo>
                    <a:pt x="57318" y="18709"/>
                  </a:lnTo>
                  <a:lnTo>
                    <a:pt x="58104" y="18338"/>
                  </a:lnTo>
                  <a:lnTo>
                    <a:pt x="58771" y="18027"/>
                  </a:lnTo>
                  <a:lnTo>
                    <a:pt x="59570" y="17651"/>
                  </a:lnTo>
                  <a:lnTo>
                    <a:pt x="60264" y="17327"/>
                  </a:lnTo>
                  <a:lnTo>
                    <a:pt x="61066" y="16952"/>
                  </a:lnTo>
                  <a:lnTo>
                    <a:pt x="61738" y="16648"/>
                  </a:lnTo>
                  <a:lnTo>
                    <a:pt x="62537" y="16275"/>
                  </a:lnTo>
                  <a:lnTo>
                    <a:pt x="63226" y="15951"/>
                  </a:lnTo>
                  <a:lnTo>
                    <a:pt x="64010" y="15603"/>
                  </a:lnTo>
                  <a:lnTo>
                    <a:pt x="67497" y="14110"/>
                  </a:lnTo>
                  <a:lnTo>
                    <a:pt x="68303" y="13786"/>
                  </a:lnTo>
                  <a:lnTo>
                    <a:pt x="68995" y="13512"/>
                  </a:lnTo>
                  <a:lnTo>
                    <a:pt x="69841" y="13189"/>
                  </a:lnTo>
                  <a:lnTo>
                    <a:pt x="70563" y="12890"/>
                  </a:lnTo>
                  <a:lnTo>
                    <a:pt x="71342" y="12592"/>
                  </a:lnTo>
                  <a:lnTo>
                    <a:pt x="72024" y="12343"/>
                  </a:lnTo>
                  <a:lnTo>
                    <a:pt x="72788" y="12044"/>
                  </a:lnTo>
                  <a:lnTo>
                    <a:pt x="73479" y="11770"/>
                  </a:lnTo>
                  <a:lnTo>
                    <a:pt x="74263" y="11497"/>
                  </a:lnTo>
                  <a:lnTo>
                    <a:pt x="74913" y="11248"/>
                  </a:lnTo>
                  <a:lnTo>
                    <a:pt x="75712" y="10974"/>
                  </a:lnTo>
                  <a:lnTo>
                    <a:pt x="76346" y="10750"/>
                  </a:lnTo>
                  <a:lnTo>
                    <a:pt x="77175" y="10451"/>
                  </a:lnTo>
                  <a:lnTo>
                    <a:pt x="77810" y="10252"/>
                  </a:lnTo>
                  <a:lnTo>
                    <a:pt x="78641" y="9954"/>
                  </a:lnTo>
                  <a:lnTo>
                    <a:pt x="79278" y="9755"/>
                  </a:lnTo>
                  <a:lnTo>
                    <a:pt x="80112" y="9481"/>
                  </a:lnTo>
                  <a:lnTo>
                    <a:pt x="80751" y="9282"/>
                  </a:lnTo>
                  <a:lnTo>
                    <a:pt x="81588" y="9008"/>
                  </a:lnTo>
                  <a:lnTo>
                    <a:pt x="82232" y="8809"/>
                  </a:lnTo>
                  <a:lnTo>
                    <a:pt x="83051" y="8560"/>
                  </a:lnTo>
                  <a:lnTo>
                    <a:pt x="83698" y="8361"/>
                  </a:lnTo>
                  <a:lnTo>
                    <a:pt x="84507" y="8112"/>
                  </a:lnTo>
                  <a:lnTo>
                    <a:pt x="85194" y="7913"/>
                  </a:lnTo>
                  <a:lnTo>
                    <a:pt x="85990" y="7689"/>
                  </a:lnTo>
                  <a:lnTo>
                    <a:pt x="86650" y="7490"/>
                  </a:lnTo>
                  <a:lnTo>
                    <a:pt x="87411" y="7291"/>
                  </a:lnTo>
                  <a:lnTo>
                    <a:pt x="88061" y="7092"/>
                  </a:lnTo>
                  <a:lnTo>
                    <a:pt x="88887" y="6868"/>
                  </a:lnTo>
                  <a:lnTo>
                    <a:pt x="89551" y="6694"/>
                  </a:lnTo>
                  <a:lnTo>
                    <a:pt x="90368" y="6495"/>
                  </a:lnTo>
                  <a:lnTo>
                    <a:pt x="90990" y="6320"/>
                  </a:lnTo>
                  <a:lnTo>
                    <a:pt x="91766" y="6121"/>
                  </a:lnTo>
                  <a:lnTo>
                    <a:pt x="92409" y="5972"/>
                  </a:lnTo>
                  <a:lnTo>
                    <a:pt x="93217" y="5748"/>
                  </a:lnTo>
                  <a:lnTo>
                    <a:pt x="93897" y="5599"/>
                  </a:lnTo>
                  <a:lnTo>
                    <a:pt x="94723" y="5400"/>
                  </a:lnTo>
                  <a:lnTo>
                    <a:pt x="95387" y="5250"/>
                  </a:lnTo>
                  <a:lnTo>
                    <a:pt x="96181" y="5051"/>
                  </a:lnTo>
                  <a:lnTo>
                    <a:pt x="96843" y="4902"/>
                  </a:lnTo>
                  <a:lnTo>
                    <a:pt x="97615" y="4728"/>
                  </a:lnTo>
                  <a:lnTo>
                    <a:pt x="98284" y="4578"/>
                  </a:lnTo>
                  <a:lnTo>
                    <a:pt x="99101" y="4404"/>
                  </a:lnTo>
                  <a:lnTo>
                    <a:pt x="99954" y="4230"/>
                  </a:lnTo>
                  <a:lnTo>
                    <a:pt x="100902" y="4056"/>
                  </a:lnTo>
                  <a:lnTo>
                    <a:pt x="101856" y="3857"/>
                  </a:lnTo>
                  <a:lnTo>
                    <a:pt x="102655" y="3707"/>
                  </a:lnTo>
                  <a:lnTo>
                    <a:pt x="103486" y="3533"/>
                  </a:lnTo>
                  <a:lnTo>
                    <a:pt x="104153" y="3409"/>
                  </a:lnTo>
                  <a:lnTo>
                    <a:pt x="104957" y="3259"/>
                  </a:lnTo>
                  <a:lnTo>
                    <a:pt x="105621" y="3160"/>
                  </a:lnTo>
                  <a:lnTo>
                    <a:pt x="106427" y="3011"/>
                  </a:lnTo>
                  <a:lnTo>
                    <a:pt x="107094" y="2911"/>
                  </a:lnTo>
                  <a:lnTo>
                    <a:pt x="107893" y="2762"/>
                  </a:lnTo>
                  <a:lnTo>
                    <a:pt x="108560" y="2662"/>
                  </a:lnTo>
                  <a:lnTo>
                    <a:pt x="109367" y="2538"/>
                  </a:lnTo>
                  <a:lnTo>
                    <a:pt x="110036" y="2438"/>
                  </a:lnTo>
                  <a:lnTo>
                    <a:pt x="110835" y="2314"/>
                  </a:lnTo>
                  <a:lnTo>
                    <a:pt x="111507" y="2214"/>
                  </a:lnTo>
                  <a:lnTo>
                    <a:pt x="112311" y="2090"/>
                  </a:lnTo>
                  <a:lnTo>
                    <a:pt x="112993" y="2015"/>
                  </a:lnTo>
                  <a:lnTo>
                    <a:pt x="113786" y="1891"/>
                  </a:lnTo>
                  <a:lnTo>
                    <a:pt x="114473" y="1816"/>
                  </a:lnTo>
                  <a:lnTo>
                    <a:pt x="115287" y="1717"/>
                  </a:lnTo>
                  <a:lnTo>
                    <a:pt x="116123" y="1617"/>
                  </a:lnTo>
                  <a:lnTo>
                    <a:pt x="117062" y="1493"/>
                  </a:lnTo>
                  <a:lnTo>
                    <a:pt x="118012" y="1393"/>
                  </a:lnTo>
                  <a:lnTo>
                    <a:pt x="118829" y="1294"/>
                  </a:lnTo>
                  <a:lnTo>
                    <a:pt x="119680" y="1219"/>
                  </a:lnTo>
                  <a:lnTo>
                    <a:pt x="120521" y="1144"/>
                  </a:lnTo>
                  <a:lnTo>
                    <a:pt x="121474" y="1045"/>
                  </a:lnTo>
                  <a:lnTo>
                    <a:pt x="122427" y="970"/>
                  </a:lnTo>
                  <a:lnTo>
                    <a:pt x="123244" y="895"/>
                  </a:lnTo>
                  <a:lnTo>
                    <a:pt x="124062" y="821"/>
                  </a:lnTo>
                  <a:lnTo>
                    <a:pt x="124754" y="771"/>
                  </a:lnTo>
                  <a:lnTo>
                    <a:pt x="125543" y="721"/>
                  </a:lnTo>
                  <a:lnTo>
                    <a:pt x="126235" y="671"/>
                  </a:lnTo>
                  <a:lnTo>
                    <a:pt x="127041" y="622"/>
                  </a:lnTo>
                  <a:lnTo>
                    <a:pt x="127878" y="572"/>
                  </a:lnTo>
                  <a:lnTo>
                    <a:pt x="128818" y="522"/>
                  </a:lnTo>
                  <a:lnTo>
                    <a:pt x="129771" y="472"/>
                  </a:lnTo>
                  <a:lnTo>
                    <a:pt x="130590" y="423"/>
                  </a:lnTo>
                  <a:lnTo>
                    <a:pt x="131409" y="373"/>
                  </a:lnTo>
                  <a:lnTo>
                    <a:pt x="132101" y="323"/>
                  </a:lnTo>
                  <a:lnTo>
                    <a:pt x="132890" y="298"/>
                  </a:lnTo>
                  <a:lnTo>
                    <a:pt x="133582" y="248"/>
                  </a:lnTo>
                  <a:lnTo>
                    <a:pt x="134361" y="223"/>
                  </a:lnTo>
                  <a:lnTo>
                    <a:pt x="135050" y="199"/>
                  </a:lnTo>
                  <a:lnTo>
                    <a:pt x="139146" y="49"/>
                  </a:lnTo>
                  <a:lnTo>
                    <a:pt x="140102" y="24"/>
                  </a:lnTo>
                  <a:lnTo>
                    <a:pt x="141030" y="24"/>
                  </a:lnTo>
                  <a:lnTo>
                    <a:pt x="141829" y="0"/>
                  </a:lnTo>
                  <a:lnTo>
                    <a:pt x="142650" y="0"/>
                  </a:lnTo>
                  <a:lnTo>
                    <a:pt x="143375" y="0"/>
                  </a:lnTo>
                  <a:lnTo>
                    <a:pt x="144171" y="0"/>
                  </a:lnTo>
                  <a:lnTo>
                    <a:pt x="144836" y="0"/>
                  </a:lnTo>
                  <a:lnTo>
                    <a:pt x="145610" y="0"/>
                  </a:lnTo>
                  <a:lnTo>
                    <a:pt x="146277" y="0"/>
                  </a:lnTo>
                  <a:lnTo>
                    <a:pt x="147073" y="24"/>
                  </a:lnTo>
                  <a:lnTo>
                    <a:pt x="147770" y="24"/>
                  </a:lnTo>
                  <a:lnTo>
                    <a:pt x="148561" y="49"/>
                  </a:lnTo>
                  <a:lnTo>
                    <a:pt x="149253" y="74"/>
                  </a:lnTo>
                  <a:lnTo>
                    <a:pt x="150032" y="99"/>
                  </a:lnTo>
                  <a:lnTo>
                    <a:pt x="150721" y="124"/>
                  </a:lnTo>
                  <a:lnTo>
                    <a:pt x="151500" y="174"/>
                  </a:lnTo>
                  <a:lnTo>
                    <a:pt x="152192" y="199"/>
                  </a:lnTo>
                  <a:lnTo>
                    <a:pt x="152984" y="248"/>
                  </a:lnTo>
                  <a:lnTo>
                    <a:pt x="153678" y="273"/>
                  </a:lnTo>
                  <a:lnTo>
                    <a:pt x="154472" y="323"/>
                  </a:lnTo>
                  <a:lnTo>
                    <a:pt x="155136" y="373"/>
                  </a:lnTo>
                  <a:lnTo>
                    <a:pt x="155908" y="423"/>
                  </a:lnTo>
                  <a:lnTo>
                    <a:pt x="156570" y="472"/>
                  </a:lnTo>
                  <a:lnTo>
                    <a:pt x="157361" y="547"/>
                  </a:lnTo>
                  <a:lnTo>
                    <a:pt x="158056" y="597"/>
                  </a:lnTo>
                  <a:lnTo>
                    <a:pt x="158859" y="671"/>
                  </a:lnTo>
                  <a:lnTo>
                    <a:pt x="159556" y="721"/>
                  </a:lnTo>
                  <a:lnTo>
                    <a:pt x="160348" y="796"/>
                  </a:lnTo>
                  <a:lnTo>
                    <a:pt x="161010" y="871"/>
                  </a:lnTo>
                  <a:lnTo>
                    <a:pt x="161779" y="945"/>
                  </a:lnTo>
                  <a:lnTo>
                    <a:pt x="162441" y="1020"/>
                  </a:lnTo>
                  <a:lnTo>
                    <a:pt x="163249" y="1119"/>
                  </a:lnTo>
                  <a:lnTo>
                    <a:pt x="163949" y="1194"/>
                  </a:lnTo>
                  <a:lnTo>
                    <a:pt x="164755" y="1294"/>
                  </a:lnTo>
                  <a:lnTo>
                    <a:pt x="165415" y="1368"/>
                  </a:lnTo>
                  <a:lnTo>
                    <a:pt x="166184" y="1468"/>
                  </a:lnTo>
                  <a:lnTo>
                    <a:pt x="166846" y="1567"/>
                  </a:lnTo>
                  <a:lnTo>
                    <a:pt x="167652" y="1667"/>
                  </a:lnTo>
                  <a:lnTo>
                    <a:pt x="168349" y="1766"/>
                  </a:lnTo>
                  <a:lnTo>
                    <a:pt x="169178" y="1891"/>
                  </a:lnTo>
                  <a:lnTo>
                    <a:pt x="169989" y="2015"/>
                  </a:lnTo>
                  <a:lnTo>
                    <a:pt x="170940" y="2165"/>
                  </a:lnTo>
                  <a:lnTo>
                    <a:pt x="171900" y="2314"/>
                  </a:lnTo>
                  <a:lnTo>
                    <a:pt x="172759" y="2463"/>
                  </a:lnTo>
                  <a:lnTo>
                    <a:pt x="173580" y="2588"/>
                  </a:lnTo>
                  <a:lnTo>
                    <a:pt x="174252" y="2712"/>
                  </a:lnTo>
                  <a:lnTo>
                    <a:pt x="175033" y="2861"/>
                  </a:lnTo>
                  <a:lnTo>
                    <a:pt x="175725" y="2986"/>
                  </a:lnTo>
                  <a:lnTo>
                    <a:pt x="176527" y="3160"/>
                  </a:lnTo>
                  <a:lnTo>
                    <a:pt x="177174" y="3284"/>
                  </a:lnTo>
                  <a:lnTo>
                    <a:pt x="177935" y="3434"/>
                  </a:lnTo>
                  <a:lnTo>
                    <a:pt x="178572" y="3558"/>
                  </a:lnTo>
                  <a:lnTo>
                    <a:pt x="179389" y="3732"/>
                  </a:lnTo>
                  <a:lnTo>
                    <a:pt x="180078" y="3882"/>
                  </a:lnTo>
                  <a:lnTo>
                    <a:pt x="180889" y="4056"/>
                  </a:lnTo>
                  <a:lnTo>
                    <a:pt x="181569" y="4205"/>
                  </a:lnTo>
                  <a:lnTo>
                    <a:pt x="182343" y="4355"/>
                  </a:lnTo>
                  <a:lnTo>
                    <a:pt x="183037" y="4529"/>
                  </a:lnTo>
                  <a:lnTo>
                    <a:pt x="183841" y="4703"/>
                  </a:lnTo>
                  <a:lnTo>
                    <a:pt x="184560" y="4852"/>
                  </a:lnTo>
                  <a:lnTo>
                    <a:pt x="185359" y="5026"/>
                  </a:lnTo>
                  <a:lnTo>
                    <a:pt x="186009" y="5176"/>
                  </a:lnTo>
                  <a:lnTo>
                    <a:pt x="186760" y="5350"/>
                  </a:lnTo>
                  <a:lnTo>
                    <a:pt x="187407" y="5499"/>
                  </a:lnTo>
                  <a:lnTo>
                    <a:pt x="188224" y="5698"/>
                  </a:lnTo>
                  <a:lnTo>
                    <a:pt x="188940" y="5848"/>
                  </a:lnTo>
                  <a:lnTo>
                    <a:pt x="189762" y="6047"/>
                  </a:lnTo>
                  <a:lnTo>
                    <a:pt x="190409" y="6196"/>
                  </a:lnTo>
                  <a:lnTo>
                    <a:pt x="191160" y="6370"/>
                  </a:lnTo>
                  <a:lnTo>
                    <a:pt x="191807" y="6520"/>
                  </a:lnTo>
                  <a:lnTo>
                    <a:pt x="192624" y="6719"/>
                  </a:lnTo>
                  <a:lnTo>
                    <a:pt x="193340" y="6868"/>
                  </a:lnTo>
                  <a:lnTo>
                    <a:pt x="194184" y="7092"/>
                  </a:lnTo>
                  <a:lnTo>
                    <a:pt x="194995" y="7291"/>
                  </a:lnTo>
                  <a:lnTo>
                    <a:pt x="195909" y="7540"/>
                  </a:lnTo>
                  <a:lnTo>
                    <a:pt x="196835" y="7814"/>
                  </a:lnTo>
                  <a:lnTo>
                    <a:pt x="197618" y="8063"/>
                  </a:lnTo>
                  <a:lnTo>
                    <a:pt x="198450" y="8311"/>
                  </a:lnTo>
                  <a:lnTo>
                    <a:pt x="199102" y="8510"/>
                  </a:lnTo>
                  <a:lnTo>
                    <a:pt x="199926" y="8759"/>
                  </a:lnTo>
                  <a:lnTo>
                    <a:pt x="200583" y="8958"/>
                  </a:lnTo>
                  <a:lnTo>
                    <a:pt x="201386" y="9207"/>
                  </a:lnTo>
                  <a:lnTo>
                    <a:pt x="202056" y="9431"/>
                  </a:lnTo>
                  <a:lnTo>
                    <a:pt x="202870" y="9705"/>
                  </a:lnTo>
                  <a:lnTo>
                    <a:pt x="203571" y="9929"/>
                  </a:lnTo>
                  <a:lnTo>
                    <a:pt x="204360" y="10178"/>
                  </a:lnTo>
                  <a:lnTo>
                    <a:pt x="205032" y="10402"/>
                  </a:lnTo>
                  <a:lnTo>
                    <a:pt x="205801" y="10676"/>
                  </a:lnTo>
                  <a:lnTo>
                    <a:pt x="206506" y="10900"/>
                  </a:lnTo>
                  <a:lnTo>
                    <a:pt x="207282" y="11173"/>
                  </a:lnTo>
                  <a:lnTo>
                    <a:pt x="207989" y="11422"/>
                  </a:lnTo>
                  <a:lnTo>
                    <a:pt x="208741" y="11671"/>
                  </a:lnTo>
                  <a:lnTo>
                    <a:pt x="209447" y="11920"/>
                  </a:lnTo>
                  <a:lnTo>
                    <a:pt x="210246" y="12218"/>
                  </a:lnTo>
                  <a:lnTo>
                    <a:pt x="211137" y="12542"/>
                  </a:lnTo>
                  <a:lnTo>
                    <a:pt x="212267" y="12965"/>
                  </a:lnTo>
                  <a:lnTo>
                    <a:pt x="217598" y="15130"/>
                  </a:lnTo>
                  <a:lnTo>
                    <a:pt x="218439" y="15503"/>
                  </a:lnTo>
                  <a:lnTo>
                    <a:pt x="219395" y="15926"/>
                  </a:lnTo>
                  <a:lnTo>
                    <a:pt x="220368" y="16350"/>
                  </a:lnTo>
                  <a:lnTo>
                    <a:pt x="221201" y="16723"/>
                  </a:lnTo>
                  <a:lnTo>
                    <a:pt x="222028" y="17106"/>
                  </a:lnTo>
                  <a:lnTo>
                    <a:pt x="222817" y="17464"/>
                  </a:lnTo>
                  <a:lnTo>
                    <a:pt x="223775" y="17900"/>
                  </a:lnTo>
                  <a:lnTo>
                    <a:pt x="239177" y="25908"/>
                  </a:lnTo>
                  <a:lnTo>
                    <a:pt x="240098" y="26451"/>
                  </a:lnTo>
                  <a:lnTo>
                    <a:pt x="241019" y="27003"/>
                  </a:lnTo>
                  <a:lnTo>
                    <a:pt x="241840" y="27503"/>
                  </a:lnTo>
                  <a:lnTo>
                    <a:pt x="242637" y="28001"/>
                  </a:lnTo>
                  <a:lnTo>
                    <a:pt x="243358" y="28447"/>
                  </a:lnTo>
                  <a:lnTo>
                    <a:pt x="249406" y="32378"/>
                  </a:lnTo>
                  <a:lnTo>
                    <a:pt x="250526" y="33125"/>
                  </a:lnTo>
                  <a:lnTo>
                    <a:pt x="251621" y="33897"/>
                  </a:lnTo>
                  <a:lnTo>
                    <a:pt x="252741" y="34670"/>
                  </a:lnTo>
                  <a:lnTo>
                    <a:pt x="253761" y="35385"/>
                  </a:lnTo>
                  <a:lnTo>
                    <a:pt x="254707" y="36072"/>
                  </a:lnTo>
                  <a:lnTo>
                    <a:pt x="255628" y="36746"/>
                  </a:lnTo>
                  <a:lnTo>
                    <a:pt x="256474" y="37348"/>
                  </a:lnTo>
                  <a:lnTo>
                    <a:pt x="257270" y="37950"/>
                  </a:lnTo>
                  <a:lnTo>
                    <a:pt x="258017" y="38498"/>
                  </a:lnTo>
                  <a:lnTo>
                    <a:pt x="258838" y="39135"/>
                  </a:lnTo>
                  <a:lnTo>
                    <a:pt x="263791" y="43010"/>
                  </a:lnTo>
                  <a:lnTo>
                    <a:pt x="264612" y="43677"/>
                  </a:lnTo>
                  <a:lnTo>
                    <a:pt x="265359" y="44294"/>
                  </a:lnTo>
                  <a:lnTo>
                    <a:pt x="266180" y="44968"/>
                  </a:lnTo>
                  <a:lnTo>
                    <a:pt x="266877" y="45551"/>
                  </a:lnTo>
                  <a:lnTo>
                    <a:pt x="267623" y="46188"/>
                  </a:lnTo>
                  <a:lnTo>
                    <a:pt x="268320" y="46777"/>
                  </a:lnTo>
                  <a:lnTo>
                    <a:pt x="269092" y="47442"/>
                  </a:lnTo>
                  <a:lnTo>
                    <a:pt x="269788" y="48037"/>
                  </a:lnTo>
                  <a:lnTo>
                    <a:pt x="270535" y="48689"/>
                  </a:lnTo>
                  <a:lnTo>
                    <a:pt x="271207" y="49291"/>
                  </a:lnTo>
                  <a:lnTo>
                    <a:pt x="272003" y="49995"/>
                  </a:lnTo>
                  <a:lnTo>
                    <a:pt x="272725" y="50652"/>
                  </a:lnTo>
                  <a:lnTo>
                    <a:pt x="273522" y="51401"/>
                  </a:lnTo>
                  <a:lnTo>
                    <a:pt x="274243" y="52073"/>
                  </a:lnTo>
                  <a:lnTo>
                    <a:pt x="275040" y="52835"/>
                  </a:lnTo>
                  <a:lnTo>
                    <a:pt x="275736" y="53516"/>
                  </a:lnTo>
                  <a:lnTo>
                    <a:pt x="276533" y="54283"/>
                  </a:lnTo>
                  <a:lnTo>
                    <a:pt x="277230" y="54967"/>
                  </a:lnTo>
                  <a:lnTo>
                    <a:pt x="278001" y="55739"/>
                  </a:lnTo>
                  <a:lnTo>
                    <a:pt x="278698" y="56423"/>
                  </a:lnTo>
                  <a:lnTo>
                    <a:pt x="279445" y="57167"/>
                  </a:lnTo>
                  <a:lnTo>
                    <a:pt x="280092" y="57807"/>
                  </a:lnTo>
                  <a:lnTo>
                    <a:pt x="280589" y="58295"/>
                  </a:lnTo>
                  <a:lnTo>
                    <a:pt x="280938" y="58640"/>
                  </a:lnTo>
                </a:path>
                <a:path w="281304" h="118110">
                  <a:moveTo>
                    <a:pt x="57808" y="118072"/>
                  </a:moveTo>
                  <a:lnTo>
                    <a:pt x="58206" y="117707"/>
                  </a:lnTo>
                  <a:lnTo>
                    <a:pt x="58744" y="117209"/>
                  </a:lnTo>
                  <a:lnTo>
                    <a:pt x="59396" y="116594"/>
                  </a:lnTo>
                  <a:lnTo>
                    <a:pt x="60118" y="115917"/>
                  </a:lnTo>
                  <a:lnTo>
                    <a:pt x="90144" y="95934"/>
                  </a:lnTo>
                  <a:lnTo>
                    <a:pt x="91002" y="95528"/>
                  </a:lnTo>
                  <a:lnTo>
                    <a:pt x="91719" y="95192"/>
                  </a:lnTo>
                  <a:lnTo>
                    <a:pt x="92498" y="94824"/>
                  </a:lnTo>
                  <a:lnTo>
                    <a:pt x="93120" y="94535"/>
                  </a:lnTo>
                  <a:lnTo>
                    <a:pt x="130521" y="85236"/>
                  </a:lnTo>
                  <a:lnTo>
                    <a:pt x="142785" y="84753"/>
                  </a:lnTo>
                  <a:lnTo>
                    <a:pt x="144256" y="84778"/>
                  </a:lnTo>
                  <a:lnTo>
                    <a:pt x="182510" y="92069"/>
                  </a:lnTo>
                  <a:lnTo>
                    <a:pt x="216324" y="110975"/>
                  </a:lnTo>
                  <a:lnTo>
                    <a:pt x="223232" y="117199"/>
                  </a:lnTo>
                  <a:lnTo>
                    <a:pt x="224054" y="117998"/>
                  </a:lnTo>
                </a:path>
              </a:pathLst>
            </a:custGeom>
            <a:ln w="1244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5431663" y="3257169"/>
            <a:ext cx="3409315" cy="376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120">
                <a:solidFill>
                  <a:srgbClr val="383838"/>
                </a:solidFill>
                <a:latin typeface="Times New Roman"/>
                <a:cs typeface="Times New Roman"/>
              </a:rPr>
              <a:t>Communication</a:t>
            </a:r>
            <a:r>
              <a:rPr dirty="0" sz="2300" spc="-5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2300" spc="85">
                <a:solidFill>
                  <a:srgbClr val="383838"/>
                </a:solidFill>
                <a:latin typeface="Times New Roman"/>
                <a:cs typeface="Times New Roman"/>
              </a:rPr>
              <a:t>Protocols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431663" y="3733851"/>
            <a:ext cx="3599815" cy="3179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22225" indent="-342900">
              <a:lnSpc>
                <a:spcPct val="1383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dirty="0" sz="1750" spc="-25">
                <a:solidFill>
                  <a:srgbClr val="383838"/>
                </a:solidFill>
                <a:latin typeface="Arial MT"/>
                <a:cs typeface="Arial MT"/>
              </a:rPr>
              <a:t>MQTT</a:t>
            </a:r>
            <a:r>
              <a:rPr dirty="0" sz="1750" spc="9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45">
                <a:solidFill>
                  <a:srgbClr val="383838"/>
                </a:solidFill>
                <a:latin typeface="Arial MT"/>
                <a:cs typeface="Arial MT"/>
              </a:rPr>
              <a:t>–</a:t>
            </a:r>
            <a:r>
              <a:rPr dirty="0" sz="1750" spc="10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Lightweight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messaging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for</a:t>
            </a:r>
            <a:r>
              <a:rPr dirty="0" sz="1750" spc="-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20">
                <a:solidFill>
                  <a:srgbClr val="383838"/>
                </a:solidFill>
                <a:latin typeface="Arial MT"/>
                <a:cs typeface="Arial MT"/>
              </a:rPr>
              <a:t>IoT</a:t>
            </a:r>
            <a:r>
              <a:rPr dirty="0" sz="1750" spc="-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devices</a:t>
            </a:r>
            <a:endParaRPr sz="175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335"/>
              </a:spcBef>
              <a:buChar char="•"/>
              <a:tabLst>
                <a:tab pos="354965" algn="l"/>
              </a:tabLst>
            </a:pP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Zigbee</a:t>
            </a:r>
            <a:r>
              <a:rPr dirty="0" sz="1750" spc="-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45">
                <a:solidFill>
                  <a:srgbClr val="383838"/>
                </a:solidFill>
                <a:latin typeface="Arial MT"/>
                <a:cs typeface="Arial MT"/>
              </a:rPr>
              <a:t>–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90">
                <a:solidFill>
                  <a:srgbClr val="383838"/>
                </a:solidFill>
                <a:latin typeface="Arial MT"/>
                <a:cs typeface="Arial MT"/>
              </a:rPr>
              <a:t>Low-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power</a:t>
            </a:r>
            <a:r>
              <a:rPr dirty="0" sz="1750" spc="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20">
                <a:solidFill>
                  <a:srgbClr val="383838"/>
                </a:solidFill>
                <a:latin typeface="Arial MT"/>
                <a:cs typeface="Arial MT"/>
              </a:rPr>
              <a:t>mesh</a:t>
            </a:r>
            <a:endParaRPr sz="175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805"/>
              </a:spcBef>
            </a:pP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networking</a:t>
            </a:r>
            <a:endParaRPr sz="1750">
              <a:latin typeface="Arial MT"/>
              <a:cs typeface="Arial MT"/>
            </a:endParaRPr>
          </a:p>
          <a:p>
            <a:pPr algn="ctr" marL="342265" marR="709930" indent="-342265">
              <a:lnSpc>
                <a:spcPct val="100000"/>
              </a:lnSpc>
              <a:spcBef>
                <a:spcPts val="1335"/>
              </a:spcBef>
              <a:buChar char="•"/>
              <a:tabLst>
                <a:tab pos="342265" algn="l"/>
              </a:tabLst>
            </a:pPr>
            <a:r>
              <a:rPr dirty="0" sz="1750" spc="80">
                <a:solidFill>
                  <a:srgbClr val="383838"/>
                </a:solidFill>
                <a:latin typeface="Arial MT"/>
                <a:cs typeface="Arial MT"/>
              </a:rPr>
              <a:t>Z-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Wave</a:t>
            </a:r>
            <a:r>
              <a:rPr dirty="0" sz="1750" spc="-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45">
                <a:solidFill>
                  <a:srgbClr val="383838"/>
                </a:solidFill>
                <a:latin typeface="Arial MT"/>
                <a:cs typeface="Arial MT"/>
              </a:rPr>
              <a:t>–</a:t>
            </a:r>
            <a:r>
              <a:rPr dirty="0" sz="1750" spc="-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Reliable </a:t>
            </a:r>
            <a:r>
              <a:rPr dirty="0" sz="1750" spc="-20">
                <a:solidFill>
                  <a:srgbClr val="383838"/>
                </a:solidFill>
                <a:latin typeface="Arial MT"/>
                <a:cs typeface="Arial MT"/>
              </a:rPr>
              <a:t>home</a:t>
            </a:r>
            <a:endParaRPr sz="1750">
              <a:latin typeface="Arial MT"/>
              <a:cs typeface="Arial MT"/>
            </a:endParaRPr>
          </a:p>
          <a:p>
            <a:pPr algn="ctr" marR="763905">
              <a:lnSpc>
                <a:spcPct val="100000"/>
              </a:lnSpc>
              <a:spcBef>
                <a:spcPts val="805"/>
              </a:spcBef>
            </a:pP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automation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protocol</a:t>
            </a:r>
            <a:endParaRPr sz="1750">
              <a:latin typeface="Arial MT"/>
              <a:cs typeface="Arial MT"/>
            </a:endParaRPr>
          </a:p>
          <a:p>
            <a:pPr marL="355600" marR="5080" indent="-342900">
              <a:lnSpc>
                <a:spcPct val="138400"/>
              </a:lnSpc>
              <a:spcBef>
                <a:spcPts val="525"/>
              </a:spcBef>
              <a:buChar char="•"/>
              <a:tabLst>
                <a:tab pos="355600" algn="l"/>
              </a:tabLst>
            </a:pPr>
            <a:r>
              <a:rPr dirty="0" sz="1750" spc="45">
                <a:solidFill>
                  <a:srgbClr val="383838"/>
                </a:solidFill>
                <a:latin typeface="Arial MT"/>
                <a:cs typeface="Arial MT"/>
              </a:rPr>
              <a:t>Bluetooth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25">
                <a:solidFill>
                  <a:srgbClr val="383838"/>
                </a:solidFill>
                <a:latin typeface="Arial MT"/>
                <a:cs typeface="Arial MT"/>
              </a:rPr>
              <a:t>LE</a:t>
            </a:r>
            <a:r>
              <a:rPr dirty="0" sz="1750" spc="10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45">
                <a:solidFill>
                  <a:srgbClr val="383838"/>
                </a:solidFill>
                <a:latin typeface="Arial MT"/>
                <a:cs typeface="Arial MT"/>
              </a:rPr>
              <a:t>–</a:t>
            </a:r>
            <a:r>
              <a:rPr dirty="0" sz="1750" spc="9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Energy-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efficient </a:t>
            </a:r>
            <a:r>
              <a:rPr dirty="0" sz="1750" spc="100">
                <a:solidFill>
                  <a:srgbClr val="383838"/>
                </a:solidFill>
                <a:latin typeface="Arial MT"/>
                <a:cs typeface="Arial MT"/>
              </a:rPr>
              <a:t>short-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range</a:t>
            </a:r>
            <a:r>
              <a:rPr dirty="0" sz="1750" spc="-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connectivity</a:t>
            </a:r>
            <a:endParaRPr sz="1750">
              <a:latin typeface="Arial MT"/>
              <a:cs typeface="Arial MT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40189" y="2151888"/>
            <a:ext cx="4196333" cy="5010200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9855200" y="3257169"/>
            <a:ext cx="2131060" cy="376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75">
                <a:solidFill>
                  <a:srgbClr val="383838"/>
                </a:solidFill>
                <a:latin typeface="Times New Roman"/>
                <a:cs typeface="Times New Roman"/>
              </a:rPr>
              <a:t>Cloud</a:t>
            </a:r>
            <a:r>
              <a:rPr dirty="0" sz="2300" spc="-20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2300" spc="95">
                <a:solidFill>
                  <a:srgbClr val="383838"/>
                </a:solidFill>
                <a:latin typeface="Times New Roman"/>
                <a:cs typeface="Times New Roman"/>
              </a:rPr>
              <a:t>Platforms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9855200" y="3733851"/>
            <a:ext cx="3724275" cy="3179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76200" indent="-342900">
              <a:lnSpc>
                <a:spcPct val="1383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dirty="0" sz="1750" spc="-20">
                <a:solidFill>
                  <a:srgbClr val="383838"/>
                </a:solidFill>
                <a:latin typeface="Arial MT"/>
                <a:cs typeface="Arial MT"/>
              </a:rPr>
              <a:t>AWS</a:t>
            </a:r>
            <a:r>
              <a:rPr dirty="0" sz="1750" spc="-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20">
                <a:solidFill>
                  <a:srgbClr val="383838"/>
                </a:solidFill>
                <a:latin typeface="Arial MT"/>
                <a:cs typeface="Arial MT"/>
              </a:rPr>
              <a:t>IoT</a:t>
            </a:r>
            <a:r>
              <a:rPr dirty="0" sz="1750" spc="-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Core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45">
                <a:solidFill>
                  <a:srgbClr val="383838"/>
                </a:solidFill>
                <a:latin typeface="Arial MT"/>
                <a:cs typeface="Arial MT"/>
              </a:rPr>
              <a:t>–</a:t>
            </a:r>
            <a:r>
              <a:rPr dirty="0" sz="1750" spc="-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Scalable</a:t>
            </a:r>
            <a:r>
              <a:rPr dirty="0" sz="1750" spc="-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45">
                <a:solidFill>
                  <a:srgbClr val="383838"/>
                </a:solidFill>
                <a:latin typeface="Arial MT"/>
                <a:cs typeface="Arial MT"/>
              </a:rPr>
              <a:t>device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management</a:t>
            </a:r>
            <a:endParaRPr sz="175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335"/>
              </a:spcBef>
              <a:buChar char="•"/>
              <a:tabLst>
                <a:tab pos="354965" algn="l"/>
              </a:tabLst>
            </a:pP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Google</a:t>
            </a:r>
            <a:r>
              <a:rPr dirty="0" sz="1750" spc="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Firebase</a:t>
            </a:r>
            <a:r>
              <a:rPr dirty="0" sz="1750" spc="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45">
                <a:solidFill>
                  <a:srgbClr val="383838"/>
                </a:solidFill>
                <a:latin typeface="Arial MT"/>
                <a:cs typeface="Arial MT"/>
              </a:rPr>
              <a:t>–</a:t>
            </a:r>
            <a:r>
              <a:rPr dirty="0" sz="1750" spc="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Real-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time</a:t>
            </a:r>
            <a:endParaRPr sz="175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805"/>
              </a:spcBef>
            </a:pP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database</a:t>
            </a:r>
            <a:r>
              <a:rPr dirty="0" sz="1750" spc="19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750" spc="19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35">
                <a:solidFill>
                  <a:srgbClr val="383838"/>
                </a:solidFill>
                <a:latin typeface="Arial MT"/>
                <a:cs typeface="Arial MT"/>
              </a:rPr>
              <a:t>hosting</a:t>
            </a:r>
            <a:endParaRPr sz="175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335"/>
              </a:spcBef>
              <a:buChar char="•"/>
              <a:tabLst>
                <a:tab pos="354965" algn="l"/>
              </a:tabLst>
            </a:pP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Microsoft</a:t>
            </a:r>
            <a:r>
              <a:rPr dirty="0" sz="1750" spc="-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Azure</a:t>
            </a:r>
            <a:r>
              <a:rPr dirty="0" sz="1750" spc="-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30">
                <a:solidFill>
                  <a:srgbClr val="383838"/>
                </a:solidFill>
                <a:latin typeface="Arial MT"/>
                <a:cs typeface="Arial MT"/>
              </a:rPr>
              <a:t>IoT</a:t>
            </a:r>
            <a:r>
              <a:rPr dirty="0" sz="1750" spc="-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95">
                <a:solidFill>
                  <a:srgbClr val="383838"/>
                </a:solidFill>
                <a:latin typeface="Arial MT"/>
                <a:cs typeface="Arial MT"/>
              </a:rPr>
              <a:t>–</a:t>
            </a:r>
            <a:endParaRPr sz="175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805"/>
              </a:spcBef>
            </a:pP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Enterprise-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grade</a:t>
            </a:r>
            <a:r>
              <a:rPr dirty="0" sz="1750" spc="8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solutions</a:t>
            </a:r>
            <a:endParaRPr sz="1750">
              <a:latin typeface="Arial MT"/>
              <a:cs typeface="Arial MT"/>
            </a:endParaRPr>
          </a:p>
          <a:p>
            <a:pPr marL="355600" marR="5080" indent="-342900">
              <a:lnSpc>
                <a:spcPct val="138400"/>
              </a:lnSpc>
              <a:spcBef>
                <a:spcPts val="525"/>
              </a:spcBef>
              <a:buChar char="•"/>
              <a:tabLst>
                <a:tab pos="355600" algn="l"/>
              </a:tabLst>
            </a:pP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ThingSpeak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45">
                <a:solidFill>
                  <a:srgbClr val="383838"/>
                </a:solidFill>
                <a:latin typeface="Arial MT"/>
                <a:cs typeface="Arial MT"/>
              </a:rPr>
              <a:t>–</a:t>
            </a:r>
            <a:r>
              <a:rPr dirty="0" sz="1750" spc="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85">
                <a:solidFill>
                  <a:srgbClr val="383838"/>
                </a:solidFill>
                <a:latin typeface="Arial MT"/>
                <a:cs typeface="Arial MT"/>
              </a:rPr>
              <a:t>Open-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source</a:t>
            </a:r>
            <a:r>
              <a:rPr dirty="0" sz="1750" spc="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data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analytics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304" y="1259281"/>
            <a:ext cx="6426835" cy="73596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114"/>
              <a:t>Real-</a:t>
            </a:r>
            <a:r>
              <a:rPr dirty="0" spc="85"/>
              <a:t>World</a:t>
            </a:r>
            <a:r>
              <a:rPr dirty="0" spc="-140"/>
              <a:t> </a:t>
            </a:r>
            <a:r>
              <a:rPr dirty="0" spc="185"/>
              <a:t>Applications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1304" y="2735681"/>
            <a:ext cx="3027045" cy="3839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58545">
              <a:lnSpc>
                <a:spcPct val="105200"/>
              </a:lnSpc>
              <a:spcBef>
                <a:spcPts val="100"/>
              </a:spcBef>
            </a:pPr>
            <a:r>
              <a:rPr dirty="0" sz="2300" spc="120">
                <a:solidFill>
                  <a:srgbClr val="383838"/>
                </a:solidFill>
                <a:latin typeface="Times New Roman"/>
                <a:cs typeface="Times New Roman"/>
              </a:rPr>
              <a:t>Smart</a:t>
            </a:r>
            <a:r>
              <a:rPr dirty="0" sz="2300" spc="-25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2300" spc="75">
                <a:solidFill>
                  <a:srgbClr val="383838"/>
                </a:solidFill>
                <a:latin typeface="Times New Roman"/>
                <a:cs typeface="Times New Roman"/>
              </a:rPr>
              <a:t>Lighting </a:t>
            </a:r>
            <a:r>
              <a:rPr dirty="0" sz="2300" spc="95">
                <a:solidFill>
                  <a:srgbClr val="383838"/>
                </a:solidFill>
                <a:latin typeface="Times New Roman"/>
                <a:cs typeface="Times New Roman"/>
              </a:rPr>
              <a:t>Solutions</a:t>
            </a:r>
            <a:endParaRPr sz="2300">
              <a:latin typeface="Times New Roman"/>
              <a:cs typeface="Times New Roman"/>
            </a:endParaRPr>
          </a:p>
          <a:p>
            <a:pPr marL="12700" marR="5080">
              <a:lnSpc>
                <a:spcPct val="138200"/>
              </a:lnSpc>
              <a:spcBef>
                <a:spcPts val="1015"/>
              </a:spcBef>
            </a:pP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Philips</a:t>
            </a:r>
            <a:r>
              <a:rPr dirty="0" sz="1750" spc="-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Hue</a:t>
            </a:r>
            <a:r>
              <a:rPr dirty="0" sz="1750" spc="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750" spc="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similar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systems</a:t>
            </a:r>
            <a:r>
              <a:rPr dirty="0" sz="1750" spc="-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allow</a:t>
            </a:r>
            <a:r>
              <a:rPr dirty="0" sz="1750" spc="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you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25">
                <a:solidFill>
                  <a:srgbClr val="383838"/>
                </a:solidFill>
                <a:latin typeface="Arial MT"/>
                <a:cs typeface="Arial MT"/>
              </a:rPr>
              <a:t>to</a:t>
            </a:r>
            <a:r>
              <a:rPr dirty="0" sz="1750" spc="-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control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brightness,</a:t>
            </a:r>
            <a:r>
              <a:rPr dirty="0" sz="1750" spc="10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colour,</a:t>
            </a:r>
            <a:r>
              <a:rPr dirty="0" sz="1750" spc="17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25">
                <a:solidFill>
                  <a:srgbClr val="383838"/>
                </a:solidFill>
                <a:latin typeface="Arial MT"/>
                <a:cs typeface="Arial MT"/>
              </a:rPr>
              <a:t>and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scheduling.</a:t>
            </a:r>
            <a:r>
              <a:rPr dirty="0" sz="1750" spc="1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Create</a:t>
            </a:r>
            <a:r>
              <a:rPr dirty="0" sz="1750" spc="19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ambience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for</a:t>
            </a:r>
            <a:r>
              <a:rPr dirty="0" sz="1750" spc="114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every</a:t>
            </a:r>
            <a:r>
              <a:rPr dirty="0" sz="1750" spc="1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occasion</a:t>
            </a:r>
            <a:r>
              <a:rPr dirty="0" sz="1750" spc="1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45">
                <a:solidFill>
                  <a:srgbClr val="383838"/>
                </a:solidFill>
                <a:latin typeface="Arial MT"/>
                <a:cs typeface="Arial MT"/>
              </a:rPr>
              <a:t>–</a:t>
            </a:r>
            <a:r>
              <a:rPr dirty="0" sz="1750" spc="1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20">
                <a:solidFill>
                  <a:srgbClr val="383838"/>
                </a:solidFill>
                <a:latin typeface="Arial MT"/>
                <a:cs typeface="Arial MT"/>
              </a:rPr>
              <a:t>warm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lighting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for</a:t>
            </a:r>
            <a:r>
              <a:rPr dirty="0" sz="1750" spc="10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dinner,</a:t>
            </a:r>
            <a:r>
              <a:rPr dirty="0" sz="1750" spc="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bright 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white</a:t>
            </a:r>
            <a:r>
              <a:rPr dirty="0" sz="1750" spc="-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for</a:t>
            </a:r>
            <a:r>
              <a:rPr dirty="0" sz="1750" spc="-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reading,</a:t>
            </a:r>
            <a:r>
              <a:rPr dirty="0" sz="1750" spc="-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or</a:t>
            </a:r>
            <a:r>
              <a:rPr dirty="0" sz="1750" spc="-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colourful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themes</a:t>
            </a:r>
            <a:r>
              <a:rPr dirty="0" sz="1750" spc="-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for</a:t>
            </a:r>
            <a:r>
              <a:rPr dirty="0" sz="1750" spc="-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celebrations.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13021" y="2735681"/>
            <a:ext cx="3038475" cy="4208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901065">
              <a:lnSpc>
                <a:spcPct val="105200"/>
              </a:lnSpc>
              <a:spcBef>
                <a:spcPts val="100"/>
              </a:spcBef>
            </a:pPr>
            <a:r>
              <a:rPr dirty="0" sz="2300" spc="80">
                <a:solidFill>
                  <a:srgbClr val="383838"/>
                </a:solidFill>
                <a:latin typeface="Times New Roman"/>
                <a:cs typeface="Times New Roman"/>
              </a:rPr>
              <a:t>Advanced</a:t>
            </a:r>
            <a:r>
              <a:rPr dirty="0" sz="2300" spc="-25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2300" spc="90">
                <a:solidFill>
                  <a:srgbClr val="383838"/>
                </a:solidFill>
                <a:latin typeface="Times New Roman"/>
                <a:cs typeface="Times New Roman"/>
              </a:rPr>
              <a:t>Home </a:t>
            </a:r>
            <a:r>
              <a:rPr dirty="0" sz="2300" spc="75">
                <a:solidFill>
                  <a:srgbClr val="383838"/>
                </a:solidFill>
                <a:latin typeface="Times New Roman"/>
                <a:cs typeface="Times New Roman"/>
              </a:rPr>
              <a:t>Security</a:t>
            </a:r>
            <a:endParaRPr sz="2300">
              <a:latin typeface="Times New Roman"/>
              <a:cs typeface="Times New Roman"/>
            </a:endParaRPr>
          </a:p>
          <a:p>
            <a:pPr marL="12700" marR="5080">
              <a:lnSpc>
                <a:spcPct val="138200"/>
              </a:lnSpc>
              <a:spcBef>
                <a:spcPts val="1015"/>
              </a:spcBef>
            </a:pP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Video</a:t>
            </a:r>
            <a:r>
              <a:rPr dirty="0" sz="1750" spc="10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doorbells,</a:t>
            </a:r>
            <a:r>
              <a:rPr dirty="0" sz="1750" spc="1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smart</a:t>
            </a:r>
            <a:r>
              <a:rPr dirty="0" sz="1750" spc="10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locks,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AI-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powered</a:t>
            </a:r>
            <a:r>
              <a:rPr dirty="0" sz="1750" spc="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cameras </a:t>
            </a:r>
            <a:r>
              <a:rPr dirty="0" sz="1750" spc="75">
                <a:solidFill>
                  <a:srgbClr val="383838"/>
                </a:solidFill>
                <a:latin typeface="Arial MT"/>
                <a:cs typeface="Arial MT"/>
              </a:rPr>
              <a:t>with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facial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recognition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provide</a:t>
            </a:r>
            <a:r>
              <a:rPr dirty="0" sz="1750" spc="-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comprehensive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protection.</a:t>
            </a:r>
            <a:r>
              <a:rPr dirty="0" sz="1750" spc="-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Receive</a:t>
            </a:r>
            <a:r>
              <a:rPr dirty="0" sz="1750" spc="-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alerts,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view</a:t>
            </a:r>
            <a:r>
              <a:rPr dirty="0" sz="1750" spc="1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live</a:t>
            </a:r>
            <a:r>
              <a:rPr dirty="0" sz="1750" spc="10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footage,</a:t>
            </a:r>
            <a:r>
              <a:rPr dirty="0" sz="1750" spc="1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25">
                <a:solidFill>
                  <a:srgbClr val="383838"/>
                </a:solidFill>
                <a:latin typeface="Arial MT"/>
                <a:cs typeface="Arial MT"/>
              </a:rPr>
              <a:t>and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communicate</a:t>
            </a:r>
            <a:r>
              <a:rPr dirty="0" sz="1750" spc="-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5">
                <a:solidFill>
                  <a:srgbClr val="383838"/>
                </a:solidFill>
                <a:latin typeface="Arial MT"/>
                <a:cs typeface="Arial MT"/>
              </a:rPr>
              <a:t>with</a:t>
            </a:r>
            <a:r>
              <a:rPr dirty="0" sz="1750" spc="-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visitors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remotely</a:t>
            </a:r>
            <a:r>
              <a:rPr dirty="0" sz="1750" spc="-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for</a:t>
            </a:r>
            <a:r>
              <a:rPr dirty="0" sz="1750" spc="-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80">
                <a:solidFill>
                  <a:srgbClr val="383838"/>
                </a:solidFill>
                <a:latin typeface="Arial MT"/>
                <a:cs typeface="Arial MT"/>
              </a:rPr>
              <a:t>complete</a:t>
            </a:r>
            <a:r>
              <a:rPr dirty="0" sz="1750" spc="-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peace 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of</a:t>
            </a:r>
            <a:r>
              <a:rPr dirty="0" sz="1750" spc="-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mind.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444867" y="2753360"/>
            <a:ext cx="3052445" cy="3818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75">
                <a:solidFill>
                  <a:srgbClr val="383838"/>
                </a:solidFill>
                <a:latin typeface="Times New Roman"/>
                <a:cs typeface="Times New Roman"/>
              </a:rPr>
              <a:t>Energy</a:t>
            </a:r>
            <a:r>
              <a:rPr dirty="0" sz="2300" spc="-5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2300" spc="125">
                <a:solidFill>
                  <a:srgbClr val="383838"/>
                </a:solidFill>
                <a:latin typeface="Times New Roman"/>
                <a:cs typeface="Times New Roman"/>
              </a:rPr>
              <a:t>Management</a:t>
            </a:r>
            <a:endParaRPr sz="2300">
              <a:latin typeface="Times New Roman"/>
              <a:cs typeface="Times New Roman"/>
            </a:endParaRPr>
          </a:p>
          <a:p>
            <a:pPr marL="12700" marR="5080">
              <a:lnSpc>
                <a:spcPct val="138100"/>
              </a:lnSpc>
              <a:spcBef>
                <a:spcPts val="990"/>
              </a:spcBef>
            </a:pP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Smart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metres</a:t>
            </a:r>
            <a:r>
              <a:rPr dirty="0" sz="1750" spc="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 connected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appliances</a:t>
            </a:r>
            <a:r>
              <a:rPr dirty="0" sz="1750" spc="3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monitor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consumption</a:t>
            </a:r>
            <a:r>
              <a:rPr dirty="0" sz="1750" spc="-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patterns,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automatically</a:t>
            </a:r>
            <a:r>
              <a:rPr dirty="0" sz="1750" spc="1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adjusting</a:t>
            </a:r>
            <a:r>
              <a:rPr dirty="0" sz="1750" spc="1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95">
                <a:solidFill>
                  <a:srgbClr val="383838"/>
                </a:solidFill>
                <a:latin typeface="Arial MT"/>
                <a:cs typeface="Arial MT"/>
              </a:rPr>
              <a:t>to</a:t>
            </a:r>
            <a:endParaRPr sz="1750">
              <a:latin typeface="Arial MT"/>
              <a:cs typeface="Arial MT"/>
            </a:endParaRPr>
          </a:p>
          <a:p>
            <a:pPr marL="12700" marR="365760">
              <a:lnSpc>
                <a:spcPct val="138200"/>
              </a:lnSpc>
            </a:pPr>
            <a:r>
              <a:rPr dirty="0" sz="1750" spc="135">
                <a:solidFill>
                  <a:srgbClr val="383838"/>
                </a:solidFill>
                <a:latin typeface="Arial MT"/>
                <a:cs typeface="Arial MT"/>
              </a:rPr>
              <a:t>off-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peak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hours.</a:t>
            </a:r>
            <a:r>
              <a:rPr dirty="0" sz="1750" spc="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20">
                <a:solidFill>
                  <a:srgbClr val="383838"/>
                </a:solidFill>
                <a:latin typeface="Arial MT"/>
                <a:cs typeface="Arial MT"/>
              </a:rPr>
              <a:t>Solar </a:t>
            </a:r>
            <a:r>
              <a:rPr dirty="0" sz="1750" spc="45">
                <a:solidFill>
                  <a:srgbClr val="383838"/>
                </a:solidFill>
                <a:latin typeface="Arial MT"/>
                <a:cs typeface="Arial MT"/>
              </a:rPr>
              <a:t>integration</a:t>
            </a:r>
            <a:r>
              <a:rPr dirty="0" sz="1750" spc="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5">
                <a:solidFill>
                  <a:srgbClr val="383838"/>
                </a:solidFill>
                <a:latin typeface="Arial MT"/>
                <a:cs typeface="Arial MT"/>
              </a:rPr>
              <a:t>battery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storage</a:t>
            </a:r>
            <a:r>
              <a:rPr dirty="0" sz="1750" spc="1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systems</a:t>
            </a:r>
            <a:r>
              <a:rPr dirty="0" sz="1750" spc="9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optimise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renewable</a:t>
            </a:r>
            <a:r>
              <a:rPr dirty="0" sz="1750" spc="2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energy</a:t>
            </a:r>
            <a:r>
              <a:rPr dirty="0" sz="1750" spc="20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usage </a:t>
            </a: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throughout</a:t>
            </a:r>
            <a:r>
              <a:rPr dirty="0" sz="1750" spc="-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5">
                <a:solidFill>
                  <a:srgbClr val="383838"/>
                </a:solidFill>
                <a:latin typeface="Arial MT"/>
                <a:cs typeface="Arial MT"/>
              </a:rPr>
              <a:t>the</a:t>
            </a:r>
            <a:r>
              <a:rPr dirty="0" sz="1750" spc="-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20">
                <a:solidFill>
                  <a:srgbClr val="383838"/>
                </a:solidFill>
                <a:latin typeface="Arial MT"/>
                <a:cs typeface="Arial MT"/>
              </a:rPr>
              <a:t>day.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776966" y="2753360"/>
            <a:ext cx="2819400" cy="3818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125">
                <a:solidFill>
                  <a:srgbClr val="383838"/>
                </a:solidFill>
                <a:latin typeface="Times New Roman"/>
                <a:cs typeface="Times New Roman"/>
              </a:rPr>
              <a:t>Intelligent</a:t>
            </a:r>
            <a:r>
              <a:rPr dirty="0" sz="2300" spc="-45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2300" spc="80">
                <a:solidFill>
                  <a:srgbClr val="383838"/>
                </a:solidFill>
                <a:latin typeface="Times New Roman"/>
                <a:cs typeface="Times New Roman"/>
              </a:rPr>
              <a:t>Kitchens</a:t>
            </a:r>
            <a:endParaRPr sz="2300">
              <a:latin typeface="Times New Roman"/>
              <a:cs typeface="Times New Roman"/>
            </a:endParaRPr>
          </a:p>
          <a:p>
            <a:pPr marL="12700" marR="5080">
              <a:lnSpc>
                <a:spcPct val="138200"/>
              </a:lnSpc>
              <a:spcBef>
                <a:spcPts val="990"/>
              </a:spcBef>
            </a:pPr>
            <a:r>
              <a:rPr dirty="0" sz="1750" spc="10">
                <a:solidFill>
                  <a:srgbClr val="383838"/>
                </a:solidFill>
                <a:latin typeface="Arial MT"/>
                <a:cs typeface="Arial MT"/>
              </a:rPr>
              <a:t>Smart</a:t>
            </a:r>
            <a:r>
              <a:rPr dirty="0" sz="1750" spc="204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0">
                <a:solidFill>
                  <a:srgbClr val="383838"/>
                </a:solidFill>
                <a:latin typeface="Arial MT"/>
                <a:cs typeface="Arial MT"/>
              </a:rPr>
              <a:t>refrigerators</a:t>
            </a:r>
            <a:r>
              <a:rPr dirty="0" sz="1750" spc="19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track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inventory</a:t>
            </a:r>
            <a:r>
              <a:rPr dirty="0" sz="1750" spc="9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750" spc="1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expiry</a:t>
            </a:r>
            <a:r>
              <a:rPr dirty="0" sz="1750" spc="1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dates,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suggest</a:t>
            </a:r>
            <a:r>
              <a:rPr dirty="0" sz="1750" spc="20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recipes</a:t>
            </a:r>
            <a:r>
              <a:rPr dirty="0" sz="1750" spc="2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based</a:t>
            </a:r>
            <a:r>
              <a:rPr dirty="0" sz="1750" spc="2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25">
                <a:solidFill>
                  <a:srgbClr val="383838"/>
                </a:solidFill>
                <a:latin typeface="Arial MT"/>
                <a:cs typeface="Arial MT"/>
              </a:rPr>
              <a:t>on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available</a:t>
            </a:r>
            <a:r>
              <a:rPr dirty="0" sz="1750" spc="16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ingredients,</a:t>
            </a:r>
            <a:r>
              <a:rPr dirty="0" sz="1750" spc="1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25">
                <a:solidFill>
                  <a:srgbClr val="383838"/>
                </a:solidFill>
                <a:latin typeface="Arial MT"/>
                <a:cs typeface="Arial MT"/>
              </a:rPr>
              <a:t>and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automatically</a:t>
            </a:r>
            <a:r>
              <a:rPr dirty="0" sz="1750" spc="-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add</a:t>
            </a:r>
            <a:r>
              <a:rPr dirty="0" sz="1750" spc="-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items</a:t>
            </a:r>
            <a:r>
              <a:rPr dirty="0" sz="1750" spc="-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95">
                <a:solidFill>
                  <a:srgbClr val="383838"/>
                </a:solidFill>
                <a:latin typeface="Arial MT"/>
                <a:cs typeface="Arial MT"/>
              </a:rPr>
              <a:t>to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your</a:t>
            </a:r>
            <a:r>
              <a:rPr dirty="0" sz="1750" spc="-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45">
                <a:solidFill>
                  <a:srgbClr val="383838"/>
                </a:solidFill>
                <a:latin typeface="Arial MT"/>
                <a:cs typeface="Arial MT"/>
              </a:rPr>
              <a:t>shopping</a:t>
            </a:r>
            <a:r>
              <a:rPr dirty="0" sz="1750" spc="-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list.</a:t>
            </a:r>
            <a:endParaRPr sz="1750">
              <a:latin typeface="Arial MT"/>
              <a:cs typeface="Arial MT"/>
            </a:endParaRPr>
          </a:p>
          <a:p>
            <a:pPr marL="12700" marR="216535">
              <a:lnSpc>
                <a:spcPts val="2900"/>
              </a:lnSpc>
              <a:spcBef>
                <a:spcPts val="100"/>
              </a:spcBef>
            </a:pPr>
            <a:r>
              <a:rPr dirty="0" sz="1750" spc="60">
                <a:solidFill>
                  <a:srgbClr val="383838"/>
                </a:solidFill>
                <a:latin typeface="Arial MT"/>
                <a:cs typeface="Arial MT"/>
              </a:rPr>
              <a:t>Connected</a:t>
            </a:r>
            <a:r>
              <a:rPr dirty="0" sz="1750" spc="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ovens</a:t>
            </a:r>
            <a:r>
              <a:rPr dirty="0" sz="1750" spc="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can</a:t>
            </a:r>
            <a:r>
              <a:rPr dirty="0" sz="1750" spc="45">
                <a:solidFill>
                  <a:srgbClr val="383838"/>
                </a:solidFill>
                <a:latin typeface="Arial MT"/>
                <a:cs typeface="Arial MT"/>
              </a:rPr>
              <a:t> be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preheated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remotely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for </a:t>
            </a:r>
            <a:r>
              <a:rPr dirty="0" sz="1750" spc="85">
                <a:solidFill>
                  <a:srgbClr val="383838"/>
                </a:solidFill>
                <a:latin typeface="Arial MT"/>
                <a:cs typeface="Arial MT"/>
              </a:rPr>
              <a:t>perfect</a:t>
            </a:r>
            <a:r>
              <a:rPr dirty="0" sz="1750" spc="-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timing.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6359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105"/>
              </a:spcBef>
            </a:pPr>
            <a:r>
              <a:rPr dirty="0" spc="240"/>
              <a:t>The</a:t>
            </a:r>
            <a:r>
              <a:rPr dirty="0" spc="-55"/>
              <a:t> </a:t>
            </a:r>
            <a:r>
              <a:rPr dirty="0" spc="190"/>
              <a:t>Benefits</a:t>
            </a:r>
            <a:r>
              <a:rPr dirty="0" spc="-55"/>
              <a:t> </a:t>
            </a:r>
            <a:r>
              <a:rPr dirty="0" spc="135"/>
              <a:t>of</a:t>
            </a:r>
            <a:r>
              <a:rPr dirty="0" spc="-40"/>
              <a:t> </a:t>
            </a:r>
            <a:r>
              <a:rPr dirty="0" spc="135"/>
              <a:t>Going</a:t>
            </a:r>
            <a:r>
              <a:rPr dirty="0" spc="-35"/>
              <a:t> </a:t>
            </a:r>
            <a:r>
              <a:rPr dirty="0" spc="229"/>
              <a:t>Smart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93788" y="2267839"/>
            <a:ext cx="510540" cy="510540"/>
          </a:xfrm>
          <a:custGeom>
            <a:avLst/>
            <a:gdLst/>
            <a:ahLst/>
            <a:cxnLst/>
            <a:rect l="l" t="t" r="r" b="b"/>
            <a:pathLst>
              <a:path w="510540" h="510539">
                <a:moveTo>
                  <a:pt x="476338" y="0"/>
                </a:moveTo>
                <a:lnTo>
                  <a:pt x="34023" y="0"/>
                </a:lnTo>
                <a:lnTo>
                  <a:pt x="20782" y="2655"/>
                </a:lnTo>
                <a:lnTo>
                  <a:pt x="9967" y="9906"/>
                </a:lnTo>
                <a:lnTo>
                  <a:pt x="2674" y="20681"/>
                </a:lnTo>
                <a:lnTo>
                  <a:pt x="0" y="33909"/>
                </a:lnTo>
                <a:lnTo>
                  <a:pt x="0" y="476250"/>
                </a:lnTo>
                <a:lnTo>
                  <a:pt x="2674" y="489497"/>
                </a:lnTo>
                <a:lnTo>
                  <a:pt x="9967" y="500316"/>
                </a:lnTo>
                <a:lnTo>
                  <a:pt x="20782" y="507611"/>
                </a:lnTo>
                <a:lnTo>
                  <a:pt x="34023" y="510286"/>
                </a:lnTo>
                <a:lnTo>
                  <a:pt x="476338" y="510286"/>
                </a:lnTo>
                <a:lnTo>
                  <a:pt x="489566" y="507611"/>
                </a:lnTo>
                <a:lnTo>
                  <a:pt x="500341" y="500316"/>
                </a:lnTo>
                <a:lnTo>
                  <a:pt x="507592" y="489497"/>
                </a:lnTo>
                <a:lnTo>
                  <a:pt x="510247" y="476250"/>
                </a:lnTo>
                <a:lnTo>
                  <a:pt x="510247" y="33909"/>
                </a:lnTo>
                <a:lnTo>
                  <a:pt x="507592" y="20681"/>
                </a:lnTo>
                <a:lnTo>
                  <a:pt x="500341" y="9906"/>
                </a:lnTo>
                <a:lnTo>
                  <a:pt x="489566" y="2655"/>
                </a:lnTo>
                <a:lnTo>
                  <a:pt x="476338" y="0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518285" y="2316302"/>
            <a:ext cx="5497195" cy="1976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110">
                <a:solidFill>
                  <a:srgbClr val="383838"/>
                </a:solidFill>
                <a:latin typeface="Times New Roman"/>
                <a:cs typeface="Times New Roman"/>
              </a:rPr>
              <a:t>Ultimate</a:t>
            </a:r>
            <a:r>
              <a:rPr dirty="0" sz="2300" spc="-35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2300" spc="90">
                <a:solidFill>
                  <a:srgbClr val="383838"/>
                </a:solidFill>
                <a:latin typeface="Times New Roman"/>
                <a:cs typeface="Times New Roman"/>
              </a:rPr>
              <a:t>Comfort</a:t>
            </a:r>
            <a:r>
              <a:rPr dirty="0" sz="2300" spc="-35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2300" spc="210">
                <a:solidFill>
                  <a:srgbClr val="383838"/>
                </a:solidFill>
                <a:latin typeface="Times New Roman"/>
                <a:cs typeface="Times New Roman"/>
              </a:rPr>
              <a:t>&amp;</a:t>
            </a:r>
            <a:r>
              <a:rPr dirty="0" sz="2300" spc="-10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2300" spc="85">
                <a:solidFill>
                  <a:srgbClr val="383838"/>
                </a:solidFill>
                <a:latin typeface="Times New Roman"/>
                <a:cs typeface="Times New Roman"/>
              </a:rPr>
              <a:t>Convenience</a:t>
            </a:r>
            <a:endParaRPr sz="2300">
              <a:latin typeface="Times New Roman"/>
              <a:cs typeface="Times New Roman"/>
            </a:endParaRPr>
          </a:p>
          <a:p>
            <a:pPr marL="12700" marR="5080">
              <a:lnSpc>
                <a:spcPct val="138100"/>
              </a:lnSpc>
              <a:spcBef>
                <a:spcPts val="995"/>
              </a:spcBef>
            </a:pP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Automate</a:t>
            </a:r>
            <a:r>
              <a:rPr dirty="0" sz="1750" spc="-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routine</a:t>
            </a:r>
            <a:r>
              <a:rPr dirty="0" sz="1750" spc="-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tasks,</a:t>
            </a:r>
            <a:r>
              <a:rPr dirty="0" sz="1750" spc="-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control</a:t>
            </a:r>
            <a:r>
              <a:rPr dirty="0" sz="1750" spc="-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45">
                <a:solidFill>
                  <a:srgbClr val="383838"/>
                </a:solidFill>
                <a:latin typeface="Arial MT"/>
                <a:cs typeface="Arial MT"/>
              </a:rPr>
              <a:t>everything</a:t>
            </a:r>
            <a:r>
              <a:rPr dirty="0" sz="1750" spc="-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5">
                <a:solidFill>
                  <a:srgbClr val="383838"/>
                </a:solidFill>
                <a:latin typeface="Arial MT"/>
                <a:cs typeface="Arial MT"/>
              </a:rPr>
              <a:t>with</a:t>
            </a:r>
            <a:r>
              <a:rPr dirty="0" sz="1750" spc="-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30">
                <a:solidFill>
                  <a:srgbClr val="383838"/>
                </a:solidFill>
                <a:latin typeface="Arial MT"/>
                <a:cs typeface="Arial MT"/>
              </a:rPr>
              <a:t>your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voice</a:t>
            </a:r>
            <a:r>
              <a:rPr dirty="0" sz="1750" spc="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or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tap,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750" spc="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customise</a:t>
            </a:r>
            <a:r>
              <a:rPr dirty="0" sz="1750" spc="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your</a:t>
            </a:r>
            <a:r>
              <a:rPr dirty="0" sz="1750" spc="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environment</a:t>
            </a:r>
            <a:r>
              <a:rPr dirty="0" sz="1750" spc="-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95">
                <a:solidFill>
                  <a:srgbClr val="383838"/>
                </a:solidFill>
                <a:latin typeface="Arial MT"/>
                <a:cs typeface="Arial MT"/>
              </a:rPr>
              <a:t>to </a:t>
            </a:r>
            <a:r>
              <a:rPr dirty="0" sz="1750" spc="80">
                <a:solidFill>
                  <a:srgbClr val="383838"/>
                </a:solidFill>
                <a:latin typeface="Arial MT"/>
                <a:cs typeface="Arial MT"/>
              </a:rPr>
              <a:t>match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your</a:t>
            </a:r>
            <a:r>
              <a:rPr dirty="0" sz="1750" spc="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45">
                <a:solidFill>
                  <a:srgbClr val="383838"/>
                </a:solidFill>
                <a:latin typeface="Arial MT"/>
                <a:cs typeface="Arial MT"/>
              </a:rPr>
              <a:t>preferences</a:t>
            </a:r>
            <a:r>
              <a:rPr dirty="0" sz="1750" spc="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perfectly.</a:t>
            </a:r>
            <a:r>
              <a:rPr dirty="0" sz="1750" spc="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Your</a:t>
            </a:r>
            <a:r>
              <a:rPr dirty="0" sz="1750" spc="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home</a:t>
            </a:r>
            <a:r>
              <a:rPr dirty="0" sz="1750" spc="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adapts </a:t>
            </a:r>
            <a:r>
              <a:rPr dirty="0" sz="1750" spc="120">
                <a:solidFill>
                  <a:srgbClr val="383838"/>
                </a:solidFill>
                <a:latin typeface="Arial MT"/>
                <a:cs typeface="Arial MT"/>
              </a:rPr>
              <a:t>to</a:t>
            </a:r>
            <a:r>
              <a:rPr dirty="0" sz="1750" spc="-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you,</a:t>
            </a:r>
            <a:r>
              <a:rPr dirty="0" sz="1750" spc="-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90">
                <a:solidFill>
                  <a:srgbClr val="383838"/>
                </a:solidFill>
                <a:latin typeface="Arial MT"/>
                <a:cs typeface="Arial MT"/>
              </a:rPr>
              <a:t>not</a:t>
            </a:r>
            <a:r>
              <a:rPr dirty="0" sz="1750" spc="-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5">
                <a:solidFill>
                  <a:srgbClr val="383838"/>
                </a:solidFill>
                <a:latin typeface="Arial MT"/>
                <a:cs typeface="Arial MT"/>
              </a:rPr>
              <a:t>the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65">
                <a:solidFill>
                  <a:srgbClr val="383838"/>
                </a:solidFill>
                <a:latin typeface="Arial MT"/>
                <a:cs typeface="Arial MT"/>
              </a:rPr>
              <a:t>other</a:t>
            </a:r>
            <a:r>
              <a:rPr dirty="0" sz="1750" spc="-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way</a:t>
            </a:r>
            <a:r>
              <a:rPr dirty="0" sz="1750" spc="-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around.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7456931" y="2267839"/>
            <a:ext cx="510540" cy="510540"/>
          </a:xfrm>
          <a:custGeom>
            <a:avLst/>
            <a:gdLst/>
            <a:ahLst/>
            <a:cxnLst/>
            <a:rect l="l" t="t" r="r" b="b"/>
            <a:pathLst>
              <a:path w="510540" h="510539">
                <a:moveTo>
                  <a:pt x="476250" y="0"/>
                </a:moveTo>
                <a:lnTo>
                  <a:pt x="34036" y="0"/>
                </a:lnTo>
                <a:lnTo>
                  <a:pt x="20788" y="2655"/>
                </a:lnTo>
                <a:lnTo>
                  <a:pt x="9969" y="9906"/>
                </a:lnTo>
                <a:lnTo>
                  <a:pt x="2674" y="20681"/>
                </a:lnTo>
                <a:lnTo>
                  <a:pt x="0" y="33909"/>
                </a:lnTo>
                <a:lnTo>
                  <a:pt x="0" y="476250"/>
                </a:lnTo>
                <a:lnTo>
                  <a:pt x="2674" y="489497"/>
                </a:lnTo>
                <a:lnTo>
                  <a:pt x="9969" y="500316"/>
                </a:lnTo>
                <a:lnTo>
                  <a:pt x="20788" y="507611"/>
                </a:lnTo>
                <a:lnTo>
                  <a:pt x="34036" y="510286"/>
                </a:lnTo>
                <a:lnTo>
                  <a:pt x="476250" y="510286"/>
                </a:lnTo>
                <a:lnTo>
                  <a:pt x="489497" y="507611"/>
                </a:lnTo>
                <a:lnTo>
                  <a:pt x="500316" y="500316"/>
                </a:lnTo>
                <a:lnTo>
                  <a:pt x="507611" y="489497"/>
                </a:lnTo>
                <a:lnTo>
                  <a:pt x="510286" y="476250"/>
                </a:lnTo>
                <a:lnTo>
                  <a:pt x="510286" y="33909"/>
                </a:lnTo>
                <a:lnTo>
                  <a:pt x="507611" y="20681"/>
                </a:lnTo>
                <a:lnTo>
                  <a:pt x="500316" y="9906"/>
                </a:lnTo>
                <a:lnTo>
                  <a:pt x="489497" y="2655"/>
                </a:lnTo>
                <a:lnTo>
                  <a:pt x="476250" y="0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120"/>
              <a:t>Enhanced</a:t>
            </a:r>
            <a:r>
              <a:rPr dirty="0" spc="-40"/>
              <a:t> </a:t>
            </a:r>
            <a:r>
              <a:rPr dirty="0" spc="85"/>
              <a:t>Security</a:t>
            </a:r>
            <a:r>
              <a:rPr dirty="0" spc="-5"/>
              <a:t> </a:t>
            </a:r>
            <a:r>
              <a:rPr dirty="0" spc="210"/>
              <a:t>&amp;</a:t>
            </a:r>
            <a:r>
              <a:rPr dirty="0" spc="-5"/>
              <a:t> </a:t>
            </a:r>
            <a:r>
              <a:rPr dirty="0" spc="60"/>
              <a:t>Safety</a:t>
            </a:r>
          </a:p>
          <a:p>
            <a:pPr marL="12700" marR="106680">
              <a:lnSpc>
                <a:spcPct val="138200"/>
              </a:lnSpc>
              <a:spcBef>
                <a:spcPts val="990"/>
              </a:spcBef>
            </a:pPr>
            <a:r>
              <a:rPr dirty="0" sz="1750" spc="55">
                <a:latin typeface="Arial MT"/>
                <a:cs typeface="Arial MT"/>
              </a:rPr>
              <a:t>24/7</a:t>
            </a:r>
            <a:r>
              <a:rPr dirty="0" sz="1750" spc="11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monitoring,</a:t>
            </a:r>
            <a:r>
              <a:rPr dirty="0" sz="1750" spc="70">
                <a:latin typeface="Arial MT"/>
                <a:cs typeface="Arial MT"/>
              </a:rPr>
              <a:t> </a:t>
            </a:r>
            <a:r>
              <a:rPr dirty="0" sz="1750" spc="60">
                <a:latin typeface="Arial MT"/>
                <a:cs typeface="Arial MT"/>
              </a:rPr>
              <a:t>instant</a:t>
            </a:r>
            <a:r>
              <a:rPr dirty="0" sz="1750" spc="7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alerts</a:t>
            </a:r>
            <a:r>
              <a:rPr dirty="0" sz="1750" spc="100">
                <a:latin typeface="Arial MT"/>
                <a:cs typeface="Arial MT"/>
              </a:rPr>
              <a:t> </a:t>
            </a:r>
            <a:r>
              <a:rPr dirty="0" sz="1750" spc="65">
                <a:latin typeface="Arial MT"/>
                <a:cs typeface="Arial MT"/>
              </a:rPr>
              <a:t>for</a:t>
            </a:r>
            <a:r>
              <a:rPr dirty="0" sz="1750" spc="11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emergencies,</a:t>
            </a:r>
            <a:r>
              <a:rPr dirty="0" sz="1750" spc="105">
                <a:latin typeface="Arial MT"/>
                <a:cs typeface="Arial MT"/>
              </a:rPr>
              <a:t> </a:t>
            </a:r>
            <a:r>
              <a:rPr dirty="0" sz="1750" spc="-25">
                <a:latin typeface="Arial MT"/>
                <a:cs typeface="Arial MT"/>
              </a:rPr>
              <a:t>and </a:t>
            </a:r>
            <a:r>
              <a:rPr dirty="0" sz="1750" spc="70">
                <a:latin typeface="Arial MT"/>
                <a:cs typeface="Arial MT"/>
              </a:rPr>
              <a:t>remote</a:t>
            </a:r>
            <a:r>
              <a:rPr dirty="0" sz="1750" spc="2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access</a:t>
            </a:r>
            <a:r>
              <a:rPr dirty="0" sz="1750" spc="50">
                <a:latin typeface="Arial MT"/>
                <a:cs typeface="Arial MT"/>
              </a:rPr>
              <a:t> </a:t>
            </a:r>
            <a:r>
              <a:rPr dirty="0" sz="1750" spc="120">
                <a:latin typeface="Arial MT"/>
                <a:cs typeface="Arial MT"/>
              </a:rPr>
              <a:t>to</a:t>
            </a:r>
            <a:r>
              <a:rPr dirty="0" sz="1750" spc="15">
                <a:latin typeface="Arial MT"/>
                <a:cs typeface="Arial MT"/>
              </a:rPr>
              <a:t> </a:t>
            </a:r>
            <a:r>
              <a:rPr dirty="0" sz="1750" spc="60">
                <a:latin typeface="Arial MT"/>
                <a:cs typeface="Arial MT"/>
              </a:rPr>
              <a:t>security</a:t>
            </a:r>
            <a:r>
              <a:rPr dirty="0" sz="1750" spc="20">
                <a:latin typeface="Arial MT"/>
                <a:cs typeface="Arial MT"/>
              </a:rPr>
              <a:t> </a:t>
            </a:r>
            <a:r>
              <a:rPr dirty="0" sz="1750" spc="55">
                <a:latin typeface="Arial MT"/>
                <a:cs typeface="Arial MT"/>
              </a:rPr>
              <a:t>systems</a:t>
            </a:r>
            <a:r>
              <a:rPr dirty="0" sz="1750" spc="10">
                <a:latin typeface="Arial MT"/>
                <a:cs typeface="Arial MT"/>
              </a:rPr>
              <a:t> </a:t>
            </a:r>
            <a:r>
              <a:rPr dirty="0" sz="1750" spc="45">
                <a:latin typeface="Arial MT"/>
                <a:cs typeface="Arial MT"/>
              </a:rPr>
              <a:t>provide </a:t>
            </a:r>
            <a:r>
              <a:rPr dirty="0" sz="1750" spc="65">
                <a:latin typeface="Arial MT"/>
                <a:cs typeface="Arial MT"/>
              </a:rPr>
              <a:t>unprecedented</a:t>
            </a:r>
            <a:r>
              <a:rPr dirty="0" sz="1750" spc="45">
                <a:latin typeface="Arial MT"/>
                <a:cs typeface="Arial MT"/>
              </a:rPr>
              <a:t> </a:t>
            </a:r>
            <a:r>
              <a:rPr dirty="0" sz="1750" spc="65">
                <a:latin typeface="Arial MT"/>
                <a:cs typeface="Arial MT"/>
              </a:rPr>
              <a:t>protection.</a:t>
            </a:r>
            <a:r>
              <a:rPr dirty="0" sz="1750" spc="3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Smart</a:t>
            </a:r>
            <a:r>
              <a:rPr dirty="0" sz="1750" spc="6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smoke</a:t>
            </a:r>
            <a:r>
              <a:rPr dirty="0" sz="1750" spc="60">
                <a:latin typeface="Arial MT"/>
                <a:cs typeface="Arial MT"/>
              </a:rPr>
              <a:t> </a:t>
            </a:r>
            <a:r>
              <a:rPr dirty="0" sz="1750" spc="70">
                <a:latin typeface="Arial MT"/>
                <a:cs typeface="Arial MT"/>
              </a:rPr>
              <a:t>detectors </a:t>
            </a:r>
            <a:r>
              <a:rPr dirty="0" sz="1750">
                <a:latin typeface="Arial MT"/>
                <a:cs typeface="Arial MT"/>
              </a:rPr>
              <a:t>and</a:t>
            </a:r>
            <a:r>
              <a:rPr dirty="0" sz="1750" spc="65">
                <a:latin typeface="Arial MT"/>
                <a:cs typeface="Arial MT"/>
              </a:rPr>
              <a:t> </a:t>
            </a:r>
            <a:r>
              <a:rPr dirty="0" sz="1750" spc="50">
                <a:latin typeface="Arial MT"/>
                <a:cs typeface="Arial MT"/>
              </a:rPr>
              <a:t>water</a:t>
            </a:r>
            <a:r>
              <a:rPr dirty="0" sz="1750" spc="6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leak</a:t>
            </a:r>
            <a:r>
              <a:rPr dirty="0" sz="1750" spc="7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sensors</a:t>
            </a:r>
            <a:r>
              <a:rPr dirty="0" sz="1750" spc="55">
                <a:latin typeface="Arial MT"/>
                <a:cs typeface="Arial MT"/>
              </a:rPr>
              <a:t> </a:t>
            </a:r>
            <a:r>
              <a:rPr dirty="0" sz="1750" spc="65">
                <a:latin typeface="Arial MT"/>
                <a:cs typeface="Arial MT"/>
              </a:rPr>
              <a:t>prevent</a:t>
            </a:r>
            <a:r>
              <a:rPr dirty="0" sz="1750" spc="6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disasters</a:t>
            </a:r>
            <a:r>
              <a:rPr dirty="0" sz="1750" spc="45">
                <a:latin typeface="Arial MT"/>
                <a:cs typeface="Arial MT"/>
              </a:rPr>
              <a:t> </a:t>
            </a:r>
            <a:r>
              <a:rPr dirty="0" sz="1750" spc="55">
                <a:latin typeface="Arial MT"/>
                <a:cs typeface="Arial MT"/>
              </a:rPr>
              <a:t>before</a:t>
            </a:r>
            <a:r>
              <a:rPr dirty="0" sz="1750" spc="80">
                <a:latin typeface="Arial MT"/>
                <a:cs typeface="Arial MT"/>
              </a:rPr>
              <a:t> </a:t>
            </a:r>
            <a:r>
              <a:rPr dirty="0" sz="1750" spc="60">
                <a:latin typeface="Arial MT"/>
                <a:cs typeface="Arial MT"/>
              </a:rPr>
              <a:t>they </a:t>
            </a:r>
            <a:r>
              <a:rPr dirty="0" sz="1750" spc="-10">
                <a:latin typeface="Arial MT"/>
                <a:cs typeface="Arial MT"/>
              </a:rPr>
              <a:t>happen.</a:t>
            </a:r>
            <a:endParaRPr sz="17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pc="114"/>
              <a:t>Increased</a:t>
            </a:r>
            <a:r>
              <a:rPr dirty="0" spc="10"/>
              <a:t> </a:t>
            </a:r>
            <a:r>
              <a:rPr dirty="0" spc="114"/>
              <a:t>Property</a:t>
            </a:r>
            <a:r>
              <a:rPr dirty="0" spc="-75"/>
              <a:t> </a:t>
            </a:r>
            <a:r>
              <a:rPr dirty="0" spc="-10"/>
              <a:t>Value</a:t>
            </a:r>
          </a:p>
          <a:p>
            <a:pPr marL="12700" marR="5080">
              <a:lnSpc>
                <a:spcPct val="138100"/>
              </a:lnSpc>
              <a:spcBef>
                <a:spcPts val="995"/>
              </a:spcBef>
            </a:pPr>
            <a:r>
              <a:rPr dirty="0" sz="1750">
                <a:latin typeface="Arial MT"/>
                <a:cs typeface="Arial MT"/>
              </a:rPr>
              <a:t>Smart</a:t>
            </a:r>
            <a:r>
              <a:rPr dirty="0" sz="1750" spc="9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home</a:t>
            </a:r>
            <a:r>
              <a:rPr dirty="0" sz="1750" spc="9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features</a:t>
            </a:r>
            <a:r>
              <a:rPr dirty="0" sz="1750" spc="9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make</a:t>
            </a:r>
            <a:r>
              <a:rPr dirty="0" sz="1750" spc="90">
                <a:latin typeface="Arial MT"/>
                <a:cs typeface="Arial MT"/>
              </a:rPr>
              <a:t> </a:t>
            </a:r>
            <a:r>
              <a:rPr dirty="0" sz="1750" spc="65">
                <a:latin typeface="Arial MT"/>
                <a:cs typeface="Arial MT"/>
              </a:rPr>
              <a:t>properties</a:t>
            </a:r>
            <a:r>
              <a:rPr dirty="0" sz="1750" spc="95">
                <a:latin typeface="Arial MT"/>
                <a:cs typeface="Arial MT"/>
              </a:rPr>
              <a:t> </a:t>
            </a:r>
            <a:r>
              <a:rPr dirty="0" sz="1750" spc="50">
                <a:latin typeface="Arial MT"/>
                <a:cs typeface="Arial MT"/>
              </a:rPr>
              <a:t>more</a:t>
            </a:r>
            <a:r>
              <a:rPr dirty="0" sz="1750" spc="90">
                <a:latin typeface="Arial MT"/>
                <a:cs typeface="Arial MT"/>
              </a:rPr>
              <a:t> </a:t>
            </a:r>
            <a:r>
              <a:rPr dirty="0" sz="1750" spc="65">
                <a:latin typeface="Arial MT"/>
                <a:cs typeface="Arial MT"/>
              </a:rPr>
              <a:t>attractive </a:t>
            </a:r>
            <a:r>
              <a:rPr dirty="0" sz="1750" spc="120">
                <a:latin typeface="Arial MT"/>
                <a:cs typeface="Arial MT"/>
              </a:rPr>
              <a:t>to</a:t>
            </a:r>
            <a:r>
              <a:rPr dirty="0" sz="1750" spc="20">
                <a:latin typeface="Arial MT"/>
                <a:cs typeface="Arial MT"/>
              </a:rPr>
              <a:t> </a:t>
            </a:r>
            <a:r>
              <a:rPr dirty="0" sz="1750" spc="50">
                <a:latin typeface="Arial MT"/>
                <a:cs typeface="Arial MT"/>
              </a:rPr>
              <a:t>buyers</a:t>
            </a:r>
            <a:r>
              <a:rPr dirty="0" sz="1750" spc="2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and</a:t>
            </a:r>
            <a:r>
              <a:rPr dirty="0" sz="1750" spc="4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renters.</a:t>
            </a:r>
            <a:r>
              <a:rPr dirty="0" sz="1750" spc="2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Homes</a:t>
            </a:r>
            <a:r>
              <a:rPr dirty="0" sz="1750" spc="40">
                <a:latin typeface="Arial MT"/>
                <a:cs typeface="Arial MT"/>
              </a:rPr>
              <a:t> </a:t>
            </a:r>
            <a:r>
              <a:rPr dirty="0" sz="1750" spc="75">
                <a:latin typeface="Arial MT"/>
                <a:cs typeface="Arial MT"/>
              </a:rPr>
              <a:t>with</a:t>
            </a:r>
            <a:r>
              <a:rPr dirty="0" sz="1750" spc="25">
                <a:latin typeface="Arial MT"/>
                <a:cs typeface="Arial MT"/>
              </a:rPr>
              <a:t> </a:t>
            </a:r>
            <a:r>
              <a:rPr dirty="0" sz="1750" spc="50">
                <a:latin typeface="Arial MT"/>
                <a:cs typeface="Arial MT"/>
              </a:rPr>
              <a:t>automation </a:t>
            </a:r>
            <a:r>
              <a:rPr dirty="0" sz="1750" spc="55">
                <a:latin typeface="Arial MT"/>
                <a:cs typeface="Arial MT"/>
              </a:rPr>
              <a:t>systems</a:t>
            </a:r>
            <a:r>
              <a:rPr dirty="0" sz="1750" spc="20">
                <a:latin typeface="Arial MT"/>
                <a:cs typeface="Arial MT"/>
              </a:rPr>
              <a:t> </a:t>
            </a:r>
            <a:r>
              <a:rPr dirty="0" sz="1750" spc="65">
                <a:latin typeface="Arial MT"/>
                <a:cs typeface="Arial MT"/>
              </a:rPr>
              <a:t>command</a:t>
            </a:r>
            <a:r>
              <a:rPr dirty="0" sz="1750" spc="30">
                <a:latin typeface="Arial MT"/>
                <a:cs typeface="Arial MT"/>
              </a:rPr>
              <a:t> </a:t>
            </a:r>
            <a:r>
              <a:rPr dirty="0" sz="1750" spc="60">
                <a:latin typeface="Arial MT"/>
                <a:cs typeface="Arial MT"/>
              </a:rPr>
              <a:t>premium</a:t>
            </a:r>
            <a:r>
              <a:rPr dirty="0" sz="1750" spc="15">
                <a:latin typeface="Arial MT"/>
                <a:cs typeface="Arial MT"/>
              </a:rPr>
              <a:t> </a:t>
            </a:r>
            <a:r>
              <a:rPr dirty="0" sz="1750" spc="50">
                <a:latin typeface="Arial MT"/>
                <a:cs typeface="Arial MT"/>
              </a:rPr>
              <a:t>prices</a:t>
            </a:r>
            <a:r>
              <a:rPr dirty="0" sz="1750" spc="4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and</a:t>
            </a:r>
            <a:r>
              <a:rPr dirty="0" sz="1750" spc="5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appeal</a:t>
            </a:r>
            <a:r>
              <a:rPr dirty="0" sz="1750" spc="45">
                <a:latin typeface="Arial MT"/>
                <a:cs typeface="Arial MT"/>
              </a:rPr>
              <a:t> </a:t>
            </a:r>
            <a:r>
              <a:rPr dirty="0" sz="1750" spc="100">
                <a:latin typeface="Arial MT"/>
                <a:cs typeface="Arial MT"/>
              </a:rPr>
              <a:t>to </a:t>
            </a:r>
            <a:r>
              <a:rPr dirty="0" sz="1750" spc="130">
                <a:latin typeface="Arial MT"/>
                <a:cs typeface="Arial MT"/>
              </a:rPr>
              <a:t>tech-</a:t>
            </a:r>
            <a:r>
              <a:rPr dirty="0" sz="1750">
                <a:latin typeface="Arial MT"/>
                <a:cs typeface="Arial MT"/>
              </a:rPr>
              <a:t>savvy</a:t>
            </a:r>
            <a:r>
              <a:rPr dirty="0" sz="1750" spc="8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millennials</a:t>
            </a:r>
            <a:r>
              <a:rPr dirty="0" sz="1750" spc="6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and</a:t>
            </a:r>
            <a:r>
              <a:rPr dirty="0" sz="1750" spc="75">
                <a:latin typeface="Arial MT"/>
                <a:cs typeface="Arial MT"/>
              </a:rPr>
              <a:t> </a:t>
            </a:r>
            <a:r>
              <a:rPr dirty="0" sz="1750" spc="55">
                <a:latin typeface="Arial MT"/>
                <a:cs typeface="Arial MT"/>
              </a:rPr>
              <a:t>modern</a:t>
            </a:r>
            <a:r>
              <a:rPr dirty="0" sz="1750" spc="90">
                <a:latin typeface="Arial MT"/>
                <a:cs typeface="Arial MT"/>
              </a:rPr>
              <a:t> </a:t>
            </a:r>
            <a:r>
              <a:rPr dirty="0" sz="1750" spc="-10">
                <a:latin typeface="Arial MT"/>
                <a:cs typeface="Arial MT"/>
              </a:rPr>
              <a:t>families.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793788" y="5121909"/>
            <a:ext cx="510540" cy="510540"/>
          </a:xfrm>
          <a:custGeom>
            <a:avLst/>
            <a:gdLst/>
            <a:ahLst/>
            <a:cxnLst/>
            <a:rect l="l" t="t" r="r" b="b"/>
            <a:pathLst>
              <a:path w="510540" h="510539">
                <a:moveTo>
                  <a:pt x="476338" y="0"/>
                </a:moveTo>
                <a:lnTo>
                  <a:pt x="34023" y="0"/>
                </a:lnTo>
                <a:lnTo>
                  <a:pt x="20782" y="2674"/>
                </a:lnTo>
                <a:lnTo>
                  <a:pt x="9967" y="9969"/>
                </a:lnTo>
                <a:lnTo>
                  <a:pt x="2674" y="20788"/>
                </a:lnTo>
                <a:lnTo>
                  <a:pt x="0" y="34035"/>
                </a:lnTo>
                <a:lnTo>
                  <a:pt x="0" y="476376"/>
                </a:lnTo>
                <a:lnTo>
                  <a:pt x="2674" y="489551"/>
                </a:lnTo>
                <a:lnTo>
                  <a:pt x="9967" y="500332"/>
                </a:lnTo>
                <a:lnTo>
                  <a:pt x="20782" y="507613"/>
                </a:lnTo>
                <a:lnTo>
                  <a:pt x="34023" y="510285"/>
                </a:lnTo>
                <a:lnTo>
                  <a:pt x="476338" y="510285"/>
                </a:lnTo>
                <a:lnTo>
                  <a:pt x="489566" y="507613"/>
                </a:lnTo>
                <a:lnTo>
                  <a:pt x="500341" y="500332"/>
                </a:lnTo>
                <a:lnTo>
                  <a:pt x="507592" y="489551"/>
                </a:lnTo>
                <a:lnTo>
                  <a:pt x="510247" y="476376"/>
                </a:lnTo>
                <a:lnTo>
                  <a:pt x="510247" y="34035"/>
                </a:lnTo>
                <a:lnTo>
                  <a:pt x="507592" y="20788"/>
                </a:lnTo>
                <a:lnTo>
                  <a:pt x="500341" y="9969"/>
                </a:lnTo>
                <a:lnTo>
                  <a:pt x="489566" y="2674"/>
                </a:lnTo>
                <a:lnTo>
                  <a:pt x="476338" y="0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518285" y="5171313"/>
            <a:ext cx="5533390" cy="1976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90">
                <a:solidFill>
                  <a:srgbClr val="383838"/>
                </a:solidFill>
                <a:latin typeface="Times New Roman"/>
                <a:cs typeface="Times New Roman"/>
              </a:rPr>
              <a:t>Significant</a:t>
            </a:r>
            <a:r>
              <a:rPr dirty="0" sz="2300" spc="-35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2300" spc="75">
                <a:solidFill>
                  <a:srgbClr val="383838"/>
                </a:solidFill>
                <a:latin typeface="Times New Roman"/>
                <a:cs typeface="Times New Roman"/>
              </a:rPr>
              <a:t>Energy</a:t>
            </a:r>
            <a:r>
              <a:rPr dirty="0" sz="2300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2300" spc="60">
                <a:solidFill>
                  <a:srgbClr val="383838"/>
                </a:solidFill>
                <a:latin typeface="Times New Roman"/>
                <a:cs typeface="Times New Roman"/>
              </a:rPr>
              <a:t>Savings</a:t>
            </a:r>
            <a:endParaRPr sz="2300">
              <a:latin typeface="Times New Roman"/>
              <a:cs typeface="Times New Roman"/>
            </a:endParaRPr>
          </a:p>
          <a:p>
            <a:pPr marL="12700" marR="5080">
              <a:lnSpc>
                <a:spcPct val="138100"/>
              </a:lnSpc>
              <a:spcBef>
                <a:spcPts val="994"/>
              </a:spcBef>
            </a:pP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Reduce</a:t>
            </a:r>
            <a:r>
              <a:rPr dirty="0" sz="1750" spc="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75">
                <a:solidFill>
                  <a:srgbClr val="383838"/>
                </a:solidFill>
                <a:latin typeface="Arial MT"/>
                <a:cs typeface="Arial MT"/>
              </a:rPr>
              <a:t>electricity</a:t>
            </a:r>
            <a:r>
              <a:rPr dirty="0" sz="1750" spc="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bills</a:t>
            </a:r>
            <a:r>
              <a:rPr dirty="0" sz="1750" spc="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10">
                <a:solidFill>
                  <a:srgbClr val="383838"/>
                </a:solidFill>
                <a:latin typeface="Arial MT"/>
                <a:cs typeface="Arial MT"/>
              </a:rPr>
              <a:t>by</a:t>
            </a:r>
            <a:r>
              <a:rPr dirty="0" sz="1750" spc="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135">
                <a:solidFill>
                  <a:srgbClr val="383838"/>
                </a:solidFill>
                <a:latin typeface="Arial MT"/>
                <a:cs typeface="Arial MT"/>
              </a:rPr>
              <a:t>25-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40%</a:t>
            </a:r>
            <a:r>
              <a:rPr dirty="0" sz="1750" spc="45">
                <a:solidFill>
                  <a:srgbClr val="383838"/>
                </a:solidFill>
                <a:latin typeface="Arial MT"/>
                <a:cs typeface="Arial MT"/>
              </a:rPr>
              <a:t> through</a:t>
            </a:r>
            <a:r>
              <a:rPr dirty="0" sz="1750" spc="-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intelligent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automation</a:t>
            </a:r>
            <a:r>
              <a:rPr dirty="0" sz="1750" spc="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750" spc="10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monitoring.</a:t>
            </a:r>
            <a:r>
              <a:rPr dirty="0" sz="1750" spc="7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Smart</a:t>
            </a:r>
            <a:r>
              <a:rPr dirty="0" sz="1750" spc="1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0">
                <a:solidFill>
                  <a:srgbClr val="383838"/>
                </a:solidFill>
                <a:latin typeface="Arial MT"/>
                <a:cs typeface="Arial MT"/>
              </a:rPr>
              <a:t>devices</a:t>
            </a:r>
            <a:r>
              <a:rPr dirty="0" sz="1750" spc="1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ensure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lights</a:t>
            </a:r>
            <a:r>
              <a:rPr dirty="0" sz="1750" spc="8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750" spc="1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appliances</a:t>
            </a:r>
            <a:r>
              <a:rPr dirty="0" sz="1750" spc="9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aren't</a:t>
            </a:r>
            <a:r>
              <a:rPr dirty="0" sz="1750" spc="1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wasted</a:t>
            </a:r>
            <a:r>
              <a:rPr dirty="0" sz="1750" spc="1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when</a:t>
            </a:r>
            <a:r>
              <a:rPr dirty="0" sz="1750" spc="1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85">
                <a:solidFill>
                  <a:srgbClr val="383838"/>
                </a:solidFill>
                <a:latin typeface="Arial MT"/>
                <a:cs typeface="Arial MT"/>
              </a:rPr>
              <a:t>not</a:t>
            </a:r>
            <a:r>
              <a:rPr dirty="0" sz="1750" spc="1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needed,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whilst</a:t>
            </a:r>
            <a:r>
              <a:rPr dirty="0" sz="1750" spc="1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55">
                <a:solidFill>
                  <a:srgbClr val="383838"/>
                </a:solidFill>
                <a:latin typeface="Arial MT"/>
                <a:cs typeface="Arial MT"/>
              </a:rPr>
              <a:t>optimising</a:t>
            </a:r>
            <a:r>
              <a:rPr dirty="0" sz="1750" spc="10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heating</a:t>
            </a:r>
            <a:r>
              <a:rPr dirty="0" sz="1750" spc="1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750" spc="16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>
                <a:solidFill>
                  <a:srgbClr val="383838"/>
                </a:solidFill>
                <a:latin typeface="Arial MT"/>
                <a:cs typeface="Arial MT"/>
              </a:rPr>
              <a:t>cooling</a:t>
            </a:r>
            <a:r>
              <a:rPr dirty="0" sz="1750" spc="1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Arial MT"/>
                <a:cs typeface="Arial MT"/>
              </a:rPr>
              <a:t>efficiency.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7456931" y="5121909"/>
            <a:ext cx="510540" cy="510540"/>
          </a:xfrm>
          <a:custGeom>
            <a:avLst/>
            <a:gdLst/>
            <a:ahLst/>
            <a:cxnLst/>
            <a:rect l="l" t="t" r="r" b="b"/>
            <a:pathLst>
              <a:path w="510540" h="510539">
                <a:moveTo>
                  <a:pt x="476250" y="0"/>
                </a:moveTo>
                <a:lnTo>
                  <a:pt x="34036" y="0"/>
                </a:lnTo>
                <a:lnTo>
                  <a:pt x="20788" y="2674"/>
                </a:lnTo>
                <a:lnTo>
                  <a:pt x="9969" y="9969"/>
                </a:lnTo>
                <a:lnTo>
                  <a:pt x="2674" y="20788"/>
                </a:lnTo>
                <a:lnTo>
                  <a:pt x="0" y="34035"/>
                </a:lnTo>
                <a:lnTo>
                  <a:pt x="0" y="476376"/>
                </a:lnTo>
                <a:lnTo>
                  <a:pt x="2674" y="489551"/>
                </a:lnTo>
                <a:lnTo>
                  <a:pt x="9969" y="500332"/>
                </a:lnTo>
                <a:lnTo>
                  <a:pt x="20788" y="507613"/>
                </a:lnTo>
                <a:lnTo>
                  <a:pt x="34036" y="510285"/>
                </a:lnTo>
                <a:lnTo>
                  <a:pt x="476250" y="510285"/>
                </a:lnTo>
                <a:lnTo>
                  <a:pt x="489497" y="507613"/>
                </a:lnTo>
                <a:lnTo>
                  <a:pt x="500316" y="500332"/>
                </a:lnTo>
                <a:lnTo>
                  <a:pt x="507611" y="489551"/>
                </a:lnTo>
                <a:lnTo>
                  <a:pt x="510286" y="476376"/>
                </a:lnTo>
                <a:lnTo>
                  <a:pt x="510286" y="34035"/>
                </a:lnTo>
                <a:lnTo>
                  <a:pt x="507611" y="20788"/>
                </a:lnTo>
                <a:lnTo>
                  <a:pt x="500316" y="9969"/>
                </a:lnTo>
                <a:lnTo>
                  <a:pt x="489497" y="2674"/>
                </a:lnTo>
                <a:lnTo>
                  <a:pt x="476250" y="0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3488" y="429590"/>
            <a:ext cx="4580255" cy="5600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500" spc="145"/>
              <a:t>Challenges</a:t>
            </a:r>
            <a:r>
              <a:rPr dirty="0" sz="3500" spc="-55"/>
              <a:t> </a:t>
            </a:r>
            <a:r>
              <a:rPr dirty="0" sz="3500" spc="245"/>
              <a:t>to</a:t>
            </a:r>
            <a:r>
              <a:rPr dirty="0" sz="3500" spc="-20"/>
              <a:t> </a:t>
            </a:r>
            <a:r>
              <a:rPr dirty="0" sz="3500" spc="125"/>
              <a:t>Consider</a:t>
            </a:r>
            <a:endParaRPr sz="3500"/>
          </a:p>
        </p:txBody>
      </p:sp>
      <p:sp>
        <p:nvSpPr>
          <p:cNvPr id="3" name="object 3" descr=""/>
          <p:cNvSpPr txBox="1"/>
          <p:nvPr/>
        </p:nvSpPr>
        <p:spPr>
          <a:xfrm>
            <a:off x="583488" y="1390650"/>
            <a:ext cx="1146048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Whilst</a:t>
            </a:r>
            <a:r>
              <a:rPr dirty="0" sz="1300" spc="1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smart</a:t>
            </a:r>
            <a:r>
              <a:rPr dirty="0" sz="1300" spc="9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home</a:t>
            </a:r>
            <a:r>
              <a:rPr dirty="0" sz="1300" spc="10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technology</a:t>
            </a:r>
            <a:r>
              <a:rPr dirty="0" sz="1300" spc="8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offers</a:t>
            </a:r>
            <a:r>
              <a:rPr dirty="0" sz="1300" spc="114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tremendous</a:t>
            </a:r>
            <a:r>
              <a:rPr dirty="0" sz="1300" spc="1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benefits,</a:t>
            </a:r>
            <a:r>
              <a:rPr dirty="0" sz="1300" spc="10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it's</a:t>
            </a:r>
            <a:r>
              <a:rPr dirty="0" sz="1300" spc="9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50">
                <a:solidFill>
                  <a:srgbClr val="383838"/>
                </a:solidFill>
                <a:latin typeface="Arial MT"/>
                <a:cs typeface="Arial MT"/>
              </a:rPr>
              <a:t>important</a:t>
            </a:r>
            <a:r>
              <a:rPr dirty="0" sz="1300" spc="9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85">
                <a:solidFill>
                  <a:srgbClr val="383838"/>
                </a:solidFill>
                <a:latin typeface="Arial MT"/>
                <a:cs typeface="Arial MT"/>
              </a:rPr>
              <a:t>to</a:t>
            </a:r>
            <a:r>
              <a:rPr dirty="0" sz="1300" spc="1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understand</a:t>
            </a:r>
            <a:r>
              <a:rPr dirty="0" sz="1300" spc="8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50">
                <a:solidFill>
                  <a:srgbClr val="383838"/>
                </a:solidFill>
                <a:latin typeface="Arial MT"/>
                <a:cs typeface="Arial MT"/>
              </a:rPr>
              <a:t>the</a:t>
            </a:r>
            <a:r>
              <a:rPr dirty="0" sz="1300" spc="8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potential</a:t>
            </a:r>
            <a:r>
              <a:rPr dirty="0" sz="1300" spc="8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challenges</a:t>
            </a:r>
            <a:r>
              <a:rPr dirty="0" sz="1300" spc="7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300" spc="9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how</a:t>
            </a:r>
            <a:r>
              <a:rPr dirty="0" sz="1300" spc="85">
                <a:solidFill>
                  <a:srgbClr val="383838"/>
                </a:solidFill>
                <a:latin typeface="Arial MT"/>
                <a:cs typeface="Arial MT"/>
              </a:rPr>
              <a:t> to</a:t>
            </a:r>
            <a:r>
              <a:rPr dirty="0" sz="1300" spc="9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address</a:t>
            </a:r>
            <a:r>
              <a:rPr dirty="0" sz="1300" spc="114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50">
                <a:solidFill>
                  <a:srgbClr val="383838"/>
                </a:solidFill>
                <a:latin typeface="Arial MT"/>
                <a:cs typeface="Arial MT"/>
              </a:rPr>
              <a:t>them</a:t>
            </a:r>
            <a:r>
              <a:rPr dirty="0" sz="1300" spc="8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383838"/>
                </a:solidFill>
                <a:latin typeface="Arial MT"/>
                <a:cs typeface="Arial MT"/>
              </a:rPr>
              <a:t>effectively.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6150" y="1832101"/>
            <a:ext cx="6634480" cy="3016250"/>
          </a:xfrm>
          <a:custGeom>
            <a:avLst/>
            <a:gdLst/>
            <a:ahLst/>
            <a:cxnLst/>
            <a:rect l="l" t="t" r="r" b="b"/>
            <a:pathLst>
              <a:path w="6634480" h="3016250">
                <a:moveTo>
                  <a:pt x="0" y="25526"/>
                </a:moveTo>
                <a:lnTo>
                  <a:pt x="2006" y="15591"/>
                </a:lnTo>
                <a:lnTo>
                  <a:pt x="7478" y="7477"/>
                </a:lnTo>
                <a:lnTo>
                  <a:pt x="15596" y="2006"/>
                </a:lnTo>
                <a:lnTo>
                  <a:pt x="25539" y="0"/>
                </a:lnTo>
                <a:lnTo>
                  <a:pt x="6608432" y="0"/>
                </a:lnTo>
                <a:lnTo>
                  <a:pt x="6618368" y="2006"/>
                </a:lnTo>
                <a:lnTo>
                  <a:pt x="6626482" y="7477"/>
                </a:lnTo>
                <a:lnTo>
                  <a:pt x="6631953" y="15591"/>
                </a:lnTo>
                <a:lnTo>
                  <a:pt x="6633959" y="25526"/>
                </a:lnTo>
                <a:lnTo>
                  <a:pt x="6633959" y="2990723"/>
                </a:lnTo>
                <a:lnTo>
                  <a:pt x="6631953" y="3000658"/>
                </a:lnTo>
                <a:lnTo>
                  <a:pt x="6626482" y="3008772"/>
                </a:lnTo>
                <a:lnTo>
                  <a:pt x="6618368" y="3014243"/>
                </a:lnTo>
                <a:lnTo>
                  <a:pt x="6608432" y="3016250"/>
                </a:lnTo>
                <a:lnTo>
                  <a:pt x="25539" y="3016250"/>
                </a:lnTo>
                <a:lnTo>
                  <a:pt x="15596" y="3014243"/>
                </a:lnTo>
                <a:lnTo>
                  <a:pt x="7478" y="3008772"/>
                </a:lnTo>
                <a:lnTo>
                  <a:pt x="2006" y="3000658"/>
                </a:lnTo>
                <a:lnTo>
                  <a:pt x="0" y="2990723"/>
                </a:lnTo>
                <a:lnTo>
                  <a:pt x="0" y="25526"/>
                </a:lnTo>
                <a:close/>
              </a:path>
            </a:pathLst>
          </a:custGeom>
          <a:ln w="22860">
            <a:solidFill>
              <a:srgbClr val="D7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619010" y="1855000"/>
            <a:ext cx="6588759" cy="511175"/>
          </a:xfrm>
          <a:prstGeom prst="rect">
            <a:avLst/>
          </a:prstGeom>
          <a:solidFill>
            <a:srgbClr val="F1EDED"/>
          </a:solidFill>
        </p:spPr>
        <p:txBody>
          <a:bodyPr wrap="square" lIns="0" tIns="32384" rIns="0" bIns="0" rtlCol="0" vert="horz">
            <a:spAutoFit/>
          </a:bodyPr>
          <a:lstStyle/>
          <a:p>
            <a:pPr algn="ctr" marR="111760">
              <a:lnSpc>
                <a:spcPct val="100000"/>
              </a:lnSpc>
              <a:spcBef>
                <a:spcPts val="254"/>
              </a:spcBef>
            </a:pPr>
            <a:r>
              <a:rPr dirty="0" sz="2000" spc="10">
                <a:solidFill>
                  <a:srgbClr val="383838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76731" y="2511932"/>
            <a:ext cx="6169025" cy="2105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383838"/>
                </a:solidFill>
                <a:latin typeface="Times New Roman"/>
                <a:cs typeface="Times New Roman"/>
              </a:rPr>
              <a:t>Privacy</a:t>
            </a:r>
            <a:r>
              <a:rPr dirty="0" sz="1750" spc="55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1750" spc="145">
                <a:solidFill>
                  <a:srgbClr val="383838"/>
                </a:solidFill>
                <a:latin typeface="Times New Roman"/>
                <a:cs typeface="Times New Roman"/>
              </a:rPr>
              <a:t>&amp;</a:t>
            </a:r>
            <a:r>
              <a:rPr dirty="0" sz="1750" spc="85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1750" spc="80">
                <a:solidFill>
                  <a:srgbClr val="383838"/>
                </a:solidFill>
                <a:latin typeface="Times New Roman"/>
                <a:cs typeface="Times New Roman"/>
              </a:rPr>
              <a:t>Data</a:t>
            </a:r>
            <a:r>
              <a:rPr dirty="0" sz="1750" spc="70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1750" spc="60">
                <a:solidFill>
                  <a:srgbClr val="383838"/>
                </a:solidFill>
                <a:latin typeface="Times New Roman"/>
                <a:cs typeface="Times New Roman"/>
              </a:rPr>
              <a:t>Security</a:t>
            </a:r>
            <a:r>
              <a:rPr dirty="0" sz="1750" spc="80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1750" spc="60">
                <a:solidFill>
                  <a:srgbClr val="383838"/>
                </a:solidFill>
                <a:latin typeface="Times New Roman"/>
                <a:cs typeface="Times New Roman"/>
              </a:rPr>
              <a:t>Concerns</a:t>
            </a:r>
            <a:endParaRPr sz="1750">
              <a:latin typeface="Times New Roman"/>
              <a:cs typeface="Times New Roman"/>
            </a:endParaRPr>
          </a:p>
          <a:p>
            <a:pPr marL="12700" marR="5080">
              <a:lnSpc>
                <a:spcPct val="134600"/>
              </a:lnSpc>
              <a:spcBef>
                <a:spcPts val="730"/>
              </a:spcBef>
            </a:pP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Connected</a:t>
            </a:r>
            <a:r>
              <a:rPr dirty="0" sz="1300" spc="8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devices</a:t>
            </a:r>
            <a:r>
              <a:rPr dirty="0" sz="1300" spc="8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45">
                <a:solidFill>
                  <a:srgbClr val="383838"/>
                </a:solidFill>
                <a:latin typeface="Arial MT"/>
                <a:cs typeface="Arial MT"/>
              </a:rPr>
              <a:t>collect</a:t>
            </a:r>
            <a:r>
              <a:rPr dirty="0" sz="1300" spc="8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vast</a:t>
            </a:r>
            <a:r>
              <a:rPr dirty="0" sz="1300" spc="10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amounts</a:t>
            </a:r>
            <a:r>
              <a:rPr dirty="0" sz="1300" spc="7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50">
                <a:solidFill>
                  <a:srgbClr val="383838"/>
                </a:solidFill>
                <a:latin typeface="Arial MT"/>
                <a:cs typeface="Arial MT"/>
              </a:rPr>
              <a:t>of</a:t>
            </a:r>
            <a:r>
              <a:rPr dirty="0" sz="1300" spc="10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personal</a:t>
            </a:r>
            <a:r>
              <a:rPr dirty="0" sz="1300" spc="1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data,</a:t>
            </a:r>
            <a:r>
              <a:rPr dirty="0" sz="1300" spc="10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creating</a:t>
            </a:r>
            <a:r>
              <a:rPr dirty="0" sz="1300" spc="8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383838"/>
                </a:solidFill>
                <a:latin typeface="Arial MT"/>
                <a:cs typeface="Arial MT"/>
              </a:rPr>
              <a:t>potential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vulnerabilities.</a:t>
            </a:r>
            <a:r>
              <a:rPr dirty="0" sz="1300" spc="6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Hackers</a:t>
            </a:r>
            <a:r>
              <a:rPr dirty="0" sz="1300" spc="8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could</a:t>
            </a:r>
            <a:r>
              <a:rPr dirty="0" sz="1300" spc="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access</a:t>
            </a:r>
            <a:r>
              <a:rPr dirty="0" sz="1300" spc="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cameras</a:t>
            </a:r>
            <a:r>
              <a:rPr dirty="0" sz="1300" spc="8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or</a:t>
            </a:r>
            <a:r>
              <a:rPr dirty="0" sz="1300" spc="7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personal</a:t>
            </a:r>
            <a:r>
              <a:rPr dirty="0" sz="1300" spc="8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information</a:t>
            </a:r>
            <a:r>
              <a:rPr dirty="0" sz="1300" spc="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if</a:t>
            </a:r>
            <a:r>
              <a:rPr dirty="0" sz="1300" spc="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383838"/>
                </a:solidFill>
                <a:latin typeface="Arial MT"/>
                <a:cs typeface="Arial MT"/>
              </a:rPr>
              <a:t>systems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aren't</a:t>
            </a:r>
            <a:r>
              <a:rPr dirty="0" sz="1300" spc="1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properly</a:t>
            </a:r>
            <a:r>
              <a:rPr dirty="0" sz="1300" spc="20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secured</a:t>
            </a:r>
            <a:r>
              <a:rPr dirty="0" sz="1300" spc="18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with</a:t>
            </a:r>
            <a:r>
              <a:rPr dirty="0" sz="1300" spc="17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strong</a:t>
            </a:r>
            <a:r>
              <a:rPr dirty="0" sz="1300" spc="1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passwords</a:t>
            </a:r>
            <a:r>
              <a:rPr dirty="0" sz="1300" spc="18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300" spc="1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383838"/>
                </a:solidFill>
                <a:latin typeface="Arial MT"/>
                <a:cs typeface="Arial MT"/>
              </a:rPr>
              <a:t>encryption.</a:t>
            </a:r>
            <a:endParaRPr sz="1300">
              <a:latin typeface="Arial MT"/>
              <a:cs typeface="Arial MT"/>
            </a:endParaRPr>
          </a:p>
          <a:p>
            <a:pPr marL="12700" marR="297180">
              <a:lnSpc>
                <a:spcPct val="134600"/>
              </a:lnSpc>
              <a:spcBef>
                <a:spcPts val="944"/>
              </a:spcBef>
            </a:pPr>
            <a:r>
              <a:rPr dirty="0" sz="1300" spc="-25" b="1">
                <a:solidFill>
                  <a:srgbClr val="383838"/>
                </a:solidFill>
                <a:latin typeface="Arial"/>
                <a:cs typeface="Arial"/>
              </a:rPr>
              <a:t>Solution:</a:t>
            </a:r>
            <a:r>
              <a:rPr dirty="0" sz="1300" spc="70" b="1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83838"/>
                </a:solidFill>
                <a:latin typeface="Arial MT"/>
                <a:cs typeface="Arial MT"/>
              </a:rPr>
              <a:t>Use</a:t>
            </a:r>
            <a:r>
              <a:rPr dirty="0" sz="1300" spc="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strong</a:t>
            </a:r>
            <a:r>
              <a:rPr dirty="0" sz="1300" spc="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unique</a:t>
            </a:r>
            <a:r>
              <a:rPr dirty="0" sz="1300" spc="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passwords,</a:t>
            </a:r>
            <a:r>
              <a:rPr dirty="0" sz="1300" spc="6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enable</a:t>
            </a:r>
            <a:r>
              <a:rPr dirty="0" sz="1300" spc="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5">
                <a:solidFill>
                  <a:srgbClr val="383838"/>
                </a:solidFill>
                <a:latin typeface="Arial MT"/>
                <a:cs typeface="Arial MT"/>
              </a:rPr>
              <a:t>two-</a:t>
            </a:r>
            <a:r>
              <a:rPr dirty="0" sz="1300" spc="55">
                <a:solidFill>
                  <a:srgbClr val="383838"/>
                </a:solidFill>
                <a:latin typeface="Arial MT"/>
                <a:cs typeface="Arial MT"/>
              </a:rPr>
              <a:t>factor</a:t>
            </a:r>
            <a:r>
              <a:rPr dirty="0" sz="1300" spc="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383838"/>
                </a:solidFill>
                <a:latin typeface="Arial MT"/>
                <a:cs typeface="Arial MT"/>
              </a:rPr>
              <a:t>authentication,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regularly</a:t>
            </a:r>
            <a:r>
              <a:rPr dirty="0" sz="1300" spc="1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50">
                <a:solidFill>
                  <a:srgbClr val="383838"/>
                </a:solidFill>
                <a:latin typeface="Arial MT"/>
                <a:cs typeface="Arial MT"/>
              </a:rPr>
              <a:t>update</a:t>
            </a:r>
            <a:r>
              <a:rPr dirty="0" sz="1300" spc="1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firmware,</a:t>
            </a:r>
            <a:r>
              <a:rPr dirty="0" sz="1300" spc="18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300" spc="1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choose</a:t>
            </a:r>
            <a:r>
              <a:rPr dirty="0" sz="1300" spc="1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reputable</a:t>
            </a:r>
            <a:r>
              <a:rPr dirty="0" sz="1300" spc="1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brands</a:t>
            </a:r>
            <a:r>
              <a:rPr dirty="0" sz="1300" spc="1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with</a:t>
            </a:r>
            <a:r>
              <a:rPr dirty="0" sz="1300" spc="1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robust</a:t>
            </a:r>
            <a:r>
              <a:rPr dirty="0" sz="1300" spc="1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383838"/>
                </a:solidFill>
                <a:latin typeface="Arial MT"/>
                <a:cs typeface="Arial MT"/>
              </a:rPr>
              <a:t>security measures.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7400290" y="1832101"/>
            <a:ext cx="6634480" cy="3016250"/>
          </a:xfrm>
          <a:custGeom>
            <a:avLst/>
            <a:gdLst/>
            <a:ahLst/>
            <a:cxnLst/>
            <a:rect l="l" t="t" r="r" b="b"/>
            <a:pathLst>
              <a:path w="6634480" h="3016250">
                <a:moveTo>
                  <a:pt x="0" y="25526"/>
                </a:moveTo>
                <a:lnTo>
                  <a:pt x="2006" y="15591"/>
                </a:lnTo>
                <a:lnTo>
                  <a:pt x="7477" y="7477"/>
                </a:lnTo>
                <a:lnTo>
                  <a:pt x="15591" y="2006"/>
                </a:lnTo>
                <a:lnTo>
                  <a:pt x="25526" y="0"/>
                </a:lnTo>
                <a:lnTo>
                  <a:pt x="6608444" y="0"/>
                </a:lnTo>
                <a:lnTo>
                  <a:pt x="6618380" y="2006"/>
                </a:lnTo>
                <a:lnTo>
                  <a:pt x="6626494" y="7477"/>
                </a:lnTo>
                <a:lnTo>
                  <a:pt x="6631965" y="15591"/>
                </a:lnTo>
                <a:lnTo>
                  <a:pt x="6633971" y="25526"/>
                </a:lnTo>
                <a:lnTo>
                  <a:pt x="6633971" y="2990723"/>
                </a:lnTo>
                <a:lnTo>
                  <a:pt x="6631965" y="3000658"/>
                </a:lnTo>
                <a:lnTo>
                  <a:pt x="6626494" y="3008772"/>
                </a:lnTo>
                <a:lnTo>
                  <a:pt x="6618380" y="3014243"/>
                </a:lnTo>
                <a:lnTo>
                  <a:pt x="6608444" y="3016250"/>
                </a:lnTo>
                <a:lnTo>
                  <a:pt x="25526" y="3016250"/>
                </a:lnTo>
                <a:lnTo>
                  <a:pt x="15591" y="3014243"/>
                </a:lnTo>
                <a:lnTo>
                  <a:pt x="7477" y="3008772"/>
                </a:lnTo>
                <a:lnTo>
                  <a:pt x="2006" y="3000658"/>
                </a:lnTo>
                <a:lnTo>
                  <a:pt x="0" y="2990723"/>
                </a:lnTo>
                <a:lnTo>
                  <a:pt x="0" y="25526"/>
                </a:lnTo>
                <a:close/>
              </a:path>
            </a:pathLst>
          </a:custGeom>
          <a:ln w="22860">
            <a:solidFill>
              <a:srgbClr val="D7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7423150" y="1855000"/>
            <a:ext cx="6588759" cy="511175"/>
          </a:xfrm>
          <a:prstGeom prst="rect">
            <a:avLst/>
          </a:prstGeom>
          <a:solidFill>
            <a:srgbClr val="F1EDED"/>
          </a:solidFill>
        </p:spPr>
        <p:txBody>
          <a:bodyPr wrap="square" lIns="0" tIns="32384" rIns="0" bIns="0" rtlCol="0" vert="horz">
            <a:spAutoFit/>
          </a:bodyPr>
          <a:lstStyle/>
          <a:p>
            <a:pPr algn="ctr" marR="109855">
              <a:lnSpc>
                <a:spcPct val="100000"/>
              </a:lnSpc>
              <a:spcBef>
                <a:spcPts val="254"/>
              </a:spcBef>
            </a:pPr>
            <a:r>
              <a:rPr dirty="0" sz="2000" spc="10">
                <a:solidFill>
                  <a:srgbClr val="383838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581392" y="2511932"/>
            <a:ext cx="6197600" cy="1838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60">
                <a:solidFill>
                  <a:srgbClr val="383838"/>
                </a:solidFill>
                <a:latin typeface="Times New Roman"/>
                <a:cs typeface="Times New Roman"/>
              </a:rPr>
              <a:t>High</a:t>
            </a:r>
            <a:r>
              <a:rPr dirty="0" sz="1750" spc="10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1750" spc="75">
                <a:solidFill>
                  <a:srgbClr val="383838"/>
                </a:solidFill>
                <a:latin typeface="Times New Roman"/>
                <a:cs typeface="Times New Roman"/>
              </a:rPr>
              <a:t>Initial</a:t>
            </a:r>
            <a:r>
              <a:rPr dirty="0" sz="1750" spc="-10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1750" spc="100">
                <a:solidFill>
                  <a:srgbClr val="383838"/>
                </a:solidFill>
                <a:latin typeface="Times New Roman"/>
                <a:cs typeface="Times New Roman"/>
              </a:rPr>
              <a:t>Investment</a:t>
            </a:r>
            <a:r>
              <a:rPr dirty="0" sz="1750" spc="20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1750" spc="55">
                <a:solidFill>
                  <a:srgbClr val="383838"/>
                </a:solidFill>
                <a:latin typeface="Times New Roman"/>
                <a:cs typeface="Times New Roman"/>
              </a:rPr>
              <a:t>Costs</a:t>
            </a:r>
            <a:endParaRPr sz="1750">
              <a:latin typeface="Times New Roman"/>
              <a:cs typeface="Times New Roman"/>
            </a:endParaRPr>
          </a:p>
          <a:p>
            <a:pPr marL="12700" marR="48895">
              <a:lnSpc>
                <a:spcPct val="134600"/>
              </a:lnSpc>
              <a:spcBef>
                <a:spcPts val="730"/>
              </a:spcBef>
            </a:pP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Quality</a:t>
            </a:r>
            <a:r>
              <a:rPr dirty="0" sz="1300" spc="1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smart</a:t>
            </a:r>
            <a:r>
              <a:rPr dirty="0" sz="1300" spc="204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home</a:t>
            </a:r>
            <a:r>
              <a:rPr dirty="0" sz="1300" spc="19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systems</a:t>
            </a:r>
            <a:r>
              <a:rPr dirty="0" sz="1300" spc="204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require</a:t>
            </a:r>
            <a:r>
              <a:rPr dirty="0" sz="1300" spc="19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significant</a:t>
            </a:r>
            <a:r>
              <a:rPr dirty="0" sz="1300" spc="17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55">
                <a:solidFill>
                  <a:srgbClr val="383838"/>
                </a:solidFill>
                <a:latin typeface="Arial MT"/>
                <a:cs typeface="Arial MT"/>
              </a:rPr>
              <a:t>upfront</a:t>
            </a:r>
            <a:r>
              <a:rPr dirty="0" sz="1300" spc="19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investment.</a:t>
            </a:r>
            <a:r>
              <a:rPr dirty="0" sz="1300" spc="18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-50">
                <a:solidFill>
                  <a:srgbClr val="383838"/>
                </a:solidFill>
                <a:latin typeface="Arial MT"/>
                <a:cs typeface="Arial MT"/>
              </a:rPr>
              <a:t>A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comprehensive</a:t>
            </a:r>
            <a:r>
              <a:rPr dirty="0" sz="1300" spc="1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setup</a:t>
            </a:r>
            <a:r>
              <a:rPr dirty="0" sz="1300" spc="1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including</a:t>
            </a:r>
            <a:r>
              <a:rPr dirty="0" sz="1300" spc="8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security,</a:t>
            </a:r>
            <a:r>
              <a:rPr dirty="0" sz="1300" spc="1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lighting,</a:t>
            </a:r>
            <a:r>
              <a:rPr dirty="0" sz="1300" spc="9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climate</a:t>
            </a:r>
            <a:r>
              <a:rPr dirty="0" sz="1300" spc="1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control,</a:t>
            </a:r>
            <a:r>
              <a:rPr dirty="0" sz="1300" spc="1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300" spc="1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383838"/>
                </a:solidFill>
                <a:latin typeface="Arial MT"/>
                <a:cs typeface="Arial MT"/>
              </a:rPr>
              <a:t>appliances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can</a:t>
            </a:r>
            <a:r>
              <a:rPr dirty="0" sz="1300" spc="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60">
                <a:solidFill>
                  <a:srgbClr val="383838"/>
                </a:solidFill>
                <a:latin typeface="Arial MT"/>
                <a:cs typeface="Arial MT"/>
              </a:rPr>
              <a:t>cost</a:t>
            </a:r>
            <a:r>
              <a:rPr dirty="0" sz="1300" spc="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80">
                <a:solidFill>
                  <a:srgbClr val="383838"/>
                </a:solidFill>
                <a:latin typeface="Times New Roman"/>
                <a:cs typeface="Times New Roman"/>
              </a:rPr>
              <a:t>₹</a:t>
            </a:r>
            <a:r>
              <a:rPr dirty="0" sz="1300" spc="80">
                <a:solidFill>
                  <a:srgbClr val="383838"/>
                </a:solidFill>
                <a:latin typeface="Arial MT"/>
                <a:cs typeface="Arial MT"/>
              </a:rPr>
              <a:t>50,000</a:t>
            </a:r>
            <a:r>
              <a:rPr dirty="0" sz="1300" spc="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85">
                <a:solidFill>
                  <a:srgbClr val="383838"/>
                </a:solidFill>
                <a:latin typeface="Arial MT"/>
                <a:cs typeface="Arial MT"/>
              </a:rPr>
              <a:t>to</a:t>
            </a:r>
            <a:r>
              <a:rPr dirty="0" sz="1300" spc="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70">
                <a:solidFill>
                  <a:srgbClr val="383838"/>
                </a:solidFill>
                <a:latin typeface="Times New Roman"/>
                <a:cs typeface="Times New Roman"/>
              </a:rPr>
              <a:t>₹</a:t>
            </a:r>
            <a:r>
              <a:rPr dirty="0" sz="1300" spc="70">
                <a:solidFill>
                  <a:srgbClr val="383838"/>
                </a:solidFill>
                <a:latin typeface="Arial MT"/>
                <a:cs typeface="Arial MT"/>
              </a:rPr>
              <a:t>5,00,000</a:t>
            </a:r>
            <a:r>
              <a:rPr dirty="0" sz="1300" spc="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or</a:t>
            </a:r>
            <a:r>
              <a:rPr dirty="0" sz="1300" spc="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-20">
                <a:solidFill>
                  <a:srgbClr val="383838"/>
                </a:solidFill>
                <a:latin typeface="Arial MT"/>
                <a:cs typeface="Arial MT"/>
              </a:rPr>
              <a:t>more.</a:t>
            </a:r>
            <a:endParaRPr sz="1300">
              <a:latin typeface="Arial MT"/>
              <a:cs typeface="Arial MT"/>
            </a:endParaRPr>
          </a:p>
          <a:p>
            <a:pPr marL="12700" marR="5080">
              <a:lnSpc>
                <a:spcPct val="134600"/>
              </a:lnSpc>
              <a:spcBef>
                <a:spcPts val="944"/>
              </a:spcBef>
            </a:pPr>
            <a:r>
              <a:rPr dirty="0" sz="1300" spc="-25" b="1">
                <a:solidFill>
                  <a:srgbClr val="383838"/>
                </a:solidFill>
                <a:latin typeface="Arial"/>
                <a:cs typeface="Arial"/>
              </a:rPr>
              <a:t>Solution:</a:t>
            </a:r>
            <a:r>
              <a:rPr dirty="0" sz="1300" spc="80" b="1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Start</a:t>
            </a:r>
            <a:r>
              <a:rPr dirty="0" sz="1300" spc="6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small</a:t>
            </a:r>
            <a:r>
              <a:rPr dirty="0" sz="1300" spc="6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50">
                <a:solidFill>
                  <a:srgbClr val="383838"/>
                </a:solidFill>
                <a:latin typeface="Arial MT"/>
                <a:cs typeface="Arial MT"/>
              </a:rPr>
              <a:t>with</a:t>
            </a:r>
            <a:r>
              <a:rPr dirty="0" sz="1300" spc="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50">
                <a:solidFill>
                  <a:srgbClr val="383838"/>
                </a:solidFill>
                <a:latin typeface="Arial MT"/>
                <a:cs typeface="Arial MT"/>
              </a:rPr>
              <a:t>priority</a:t>
            </a:r>
            <a:r>
              <a:rPr dirty="0" sz="1300" spc="8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-20">
                <a:solidFill>
                  <a:srgbClr val="383838"/>
                </a:solidFill>
                <a:latin typeface="Arial MT"/>
                <a:cs typeface="Arial MT"/>
              </a:rPr>
              <a:t>areas,</a:t>
            </a:r>
            <a:r>
              <a:rPr dirty="0" sz="1300" spc="8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gradually</a:t>
            </a:r>
            <a:r>
              <a:rPr dirty="0" sz="1300" spc="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expand</a:t>
            </a:r>
            <a:r>
              <a:rPr dirty="0" sz="1300" spc="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your</a:t>
            </a:r>
            <a:r>
              <a:rPr dirty="0" sz="1300" spc="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system,</a:t>
            </a:r>
            <a:r>
              <a:rPr dirty="0" sz="1300" spc="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300" spc="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383838"/>
                </a:solidFill>
                <a:latin typeface="Arial MT"/>
                <a:cs typeface="Arial MT"/>
              </a:rPr>
              <a:t>focus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on</a:t>
            </a:r>
            <a:r>
              <a:rPr dirty="0" sz="1300" spc="1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devices</a:t>
            </a:r>
            <a:r>
              <a:rPr dirty="0" sz="1300" spc="1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60">
                <a:solidFill>
                  <a:srgbClr val="383838"/>
                </a:solidFill>
                <a:latin typeface="Arial MT"/>
                <a:cs typeface="Arial MT"/>
              </a:rPr>
              <a:t>that</a:t>
            </a:r>
            <a:r>
              <a:rPr dirty="0" sz="1300" spc="1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offer</a:t>
            </a:r>
            <a:r>
              <a:rPr dirty="0" sz="1300" spc="17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immediate</a:t>
            </a:r>
            <a:r>
              <a:rPr dirty="0" sz="1300" spc="1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-80">
                <a:solidFill>
                  <a:srgbClr val="383838"/>
                </a:solidFill>
                <a:latin typeface="Arial MT"/>
                <a:cs typeface="Arial MT"/>
              </a:rPr>
              <a:t>ROI</a:t>
            </a:r>
            <a:r>
              <a:rPr dirty="0" sz="1300" spc="1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through</a:t>
            </a:r>
            <a:r>
              <a:rPr dirty="0" sz="1300" spc="10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energy</a:t>
            </a:r>
            <a:r>
              <a:rPr dirty="0" sz="1300" spc="1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383838"/>
                </a:solidFill>
                <a:latin typeface="Arial MT"/>
                <a:cs typeface="Arial MT"/>
              </a:rPr>
              <a:t>savings.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596150" y="5018659"/>
            <a:ext cx="6634480" cy="2743835"/>
          </a:xfrm>
          <a:custGeom>
            <a:avLst/>
            <a:gdLst/>
            <a:ahLst/>
            <a:cxnLst/>
            <a:rect l="l" t="t" r="r" b="b"/>
            <a:pathLst>
              <a:path w="6634480" h="2743834">
                <a:moveTo>
                  <a:pt x="0" y="25527"/>
                </a:moveTo>
                <a:lnTo>
                  <a:pt x="2006" y="15591"/>
                </a:lnTo>
                <a:lnTo>
                  <a:pt x="7478" y="7477"/>
                </a:lnTo>
                <a:lnTo>
                  <a:pt x="15596" y="2006"/>
                </a:lnTo>
                <a:lnTo>
                  <a:pt x="25539" y="0"/>
                </a:lnTo>
                <a:lnTo>
                  <a:pt x="6608432" y="0"/>
                </a:lnTo>
                <a:lnTo>
                  <a:pt x="6618368" y="2006"/>
                </a:lnTo>
                <a:lnTo>
                  <a:pt x="6626482" y="7477"/>
                </a:lnTo>
                <a:lnTo>
                  <a:pt x="6631953" y="15591"/>
                </a:lnTo>
                <a:lnTo>
                  <a:pt x="6633959" y="25527"/>
                </a:lnTo>
                <a:lnTo>
                  <a:pt x="6633959" y="2718079"/>
                </a:lnTo>
                <a:lnTo>
                  <a:pt x="6631953" y="2728017"/>
                </a:lnTo>
                <a:lnTo>
                  <a:pt x="6626482" y="2736135"/>
                </a:lnTo>
                <a:lnTo>
                  <a:pt x="6618368" y="2741610"/>
                </a:lnTo>
                <a:lnTo>
                  <a:pt x="6608432" y="2743619"/>
                </a:lnTo>
                <a:lnTo>
                  <a:pt x="25539" y="2743619"/>
                </a:lnTo>
                <a:lnTo>
                  <a:pt x="15596" y="2741610"/>
                </a:lnTo>
                <a:lnTo>
                  <a:pt x="7478" y="2736135"/>
                </a:lnTo>
                <a:lnTo>
                  <a:pt x="2006" y="2728017"/>
                </a:lnTo>
                <a:lnTo>
                  <a:pt x="0" y="2718079"/>
                </a:lnTo>
                <a:lnTo>
                  <a:pt x="0" y="25527"/>
                </a:lnTo>
                <a:close/>
              </a:path>
            </a:pathLst>
          </a:custGeom>
          <a:ln w="22860">
            <a:solidFill>
              <a:srgbClr val="D7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619010" y="5041430"/>
            <a:ext cx="6588759" cy="511175"/>
          </a:xfrm>
          <a:prstGeom prst="rect">
            <a:avLst/>
          </a:prstGeom>
          <a:solidFill>
            <a:srgbClr val="F1EDED"/>
          </a:solidFill>
        </p:spPr>
        <p:txBody>
          <a:bodyPr wrap="square" lIns="0" tIns="33020" rIns="0" bIns="0" rtlCol="0" vert="horz">
            <a:spAutoFit/>
          </a:bodyPr>
          <a:lstStyle/>
          <a:p>
            <a:pPr algn="ctr" marR="111760">
              <a:lnSpc>
                <a:spcPct val="100000"/>
              </a:lnSpc>
              <a:spcBef>
                <a:spcPts val="260"/>
              </a:spcBef>
            </a:pPr>
            <a:r>
              <a:rPr dirty="0" sz="2000" spc="10">
                <a:solidFill>
                  <a:srgbClr val="383838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76731" y="5698997"/>
            <a:ext cx="6162675" cy="1838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60">
                <a:solidFill>
                  <a:srgbClr val="383838"/>
                </a:solidFill>
                <a:latin typeface="Times New Roman"/>
                <a:cs typeface="Times New Roman"/>
              </a:rPr>
              <a:t>Technical</a:t>
            </a:r>
            <a:r>
              <a:rPr dirty="0" sz="1750" spc="-30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1750" spc="60">
                <a:solidFill>
                  <a:srgbClr val="383838"/>
                </a:solidFill>
                <a:latin typeface="Times New Roman"/>
                <a:cs typeface="Times New Roman"/>
              </a:rPr>
              <a:t>Complexity</a:t>
            </a:r>
            <a:r>
              <a:rPr dirty="0" sz="1750" spc="-10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1750" spc="145">
                <a:solidFill>
                  <a:srgbClr val="383838"/>
                </a:solidFill>
                <a:latin typeface="Times New Roman"/>
                <a:cs typeface="Times New Roman"/>
              </a:rPr>
              <a:t>&amp;</a:t>
            </a:r>
            <a:r>
              <a:rPr dirty="0" sz="1750" spc="-5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1750" spc="55">
                <a:solidFill>
                  <a:srgbClr val="383838"/>
                </a:solidFill>
                <a:latin typeface="Times New Roman"/>
                <a:cs typeface="Times New Roman"/>
              </a:rPr>
              <a:t>Compatibility</a:t>
            </a:r>
            <a:endParaRPr sz="1750">
              <a:latin typeface="Times New Roman"/>
              <a:cs typeface="Times New Roman"/>
            </a:endParaRPr>
          </a:p>
          <a:p>
            <a:pPr marL="12700" marR="5080">
              <a:lnSpc>
                <a:spcPct val="134700"/>
              </a:lnSpc>
              <a:spcBef>
                <a:spcPts val="730"/>
              </a:spcBef>
            </a:pP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Different</a:t>
            </a:r>
            <a:r>
              <a:rPr dirty="0" sz="1300" spc="1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devices</a:t>
            </a:r>
            <a:r>
              <a:rPr dirty="0" sz="1300" spc="114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use</a:t>
            </a:r>
            <a:r>
              <a:rPr dirty="0" sz="1300" spc="1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varying</a:t>
            </a:r>
            <a:r>
              <a:rPr dirty="0" sz="1300" spc="1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45">
                <a:solidFill>
                  <a:srgbClr val="383838"/>
                </a:solidFill>
                <a:latin typeface="Arial MT"/>
                <a:cs typeface="Arial MT"/>
              </a:rPr>
              <a:t>protocols</a:t>
            </a:r>
            <a:r>
              <a:rPr dirty="0" sz="1300" spc="1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300" spc="10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platforms,</a:t>
            </a:r>
            <a:r>
              <a:rPr dirty="0" sz="1300" spc="1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making</a:t>
            </a:r>
            <a:r>
              <a:rPr dirty="0" sz="1300" spc="10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383838"/>
                </a:solidFill>
                <a:latin typeface="Arial MT"/>
                <a:cs typeface="Arial MT"/>
              </a:rPr>
              <a:t>integration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challenging.</a:t>
            </a:r>
            <a:r>
              <a:rPr dirty="0" sz="1300" spc="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Not</a:t>
            </a:r>
            <a:r>
              <a:rPr dirty="0" sz="1300" spc="1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all</a:t>
            </a:r>
            <a:r>
              <a:rPr dirty="0" sz="1300" spc="8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smart</a:t>
            </a:r>
            <a:r>
              <a:rPr dirty="0" sz="1300" spc="10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devices</a:t>
            </a:r>
            <a:r>
              <a:rPr dirty="0" sz="1300" spc="9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work</a:t>
            </a:r>
            <a:r>
              <a:rPr dirty="0" sz="1300" spc="9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together</a:t>
            </a:r>
            <a:r>
              <a:rPr dirty="0" sz="1300" spc="9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seamlessly,</a:t>
            </a:r>
            <a:r>
              <a:rPr dirty="0" sz="1300" spc="1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300" spc="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383838"/>
                </a:solidFill>
                <a:latin typeface="Arial MT"/>
                <a:cs typeface="Arial MT"/>
              </a:rPr>
              <a:t>troubleshooting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requires</a:t>
            </a:r>
            <a:r>
              <a:rPr dirty="0" sz="1300" spc="26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technical</a:t>
            </a:r>
            <a:r>
              <a:rPr dirty="0" sz="1300" spc="19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383838"/>
                </a:solidFill>
                <a:latin typeface="Arial MT"/>
                <a:cs typeface="Arial MT"/>
              </a:rPr>
              <a:t>knowledge.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dirty="0" sz="1300" spc="-25" b="1">
                <a:solidFill>
                  <a:srgbClr val="383838"/>
                </a:solidFill>
                <a:latin typeface="Arial"/>
                <a:cs typeface="Arial"/>
              </a:rPr>
              <a:t>Solution:</a:t>
            </a:r>
            <a:r>
              <a:rPr dirty="0" sz="1300" spc="120" b="1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Choose</a:t>
            </a:r>
            <a:r>
              <a:rPr dirty="0" sz="1300" spc="1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devices</a:t>
            </a:r>
            <a:r>
              <a:rPr dirty="0" sz="1300" spc="10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within</a:t>
            </a:r>
            <a:r>
              <a:rPr dirty="0" sz="1300" spc="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50">
                <a:solidFill>
                  <a:srgbClr val="383838"/>
                </a:solidFill>
                <a:latin typeface="Arial MT"/>
                <a:cs typeface="Arial MT"/>
              </a:rPr>
              <a:t>the</a:t>
            </a:r>
            <a:r>
              <a:rPr dirty="0" sz="1300" spc="8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same</a:t>
            </a:r>
            <a:r>
              <a:rPr dirty="0" sz="1300" spc="9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ecosystem</a:t>
            </a:r>
            <a:r>
              <a:rPr dirty="0" sz="1300" spc="10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(Google</a:t>
            </a:r>
            <a:r>
              <a:rPr dirty="0" sz="1300" spc="10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Home,</a:t>
            </a:r>
            <a:r>
              <a:rPr dirty="0" sz="1300" spc="1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383838"/>
                </a:solidFill>
                <a:latin typeface="Arial MT"/>
                <a:cs typeface="Arial MT"/>
              </a:rPr>
              <a:t>Alexa,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Apple</a:t>
            </a:r>
            <a:r>
              <a:rPr dirty="0" sz="1300" spc="6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HomeKit),</a:t>
            </a:r>
            <a:r>
              <a:rPr dirty="0" sz="1300" spc="1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or</a:t>
            </a:r>
            <a:r>
              <a:rPr dirty="0" sz="1300" spc="8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use</a:t>
            </a:r>
            <a:r>
              <a:rPr dirty="0" sz="1300" spc="6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universal</a:t>
            </a:r>
            <a:r>
              <a:rPr dirty="0" sz="1300" spc="8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hubs</a:t>
            </a:r>
            <a:r>
              <a:rPr dirty="0" sz="1300" spc="60">
                <a:solidFill>
                  <a:srgbClr val="383838"/>
                </a:solidFill>
                <a:latin typeface="Arial MT"/>
                <a:cs typeface="Arial MT"/>
              </a:rPr>
              <a:t> that</a:t>
            </a:r>
            <a:r>
              <a:rPr dirty="0" sz="1300" spc="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50">
                <a:solidFill>
                  <a:srgbClr val="383838"/>
                </a:solidFill>
                <a:latin typeface="Arial MT"/>
                <a:cs typeface="Arial MT"/>
              </a:rPr>
              <a:t>support</a:t>
            </a:r>
            <a:r>
              <a:rPr dirty="0" sz="1300" spc="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multiple</a:t>
            </a:r>
            <a:r>
              <a:rPr dirty="0" sz="1300" spc="6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383838"/>
                </a:solidFill>
                <a:latin typeface="Arial MT"/>
                <a:cs typeface="Arial MT"/>
              </a:rPr>
              <a:t>protocols.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7400290" y="5018659"/>
            <a:ext cx="6634480" cy="2743835"/>
          </a:xfrm>
          <a:custGeom>
            <a:avLst/>
            <a:gdLst/>
            <a:ahLst/>
            <a:cxnLst/>
            <a:rect l="l" t="t" r="r" b="b"/>
            <a:pathLst>
              <a:path w="6634480" h="2743834">
                <a:moveTo>
                  <a:pt x="0" y="25527"/>
                </a:moveTo>
                <a:lnTo>
                  <a:pt x="2006" y="15591"/>
                </a:lnTo>
                <a:lnTo>
                  <a:pt x="7477" y="7477"/>
                </a:lnTo>
                <a:lnTo>
                  <a:pt x="15591" y="2006"/>
                </a:lnTo>
                <a:lnTo>
                  <a:pt x="25526" y="0"/>
                </a:lnTo>
                <a:lnTo>
                  <a:pt x="6608444" y="0"/>
                </a:lnTo>
                <a:lnTo>
                  <a:pt x="6618380" y="2006"/>
                </a:lnTo>
                <a:lnTo>
                  <a:pt x="6626494" y="7477"/>
                </a:lnTo>
                <a:lnTo>
                  <a:pt x="6631965" y="15591"/>
                </a:lnTo>
                <a:lnTo>
                  <a:pt x="6633971" y="25527"/>
                </a:lnTo>
                <a:lnTo>
                  <a:pt x="6633971" y="2718079"/>
                </a:lnTo>
                <a:lnTo>
                  <a:pt x="6631965" y="2728017"/>
                </a:lnTo>
                <a:lnTo>
                  <a:pt x="6626494" y="2736135"/>
                </a:lnTo>
                <a:lnTo>
                  <a:pt x="6618380" y="2741610"/>
                </a:lnTo>
                <a:lnTo>
                  <a:pt x="6608444" y="2743619"/>
                </a:lnTo>
                <a:lnTo>
                  <a:pt x="25526" y="2743619"/>
                </a:lnTo>
                <a:lnTo>
                  <a:pt x="15591" y="2741610"/>
                </a:lnTo>
                <a:lnTo>
                  <a:pt x="7477" y="2736135"/>
                </a:lnTo>
                <a:lnTo>
                  <a:pt x="2006" y="2728017"/>
                </a:lnTo>
                <a:lnTo>
                  <a:pt x="0" y="2718079"/>
                </a:lnTo>
                <a:lnTo>
                  <a:pt x="0" y="25527"/>
                </a:lnTo>
                <a:close/>
              </a:path>
            </a:pathLst>
          </a:custGeom>
          <a:ln w="22860">
            <a:solidFill>
              <a:srgbClr val="D7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7423150" y="5041430"/>
            <a:ext cx="6588759" cy="511175"/>
          </a:xfrm>
          <a:prstGeom prst="rect">
            <a:avLst/>
          </a:prstGeom>
          <a:solidFill>
            <a:srgbClr val="F1EDED"/>
          </a:solidFill>
        </p:spPr>
        <p:txBody>
          <a:bodyPr wrap="square" lIns="0" tIns="33020" rIns="0" bIns="0" rtlCol="0" vert="horz">
            <a:spAutoFit/>
          </a:bodyPr>
          <a:lstStyle/>
          <a:p>
            <a:pPr algn="ctr" marR="109855">
              <a:lnSpc>
                <a:spcPct val="100000"/>
              </a:lnSpc>
              <a:spcBef>
                <a:spcPts val="260"/>
              </a:spcBef>
            </a:pPr>
            <a:r>
              <a:rPr dirty="0" sz="2000" spc="10">
                <a:solidFill>
                  <a:srgbClr val="383838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581392" y="5698997"/>
            <a:ext cx="6266815" cy="1838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120">
                <a:solidFill>
                  <a:srgbClr val="383838"/>
                </a:solidFill>
                <a:latin typeface="Times New Roman"/>
                <a:cs typeface="Times New Roman"/>
              </a:rPr>
              <a:t>Internet</a:t>
            </a:r>
            <a:r>
              <a:rPr dirty="0" sz="1750" spc="-15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1750" spc="85">
                <a:solidFill>
                  <a:srgbClr val="383838"/>
                </a:solidFill>
                <a:latin typeface="Times New Roman"/>
                <a:cs typeface="Times New Roman"/>
              </a:rPr>
              <a:t>Dependency</a:t>
            </a:r>
            <a:r>
              <a:rPr dirty="0" sz="1750" spc="-30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1750" spc="145">
                <a:solidFill>
                  <a:srgbClr val="383838"/>
                </a:solidFill>
                <a:latin typeface="Times New Roman"/>
                <a:cs typeface="Times New Roman"/>
              </a:rPr>
              <a:t>&amp;</a:t>
            </a:r>
            <a:r>
              <a:rPr dirty="0" sz="1750" spc="5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1750" spc="40">
                <a:solidFill>
                  <a:srgbClr val="383838"/>
                </a:solidFill>
                <a:latin typeface="Times New Roman"/>
                <a:cs typeface="Times New Roman"/>
              </a:rPr>
              <a:t>Reliability</a:t>
            </a:r>
            <a:endParaRPr sz="1750">
              <a:latin typeface="Times New Roman"/>
              <a:cs typeface="Times New Roman"/>
            </a:endParaRPr>
          </a:p>
          <a:p>
            <a:pPr marL="12700" marR="5080">
              <a:lnSpc>
                <a:spcPct val="134700"/>
              </a:lnSpc>
              <a:spcBef>
                <a:spcPts val="730"/>
              </a:spcBef>
            </a:pPr>
            <a:r>
              <a:rPr dirty="0" sz="1300" spc="20">
                <a:solidFill>
                  <a:srgbClr val="383838"/>
                </a:solidFill>
                <a:latin typeface="Arial MT"/>
                <a:cs typeface="Arial MT"/>
              </a:rPr>
              <a:t>Smart</a:t>
            </a:r>
            <a:r>
              <a:rPr dirty="0" sz="1300" spc="8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Arial MT"/>
                <a:cs typeface="Arial MT"/>
              </a:rPr>
              <a:t>home</a:t>
            </a:r>
            <a:r>
              <a:rPr dirty="0" sz="1300" spc="8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Arial MT"/>
                <a:cs typeface="Arial MT"/>
              </a:rPr>
              <a:t>functionality</a:t>
            </a:r>
            <a:r>
              <a:rPr dirty="0" sz="1300" spc="6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Arial MT"/>
                <a:cs typeface="Arial MT"/>
              </a:rPr>
              <a:t>relies</a:t>
            </a:r>
            <a:r>
              <a:rPr dirty="0" sz="1300" spc="10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Arial MT"/>
                <a:cs typeface="Arial MT"/>
              </a:rPr>
              <a:t>heavily</a:t>
            </a:r>
            <a:r>
              <a:rPr dirty="0" sz="1300" spc="9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Arial MT"/>
                <a:cs typeface="Arial MT"/>
              </a:rPr>
              <a:t>on</a:t>
            </a:r>
            <a:r>
              <a:rPr dirty="0" sz="1300" spc="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Arial MT"/>
                <a:cs typeface="Arial MT"/>
              </a:rPr>
              <a:t>stable</a:t>
            </a:r>
            <a:r>
              <a:rPr dirty="0" sz="1300" spc="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Arial MT"/>
                <a:cs typeface="Arial MT"/>
              </a:rPr>
              <a:t>internet</a:t>
            </a:r>
            <a:r>
              <a:rPr dirty="0" sz="1300" spc="7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Arial MT"/>
                <a:cs typeface="Arial MT"/>
              </a:rPr>
              <a:t>connectivity.</a:t>
            </a:r>
            <a:r>
              <a:rPr dirty="0" sz="1300" spc="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383838"/>
                </a:solidFill>
                <a:latin typeface="Arial MT"/>
                <a:cs typeface="Arial MT"/>
              </a:rPr>
              <a:t>Power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outages</a:t>
            </a:r>
            <a:r>
              <a:rPr dirty="0" sz="1300" spc="9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or</a:t>
            </a:r>
            <a:r>
              <a:rPr dirty="0" sz="1300" spc="1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45">
                <a:solidFill>
                  <a:srgbClr val="383838"/>
                </a:solidFill>
                <a:latin typeface="Arial MT"/>
                <a:cs typeface="Arial MT"/>
              </a:rPr>
              <a:t>internet</a:t>
            </a:r>
            <a:r>
              <a:rPr dirty="0" sz="1300" spc="9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disruptions</a:t>
            </a:r>
            <a:r>
              <a:rPr dirty="0" sz="1300" spc="10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can</a:t>
            </a:r>
            <a:r>
              <a:rPr dirty="0" sz="1300" spc="10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render</a:t>
            </a:r>
            <a:r>
              <a:rPr dirty="0" sz="1300" spc="114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systems</a:t>
            </a:r>
            <a:r>
              <a:rPr dirty="0" sz="1300" spc="1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Arial MT"/>
                <a:cs typeface="Arial MT"/>
              </a:rPr>
              <a:t>temporarily</a:t>
            </a:r>
            <a:r>
              <a:rPr dirty="0" sz="1300" spc="1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unusable,</a:t>
            </a:r>
            <a:r>
              <a:rPr dirty="0" sz="1300" spc="9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383838"/>
                </a:solidFill>
                <a:latin typeface="Arial MT"/>
                <a:cs typeface="Arial MT"/>
              </a:rPr>
              <a:t>causing inconvenience.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dirty="0" sz="1300" spc="-25" b="1">
                <a:solidFill>
                  <a:srgbClr val="383838"/>
                </a:solidFill>
                <a:latin typeface="Arial"/>
                <a:cs typeface="Arial"/>
              </a:rPr>
              <a:t>Solution:</a:t>
            </a:r>
            <a:r>
              <a:rPr dirty="0" sz="1300" spc="135" b="1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Invest</a:t>
            </a:r>
            <a:r>
              <a:rPr dirty="0" sz="1300" spc="114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in</a:t>
            </a:r>
            <a:r>
              <a:rPr dirty="0" sz="1300" spc="9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backup</a:t>
            </a:r>
            <a:r>
              <a:rPr dirty="0" sz="1300" spc="8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power</a:t>
            </a:r>
            <a:r>
              <a:rPr dirty="0" sz="1300" spc="1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solutions,</a:t>
            </a:r>
            <a:r>
              <a:rPr dirty="0" sz="1300" spc="114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choose</a:t>
            </a:r>
            <a:r>
              <a:rPr dirty="0" sz="1300" spc="10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devices</a:t>
            </a:r>
            <a:r>
              <a:rPr dirty="0" sz="1300" spc="114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50">
                <a:solidFill>
                  <a:srgbClr val="383838"/>
                </a:solidFill>
                <a:latin typeface="Arial MT"/>
                <a:cs typeface="Arial MT"/>
              </a:rPr>
              <a:t>with</a:t>
            </a:r>
            <a:r>
              <a:rPr dirty="0" sz="1300" spc="9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local</a:t>
            </a:r>
            <a:r>
              <a:rPr dirty="0" sz="1300" spc="10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35">
                <a:solidFill>
                  <a:srgbClr val="383838"/>
                </a:solidFill>
                <a:latin typeface="Arial MT"/>
                <a:cs typeface="Arial MT"/>
              </a:rPr>
              <a:t>control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options,</a:t>
            </a:r>
            <a:r>
              <a:rPr dirty="0" sz="1300" spc="1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300" spc="1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ensure</a:t>
            </a:r>
            <a:r>
              <a:rPr dirty="0" sz="1300" spc="1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robust</a:t>
            </a:r>
            <a:r>
              <a:rPr dirty="0" sz="1300" spc="1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85">
                <a:solidFill>
                  <a:srgbClr val="383838"/>
                </a:solidFill>
                <a:latin typeface="Arial MT"/>
                <a:cs typeface="Arial MT"/>
              </a:rPr>
              <a:t>Wi-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Fi</a:t>
            </a:r>
            <a:r>
              <a:rPr dirty="0" sz="1300" spc="17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coverage</a:t>
            </a:r>
            <a:r>
              <a:rPr dirty="0" sz="1300" spc="1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throughout</a:t>
            </a:r>
            <a:r>
              <a:rPr dirty="0" sz="1300" spc="10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83838"/>
                </a:solidFill>
                <a:latin typeface="Arial MT"/>
                <a:cs typeface="Arial MT"/>
              </a:rPr>
              <a:t>your</a:t>
            </a:r>
            <a:r>
              <a:rPr dirty="0" sz="1300" spc="1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383838"/>
                </a:solidFill>
                <a:latin typeface="Arial MT"/>
                <a:cs typeface="Arial MT"/>
              </a:rPr>
              <a:t>home.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2302" y="555116"/>
            <a:ext cx="9184005" cy="6584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150" spc="215"/>
              <a:t>The</a:t>
            </a:r>
            <a:r>
              <a:rPr dirty="0" sz="4150" spc="-20"/>
              <a:t> </a:t>
            </a:r>
            <a:r>
              <a:rPr dirty="0" sz="4150" spc="229"/>
              <a:t>Future</a:t>
            </a:r>
            <a:r>
              <a:rPr dirty="0" sz="4150" spc="-20"/>
              <a:t> </a:t>
            </a:r>
            <a:r>
              <a:rPr dirty="0" sz="4150" spc="135"/>
              <a:t>is</a:t>
            </a:r>
            <a:r>
              <a:rPr dirty="0" sz="4150"/>
              <a:t> </a:t>
            </a:r>
            <a:r>
              <a:rPr dirty="0" sz="4150" spc="215"/>
              <a:t>Intelligent</a:t>
            </a:r>
            <a:r>
              <a:rPr dirty="0" sz="4150" spc="-35"/>
              <a:t> </a:t>
            </a:r>
            <a:r>
              <a:rPr dirty="0" sz="4150" spc="350"/>
              <a:t>&amp;</a:t>
            </a:r>
            <a:r>
              <a:rPr dirty="0" sz="4150" spc="-5"/>
              <a:t> </a:t>
            </a:r>
            <a:r>
              <a:rPr dirty="0" sz="4150" spc="195"/>
              <a:t>Sustainable</a:t>
            </a:r>
            <a:endParaRPr sz="4150"/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AI-</a:t>
            </a:r>
            <a:r>
              <a:rPr dirty="0" spc="90"/>
              <a:t>Powered</a:t>
            </a:r>
            <a:r>
              <a:rPr dirty="0" spc="95"/>
              <a:t> </a:t>
            </a:r>
            <a:r>
              <a:rPr dirty="0" spc="130"/>
              <a:t>Automation</a:t>
            </a:r>
          </a:p>
          <a:p>
            <a:pPr marL="12700" marR="5080">
              <a:lnSpc>
                <a:spcPct val="134400"/>
              </a:lnSpc>
              <a:spcBef>
                <a:spcPts val="1575"/>
              </a:spcBef>
            </a:pP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Artificial</a:t>
            </a:r>
            <a:r>
              <a:rPr dirty="0" sz="1550" spc="1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intelligence</a:t>
            </a:r>
            <a:r>
              <a:rPr dirty="0" sz="1550" spc="20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550" spc="1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machine</a:t>
            </a:r>
            <a:r>
              <a:rPr dirty="0" sz="1550" spc="1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learning</a:t>
            </a:r>
            <a:r>
              <a:rPr dirty="0" sz="1550" spc="1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are</a:t>
            </a:r>
            <a:r>
              <a:rPr dirty="0" sz="1550" spc="1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making</a:t>
            </a:r>
            <a:r>
              <a:rPr dirty="0" sz="1550" spc="1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homes</a:t>
            </a:r>
            <a:r>
              <a:rPr dirty="0" sz="1550" spc="16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50">
                <a:solidFill>
                  <a:srgbClr val="383838"/>
                </a:solidFill>
                <a:latin typeface="Arial MT"/>
                <a:cs typeface="Arial MT"/>
              </a:rPr>
              <a:t>truly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intelligent.</a:t>
            </a:r>
            <a:r>
              <a:rPr dirty="0" sz="1550" spc="10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Systems</a:t>
            </a:r>
            <a:r>
              <a:rPr dirty="0" sz="1550" spc="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now</a:t>
            </a:r>
            <a:r>
              <a:rPr dirty="0" sz="1550" spc="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75">
                <a:solidFill>
                  <a:srgbClr val="383838"/>
                </a:solidFill>
                <a:latin typeface="Arial MT"/>
                <a:cs typeface="Arial MT"/>
              </a:rPr>
              <a:t>predict</a:t>
            </a:r>
            <a:r>
              <a:rPr dirty="0" sz="1550" spc="9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50">
                <a:solidFill>
                  <a:srgbClr val="383838"/>
                </a:solidFill>
                <a:latin typeface="Arial MT"/>
                <a:cs typeface="Arial MT"/>
              </a:rPr>
              <a:t>your</a:t>
            </a:r>
            <a:r>
              <a:rPr dirty="0" sz="1550" spc="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needs,</a:t>
            </a:r>
            <a:r>
              <a:rPr dirty="0" sz="1550" spc="8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learn</a:t>
            </a:r>
            <a:r>
              <a:rPr dirty="0" sz="1550" spc="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65">
                <a:solidFill>
                  <a:srgbClr val="383838"/>
                </a:solidFill>
                <a:latin typeface="Arial MT"/>
                <a:cs typeface="Arial MT"/>
              </a:rPr>
              <a:t>from</a:t>
            </a:r>
            <a:r>
              <a:rPr dirty="0" sz="1550" spc="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383838"/>
                </a:solidFill>
                <a:latin typeface="Arial MT"/>
                <a:cs typeface="Arial MT"/>
              </a:rPr>
              <a:t>behaviour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patterns,</a:t>
            </a:r>
            <a:r>
              <a:rPr dirty="0" sz="1550" spc="1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550" spc="1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make</a:t>
            </a:r>
            <a:r>
              <a:rPr dirty="0" sz="1550" spc="1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autonomous</a:t>
            </a:r>
            <a:r>
              <a:rPr dirty="0" sz="1550" spc="1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decisions</a:t>
            </a:r>
            <a:r>
              <a:rPr dirty="0" sz="1550" spc="1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105">
                <a:solidFill>
                  <a:srgbClr val="383838"/>
                </a:solidFill>
                <a:latin typeface="Arial MT"/>
                <a:cs typeface="Arial MT"/>
              </a:rPr>
              <a:t>to</a:t>
            </a:r>
            <a:r>
              <a:rPr dirty="0" sz="1550" spc="1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55">
                <a:solidFill>
                  <a:srgbClr val="383838"/>
                </a:solidFill>
                <a:latin typeface="Arial MT"/>
                <a:cs typeface="Arial MT"/>
              </a:rPr>
              <a:t>optimise</a:t>
            </a:r>
            <a:r>
              <a:rPr dirty="0" sz="1550" spc="1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85">
                <a:solidFill>
                  <a:srgbClr val="383838"/>
                </a:solidFill>
                <a:latin typeface="Arial MT"/>
                <a:cs typeface="Arial MT"/>
              </a:rPr>
              <a:t>comfort</a:t>
            </a:r>
            <a:r>
              <a:rPr dirty="0" sz="1550" spc="1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383838"/>
                </a:solidFill>
                <a:latin typeface="Arial MT"/>
                <a:cs typeface="Arial MT"/>
              </a:rPr>
              <a:t>and </a:t>
            </a:r>
            <a:r>
              <a:rPr dirty="0" sz="1550" spc="-10">
                <a:solidFill>
                  <a:srgbClr val="383838"/>
                </a:solidFill>
                <a:latin typeface="Arial MT"/>
                <a:cs typeface="Arial MT"/>
              </a:rPr>
              <a:t>efficiency.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92302" y="3779139"/>
            <a:ext cx="6109970" cy="979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600"/>
              </a:lnSpc>
              <a:spcBef>
                <a:spcPts val="100"/>
              </a:spcBef>
            </a:pP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Voice</a:t>
            </a:r>
            <a:r>
              <a:rPr dirty="0" sz="1550" spc="8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assistants</a:t>
            </a:r>
            <a:r>
              <a:rPr dirty="0" sz="1550" spc="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like</a:t>
            </a:r>
            <a:r>
              <a:rPr dirty="0" sz="1550" spc="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383838"/>
                </a:solidFill>
                <a:latin typeface="Arial MT"/>
                <a:cs typeface="Arial MT"/>
              </a:rPr>
              <a:t>Alexa,</a:t>
            </a:r>
            <a:r>
              <a:rPr dirty="0" sz="1550" spc="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Google</a:t>
            </a:r>
            <a:r>
              <a:rPr dirty="0" sz="1550" spc="6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Assistant,</a:t>
            </a:r>
            <a:r>
              <a:rPr dirty="0" sz="1550" spc="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550" spc="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Siri</a:t>
            </a:r>
            <a:r>
              <a:rPr dirty="0" sz="1550" spc="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are</a:t>
            </a:r>
            <a:r>
              <a:rPr dirty="0" sz="1550" spc="7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383838"/>
                </a:solidFill>
                <a:latin typeface="Arial MT"/>
                <a:cs typeface="Arial MT"/>
              </a:rPr>
              <a:t>becoming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more</a:t>
            </a:r>
            <a:r>
              <a:rPr dirty="0" sz="1550" spc="229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conversational</a:t>
            </a:r>
            <a:r>
              <a:rPr dirty="0" sz="1550" spc="2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550" spc="2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100">
                <a:solidFill>
                  <a:srgbClr val="383838"/>
                </a:solidFill>
                <a:latin typeface="Arial MT"/>
                <a:cs typeface="Arial MT"/>
              </a:rPr>
              <a:t>context-</a:t>
            </a:r>
            <a:r>
              <a:rPr dirty="0" sz="1550" spc="-10">
                <a:solidFill>
                  <a:srgbClr val="383838"/>
                </a:solidFill>
                <a:latin typeface="Arial MT"/>
                <a:cs typeface="Arial MT"/>
              </a:rPr>
              <a:t>aware,</a:t>
            </a:r>
            <a:r>
              <a:rPr dirty="0" sz="1550" spc="2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understanding</a:t>
            </a:r>
            <a:r>
              <a:rPr dirty="0" sz="1550" spc="2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40">
                <a:solidFill>
                  <a:srgbClr val="383838"/>
                </a:solidFill>
                <a:latin typeface="Arial MT"/>
                <a:cs typeface="Arial MT"/>
              </a:rPr>
              <a:t>complex </a:t>
            </a:r>
            <a:r>
              <a:rPr dirty="0" sz="1550" spc="50">
                <a:solidFill>
                  <a:srgbClr val="383838"/>
                </a:solidFill>
                <a:latin typeface="Arial MT"/>
                <a:cs typeface="Arial MT"/>
              </a:rPr>
              <a:t>commands</a:t>
            </a:r>
            <a:r>
              <a:rPr dirty="0" sz="1550" spc="114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1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550" spc="114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10">
                <a:solidFill>
                  <a:srgbClr val="383838"/>
                </a:solidFill>
                <a:latin typeface="Arial MT"/>
                <a:cs typeface="Arial MT"/>
              </a:rPr>
              <a:t>managing</a:t>
            </a:r>
            <a:r>
              <a:rPr dirty="0" sz="1550" spc="9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10">
                <a:solidFill>
                  <a:srgbClr val="383838"/>
                </a:solidFill>
                <a:latin typeface="Arial MT"/>
                <a:cs typeface="Arial MT"/>
              </a:rPr>
              <a:t>entire</a:t>
            </a:r>
            <a:r>
              <a:rPr dirty="0" sz="1550" spc="1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10">
                <a:solidFill>
                  <a:srgbClr val="383838"/>
                </a:solidFill>
                <a:latin typeface="Arial MT"/>
                <a:cs typeface="Arial MT"/>
              </a:rPr>
              <a:t>home</a:t>
            </a:r>
            <a:r>
              <a:rPr dirty="0" sz="1550" spc="1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10">
                <a:solidFill>
                  <a:srgbClr val="383838"/>
                </a:solidFill>
                <a:latin typeface="Arial MT"/>
                <a:cs typeface="Arial MT"/>
              </a:rPr>
              <a:t>ecosystems</a:t>
            </a:r>
            <a:r>
              <a:rPr dirty="0" sz="1550" spc="1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383838"/>
                </a:solidFill>
                <a:latin typeface="Arial MT"/>
                <a:cs typeface="Arial MT"/>
              </a:rPr>
              <a:t>effortlessly.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556754" y="1736217"/>
            <a:ext cx="6360795" cy="18688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114">
                <a:solidFill>
                  <a:srgbClr val="010101"/>
                </a:solidFill>
                <a:latin typeface="Times New Roman"/>
                <a:cs typeface="Times New Roman"/>
              </a:rPr>
              <a:t>Sustainable</a:t>
            </a:r>
            <a:r>
              <a:rPr dirty="0" sz="2450" spc="20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dirty="0" sz="2450" spc="-10">
                <a:solidFill>
                  <a:srgbClr val="010101"/>
                </a:solidFill>
                <a:latin typeface="Times New Roman"/>
                <a:cs typeface="Times New Roman"/>
              </a:rPr>
              <a:t>Living</a:t>
            </a:r>
            <a:endParaRPr sz="2450">
              <a:latin typeface="Times New Roman"/>
              <a:cs typeface="Times New Roman"/>
            </a:endParaRPr>
          </a:p>
          <a:p>
            <a:pPr marL="12700" marR="5080">
              <a:lnSpc>
                <a:spcPct val="134400"/>
              </a:lnSpc>
              <a:spcBef>
                <a:spcPts val="1575"/>
              </a:spcBef>
            </a:pP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Smart</a:t>
            </a:r>
            <a:r>
              <a:rPr dirty="0" sz="1550" spc="8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homes</a:t>
            </a:r>
            <a:r>
              <a:rPr dirty="0" sz="1550" spc="8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are</a:t>
            </a:r>
            <a:r>
              <a:rPr dirty="0" sz="1550" spc="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70">
                <a:solidFill>
                  <a:srgbClr val="383838"/>
                </a:solidFill>
                <a:latin typeface="Arial MT"/>
                <a:cs typeface="Arial MT"/>
              </a:rPr>
              <a:t>at</a:t>
            </a:r>
            <a:r>
              <a:rPr dirty="0" sz="1550" spc="6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70">
                <a:solidFill>
                  <a:srgbClr val="383838"/>
                </a:solidFill>
                <a:latin typeface="Arial MT"/>
                <a:cs typeface="Arial MT"/>
              </a:rPr>
              <a:t>the</a:t>
            </a:r>
            <a:r>
              <a:rPr dirty="0" sz="1550" spc="9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60">
                <a:solidFill>
                  <a:srgbClr val="383838"/>
                </a:solidFill>
                <a:latin typeface="Arial MT"/>
                <a:cs typeface="Arial MT"/>
              </a:rPr>
              <a:t>forefront </a:t>
            </a:r>
            <a:r>
              <a:rPr dirty="0" sz="1550" spc="65">
                <a:solidFill>
                  <a:srgbClr val="383838"/>
                </a:solidFill>
                <a:latin typeface="Arial MT"/>
                <a:cs typeface="Arial MT"/>
              </a:rPr>
              <a:t>of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environmental</a:t>
            </a:r>
            <a:r>
              <a:rPr dirty="0" sz="1550" spc="1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383838"/>
                </a:solidFill>
                <a:latin typeface="Arial MT"/>
                <a:cs typeface="Arial MT"/>
              </a:rPr>
              <a:t>sustainability.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Integration</a:t>
            </a:r>
            <a:r>
              <a:rPr dirty="0" sz="1550" spc="18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60">
                <a:solidFill>
                  <a:srgbClr val="383838"/>
                </a:solidFill>
                <a:latin typeface="Arial MT"/>
                <a:cs typeface="Arial MT"/>
              </a:rPr>
              <a:t>with</a:t>
            </a:r>
            <a:r>
              <a:rPr dirty="0" sz="1550" spc="19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renewable</a:t>
            </a:r>
            <a:r>
              <a:rPr dirty="0" sz="1550" spc="2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energy</a:t>
            </a:r>
            <a:r>
              <a:rPr dirty="0" sz="1550" spc="19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sources,</a:t>
            </a:r>
            <a:r>
              <a:rPr dirty="0" sz="1550" spc="17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intelligent</a:t>
            </a:r>
            <a:r>
              <a:rPr dirty="0" sz="1550" spc="2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383838"/>
                </a:solidFill>
                <a:latin typeface="Arial MT"/>
                <a:cs typeface="Arial MT"/>
              </a:rPr>
              <a:t>water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management</a:t>
            </a:r>
            <a:r>
              <a:rPr dirty="0" sz="1550" spc="2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systems,</a:t>
            </a:r>
            <a:r>
              <a:rPr dirty="0" sz="1550" spc="18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550" spc="18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waste</a:t>
            </a:r>
            <a:r>
              <a:rPr dirty="0" sz="1550" spc="16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60">
                <a:solidFill>
                  <a:srgbClr val="383838"/>
                </a:solidFill>
                <a:latin typeface="Arial MT"/>
                <a:cs typeface="Arial MT"/>
              </a:rPr>
              <a:t>reduction</a:t>
            </a:r>
            <a:r>
              <a:rPr dirty="0" sz="1550" spc="204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through</a:t>
            </a:r>
            <a:r>
              <a:rPr dirty="0" sz="1550" spc="18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precise</a:t>
            </a:r>
            <a:r>
              <a:rPr dirty="0" sz="1550" spc="19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383838"/>
                </a:solidFill>
                <a:latin typeface="Arial MT"/>
                <a:cs typeface="Arial MT"/>
              </a:rPr>
              <a:t>resource </a:t>
            </a:r>
            <a:r>
              <a:rPr dirty="0" sz="1550" spc="10">
                <a:solidFill>
                  <a:srgbClr val="383838"/>
                </a:solidFill>
                <a:latin typeface="Arial MT"/>
                <a:cs typeface="Arial MT"/>
              </a:rPr>
              <a:t>monitoring</a:t>
            </a:r>
            <a:r>
              <a:rPr dirty="0" sz="1550" spc="1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10">
                <a:solidFill>
                  <a:srgbClr val="383838"/>
                </a:solidFill>
                <a:latin typeface="Arial MT"/>
                <a:cs typeface="Arial MT"/>
              </a:rPr>
              <a:t>are</a:t>
            </a:r>
            <a:r>
              <a:rPr dirty="0" sz="1550" spc="1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10">
                <a:solidFill>
                  <a:srgbClr val="383838"/>
                </a:solidFill>
                <a:latin typeface="Arial MT"/>
                <a:cs typeface="Arial MT"/>
              </a:rPr>
              <a:t>creating</a:t>
            </a:r>
            <a:r>
              <a:rPr dirty="0" sz="1550" spc="1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105">
                <a:solidFill>
                  <a:srgbClr val="383838"/>
                </a:solidFill>
                <a:latin typeface="Arial MT"/>
                <a:cs typeface="Arial MT"/>
              </a:rPr>
              <a:t>eco-</a:t>
            </a:r>
            <a:r>
              <a:rPr dirty="0" sz="1550" spc="10">
                <a:solidFill>
                  <a:srgbClr val="383838"/>
                </a:solidFill>
                <a:latin typeface="Arial MT"/>
                <a:cs typeface="Arial MT"/>
              </a:rPr>
              <a:t>friendly</a:t>
            </a:r>
            <a:r>
              <a:rPr dirty="0" sz="1550" spc="204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10">
                <a:solidFill>
                  <a:srgbClr val="383838"/>
                </a:solidFill>
                <a:latin typeface="Arial MT"/>
                <a:cs typeface="Arial MT"/>
              </a:rPr>
              <a:t>living</a:t>
            </a:r>
            <a:r>
              <a:rPr dirty="0" sz="1550" spc="1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383838"/>
                </a:solidFill>
                <a:latin typeface="Arial MT"/>
                <a:cs typeface="Arial MT"/>
              </a:rPr>
              <a:t>spaces.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556754" y="3779139"/>
            <a:ext cx="6177280" cy="979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600"/>
              </a:lnSpc>
              <a:spcBef>
                <a:spcPts val="100"/>
              </a:spcBef>
            </a:pP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The</a:t>
            </a:r>
            <a:r>
              <a:rPr dirty="0" sz="1550" spc="9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next</a:t>
            </a:r>
            <a:r>
              <a:rPr dirty="0" sz="1550" spc="1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generation</a:t>
            </a:r>
            <a:r>
              <a:rPr dirty="0" sz="1550" spc="114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will</a:t>
            </a:r>
            <a:r>
              <a:rPr dirty="0" sz="1550" spc="1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see</a:t>
            </a:r>
            <a:r>
              <a:rPr dirty="0" sz="1550" spc="114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homes</a:t>
            </a:r>
            <a:r>
              <a:rPr dirty="0" sz="1550" spc="1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85">
                <a:solidFill>
                  <a:srgbClr val="383838"/>
                </a:solidFill>
                <a:latin typeface="Arial MT"/>
                <a:cs typeface="Arial MT"/>
              </a:rPr>
              <a:t>that</a:t>
            </a:r>
            <a:r>
              <a:rPr dirty="0" sz="1550" spc="9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generate</a:t>
            </a:r>
            <a:r>
              <a:rPr dirty="0" sz="1550" spc="1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more</a:t>
            </a:r>
            <a:r>
              <a:rPr dirty="0" sz="1550" spc="1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energy</a:t>
            </a:r>
            <a:r>
              <a:rPr dirty="0" sz="1550" spc="114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383838"/>
                </a:solidFill>
                <a:latin typeface="Arial MT"/>
                <a:cs typeface="Arial MT"/>
              </a:rPr>
              <a:t>than </a:t>
            </a:r>
            <a:r>
              <a:rPr dirty="0" sz="1550" spc="70">
                <a:solidFill>
                  <a:srgbClr val="383838"/>
                </a:solidFill>
                <a:latin typeface="Arial MT"/>
                <a:cs typeface="Arial MT"/>
              </a:rPr>
              <a:t>they</a:t>
            </a:r>
            <a:r>
              <a:rPr dirty="0" sz="1550" spc="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consume,</a:t>
            </a:r>
            <a:r>
              <a:rPr dirty="0" sz="1550" spc="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45">
                <a:solidFill>
                  <a:srgbClr val="383838"/>
                </a:solidFill>
                <a:latin typeface="Arial MT"/>
                <a:cs typeface="Arial MT"/>
              </a:rPr>
              <a:t>automatically</a:t>
            </a:r>
            <a:r>
              <a:rPr dirty="0" sz="1550" spc="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50">
                <a:solidFill>
                  <a:srgbClr val="383838"/>
                </a:solidFill>
                <a:latin typeface="Arial MT"/>
                <a:cs typeface="Arial MT"/>
              </a:rPr>
              <a:t>recycle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greywater,</a:t>
            </a:r>
            <a:r>
              <a:rPr dirty="0" sz="1550" spc="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550" spc="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use</a:t>
            </a:r>
            <a:r>
              <a:rPr dirty="0" sz="1550" spc="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383838"/>
                </a:solidFill>
                <a:latin typeface="Arial MT"/>
                <a:cs typeface="Arial MT"/>
              </a:rPr>
              <a:t>AI</a:t>
            </a:r>
            <a:r>
              <a:rPr dirty="0" sz="1550" spc="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80">
                <a:solidFill>
                  <a:srgbClr val="383838"/>
                </a:solidFill>
                <a:latin typeface="Arial MT"/>
                <a:cs typeface="Arial MT"/>
              </a:rPr>
              <a:t>to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minimise</a:t>
            </a:r>
            <a:r>
              <a:rPr dirty="0" sz="1550" spc="2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environmental</a:t>
            </a:r>
            <a:r>
              <a:rPr dirty="0" sz="1550" spc="254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75">
                <a:solidFill>
                  <a:srgbClr val="383838"/>
                </a:solidFill>
                <a:latin typeface="Arial MT"/>
                <a:cs typeface="Arial MT"/>
              </a:rPr>
              <a:t>impact</a:t>
            </a:r>
            <a:r>
              <a:rPr dirty="0" sz="1550" spc="20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whilst</a:t>
            </a:r>
            <a:r>
              <a:rPr dirty="0" sz="1550" spc="18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maximising</a:t>
            </a:r>
            <a:r>
              <a:rPr dirty="0" sz="1550" spc="2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50">
                <a:solidFill>
                  <a:srgbClr val="383838"/>
                </a:solidFill>
                <a:latin typeface="Arial MT"/>
                <a:cs typeface="Arial MT"/>
              </a:rPr>
              <a:t>comfort.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704964" y="5307481"/>
            <a:ext cx="13220700" cy="33020"/>
          </a:xfrm>
          <a:custGeom>
            <a:avLst/>
            <a:gdLst/>
            <a:ahLst/>
            <a:cxnLst/>
            <a:rect l="l" t="t" r="r" b="b"/>
            <a:pathLst>
              <a:path w="13220700" h="33020">
                <a:moveTo>
                  <a:pt x="13220446" y="0"/>
                </a:moveTo>
                <a:lnTo>
                  <a:pt x="0" y="0"/>
                </a:lnTo>
                <a:lnTo>
                  <a:pt x="0" y="32741"/>
                </a:lnTo>
                <a:lnTo>
                  <a:pt x="13220446" y="32741"/>
                </a:lnTo>
                <a:lnTo>
                  <a:pt x="13220446" y="0"/>
                </a:lnTo>
                <a:close/>
              </a:path>
            </a:pathLst>
          </a:custGeom>
          <a:solidFill>
            <a:srgbClr val="383838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692302" y="5615432"/>
            <a:ext cx="208280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40">
                <a:solidFill>
                  <a:srgbClr val="DF4F00"/>
                </a:solidFill>
                <a:latin typeface="Times New Roman"/>
                <a:cs typeface="Times New Roman"/>
              </a:rPr>
              <a:t>Key</a:t>
            </a:r>
            <a:r>
              <a:rPr dirty="0" sz="2450" spc="-105">
                <a:solidFill>
                  <a:srgbClr val="DF4F00"/>
                </a:solidFill>
                <a:latin typeface="Times New Roman"/>
                <a:cs typeface="Times New Roman"/>
              </a:rPr>
              <a:t> </a:t>
            </a:r>
            <a:r>
              <a:rPr dirty="0" sz="2450" spc="60">
                <a:solidFill>
                  <a:srgbClr val="DF4F00"/>
                </a:solidFill>
                <a:latin typeface="Times New Roman"/>
                <a:cs typeface="Times New Roman"/>
              </a:rPr>
              <a:t>Takeaways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92302" y="6288278"/>
            <a:ext cx="13153390" cy="979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34600"/>
              </a:lnSpc>
              <a:spcBef>
                <a:spcPts val="100"/>
              </a:spcBef>
            </a:pP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Smart</a:t>
            </a:r>
            <a:r>
              <a:rPr dirty="0" sz="1550" spc="114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home</a:t>
            </a:r>
            <a:r>
              <a:rPr dirty="0" sz="1550" spc="1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50">
                <a:solidFill>
                  <a:srgbClr val="383838"/>
                </a:solidFill>
                <a:latin typeface="Arial MT"/>
                <a:cs typeface="Arial MT"/>
              </a:rPr>
              <a:t>automation</a:t>
            </a:r>
            <a:r>
              <a:rPr dirty="0" sz="1550" spc="9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50">
                <a:solidFill>
                  <a:srgbClr val="383838"/>
                </a:solidFill>
                <a:latin typeface="Arial MT"/>
                <a:cs typeface="Arial MT"/>
              </a:rPr>
              <a:t>powered</a:t>
            </a:r>
            <a:r>
              <a:rPr dirty="0" sz="1550" spc="1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90">
                <a:solidFill>
                  <a:srgbClr val="383838"/>
                </a:solidFill>
                <a:latin typeface="Arial MT"/>
                <a:cs typeface="Arial MT"/>
              </a:rPr>
              <a:t>by</a:t>
            </a:r>
            <a:r>
              <a:rPr dirty="0" sz="1550" spc="114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383838"/>
                </a:solidFill>
                <a:latin typeface="Arial MT"/>
                <a:cs typeface="Arial MT"/>
              </a:rPr>
              <a:t>IoT</a:t>
            </a:r>
            <a:r>
              <a:rPr dirty="0" sz="1550" spc="9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is</a:t>
            </a:r>
            <a:r>
              <a:rPr dirty="0" sz="1550" spc="10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transforming</a:t>
            </a:r>
            <a:r>
              <a:rPr dirty="0" sz="1550" spc="9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how</a:t>
            </a:r>
            <a:r>
              <a:rPr dirty="0" sz="1550" spc="9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we</a:t>
            </a:r>
            <a:r>
              <a:rPr dirty="0" sz="1550" spc="1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383838"/>
                </a:solidFill>
                <a:latin typeface="Arial MT"/>
                <a:cs typeface="Arial MT"/>
              </a:rPr>
              <a:t>live,</a:t>
            </a:r>
            <a:r>
              <a:rPr dirty="0" sz="1550" spc="1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offering</a:t>
            </a:r>
            <a:r>
              <a:rPr dirty="0" sz="1550" spc="1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55">
                <a:solidFill>
                  <a:srgbClr val="383838"/>
                </a:solidFill>
                <a:latin typeface="Arial MT"/>
                <a:cs typeface="Arial MT"/>
              </a:rPr>
              <a:t>unprecedented</a:t>
            </a:r>
            <a:r>
              <a:rPr dirty="0" sz="1550" spc="1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55">
                <a:solidFill>
                  <a:srgbClr val="383838"/>
                </a:solidFill>
                <a:latin typeface="Arial MT"/>
                <a:cs typeface="Arial MT"/>
              </a:rPr>
              <a:t>comfort,</a:t>
            </a:r>
            <a:r>
              <a:rPr dirty="0" sz="1550" spc="1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security,</a:t>
            </a:r>
            <a:r>
              <a:rPr dirty="0" sz="1550" spc="114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550" spc="9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efficiency.</a:t>
            </a:r>
            <a:r>
              <a:rPr dirty="0" sz="1550" spc="1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Whilst</a:t>
            </a:r>
            <a:r>
              <a:rPr dirty="0" sz="1550" spc="9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383838"/>
                </a:solidFill>
                <a:latin typeface="Arial MT"/>
                <a:cs typeface="Arial MT"/>
              </a:rPr>
              <a:t>challenges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like</a:t>
            </a:r>
            <a:r>
              <a:rPr dirty="0" sz="1550" spc="1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privacy</a:t>
            </a:r>
            <a:r>
              <a:rPr dirty="0" sz="1550" spc="1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concerns</a:t>
            </a:r>
            <a:r>
              <a:rPr dirty="0" sz="1550" spc="1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550" spc="1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65">
                <a:solidFill>
                  <a:srgbClr val="383838"/>
                </a:solidFill>
                <a:latin typeface="Arial MT"/>
                <a:cs typeface="Arial MT"/>
              </a:rPr>
              <a:t>costs</a:t>
            </a:r>
            <a:r>
              <a:rPr dirty="0" sz="1550" spc="1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exist,</a:t>
            </a:r>
            <a:r>
              <a:rPr dirty="0" sz="1550" spc="1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70">
                <a:solidFill>
                  <a:srgbClr val="383838"/>
                </a:solidFill>
                <a:latin typeface="Arial MT"/>
                <a:cs typeface="Arial MT"/>
              </a:rPr>
              <a:t>the</a:t>
            </a:r>
            <a:r>
              <a:rPr dirty="0" sz="1550" spc="1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50">
                <a:solidFill>
                  <a:srgbClr val="383838"/>
                </a:solidFill>
                <a:latin typeface="Arial MT"/>
                <a:cs typeface="Arial MT"/>
              </a:rPr>
              <a:t>benefits</a:t>
            </a:r>
            <a:r>
              <a:rPr dirty="0" sz="1550" spc="18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far</a:t>
            </a:r>
            <a:r>
              <a:rPr dirty="0" sz="1550" spc="1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outweigh</a:t>
            </a:r>
            <a:r>
              <a:rPr dirty="0" sz="1550" spc="1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them.</a:t>
            </a:r>
            <a:r>
              <a:rPr dirty="0" sz="1550" spc="17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As</a:t>
            </a:r>
            <a:r>
              <a:rPr dirty="0" sz="1550" spc="1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technology</a:t>
            </a:r>
            <a:r>
              <a:rPr dirty="0" sz="1550" spc="1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advances</a:t>
            </a:r>
            <a:r>
              <a:rPr dirty="0" sz="1550" spc="1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60">
                <a:solidFill>
                  <a:srgbClr val="383838"/>
                </a:solidFill>
                <a:latin typeface="Arial MT"/>
                <a:cs typeface="Arial MT"/>
              </a:rPr>
              <a:t>with</a:t>
            </a:r>
            <a:r>
              <a:rPr dirty="0" sz="1550" spc="1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383838"/>
                </a:solidFill>
                <a:latin typeface="Arial MT"/>
                <a:cs typeface="Arial MT"/>
              </a:rPr>
              <a:t>AI</a:t>
            </a:r>
            <a:r>
              <a:rPr dirty="0" sz="1550" spc="1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integration</a:t>
            </a:r>
            <a:r>
              <a:rPr dirty="0" sz="1550" spc="17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550" spc="1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sustainability</a:t>
            </a:r>
            <a:r>
              <a:rPr dirty="0" sz="1550" spc="1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focus,</a:t>
            </a:r>
            <a:r>
              <a:rPr dirty="0" sz="1550" spc="1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30">
                <a:solidFill>
                  <a:srgbClr val="383838"/>
                </a:solidFill>
                <a:latin typeface="Arial MT"/>
                <a:cs typeface="Arial MT"/>
              </a:rPr>
              <a:t>smart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homes</a:t>
            </a:r>
            <a:r>
              <a:rPr dirty="0" sz="1550" spc="1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will</a:t>
            </a:r>
            <a:r>
              <a:rPr dirty="0" sz="1550" spc="114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60">
                <a:solidFill>
                  <a:srgbClr val="383838"/>
                </a:solidFill>
                <a:latin typeface="Arial MT"/>
                <a:cs typeface="Arial MT"/>
              </a:rPr>
              <a:t>become</a:t>
            </a:r>
            <a:r>
              <a:rPr dirty="0" sz="1550" spc="1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more</a:t>
            </a:r>
            <a:r>
              <a:rPr dirty="0" sz="1550" spc="10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accessible,</a:t>
            </a:r>
            <a:r>
              <a:rPr dirty="0" sz="1550" spc="1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intelligent,</a:t>
            </a:r>
            <a:r>
              <a:rPr dirty="0" sz="1550" spc="1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550" spc="9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essential</a:t>
            </a:r>
            <a:r>
              <a:rPr dirty="0" sz="1550" spc="1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105">
                <a:solidFill>
                  <a:srgbClr val="383838"/>
                </a:solidFill>
                <a:latin typeface="Arial MT"/>
                <a:cs typeface="Arial MT"/>
              </a:rPr>
              <a:t>to</a:t>
            </a:r>
            <a:r>
              <a:rPr dirty="0" sz="1550" spc="9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50">
                <a:solidFill>
                  <a:srgbClr val="383838"/>
                </a:solidFill>
                <a:latin typeface="Arial MT"/>
                <a:cs typeface="Arial MT"/>
              </a:rPr>
              <a:t>modern</a:t>
            </a:r>
            <a:r>
              <a:rPr dirty="0" sz="1550" spc="1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living.</a:t>
            </a:r>
            <a:r>
              <a:rPr dirty="0" sz="1550" spc="1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The</a:t>
            </a:r>
            <a:r>
              <a:rPr dirty="0" sz="1550" spc="10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60">
                <a:solidFill>
                  <a:srgbClr val="383838"/>
                </a:solidFill>
                <a:latin typeface="Arial MT"/>
                <a:cs typeface="Arial MT"/>
              </a:rPr>
              <a:t>future</a:t>
            </a:r>
            <a:r>
              <a:rPr dirty="0" sz="1550" spc="1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is</a:t>
            </a:r>
            <a:r>
              <a:rPr dirty="0" sz="1550" spc="1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connected,</a:t>
            </a:r>
            <a:r>
              <a:rPr dirty="0" sz="1550" spc="1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automated,</a:t>
            </a:r>
            <a:r>
              <a:rPr dirty="0" sz="1550" spc="1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dirty="0" sz="1550" spc="1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83838"/>
                </a:solidFill>
                <a:latin typeface="Arial MT"/>
                <a:cs typeface="Arial MT"/>
              </a:rPr>
              <a:t>remarkably</a:t>
            </a:r>
            <a:r>
              <a:rPr dirty="0" sz="1550" spc="1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383838"/>
                </a:solidFill>
                <a:latin typeface="Arial MT"/>
                <a:cs typeface="Arial MT"/>
              </a:rPr>
              <a:t>bright.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lightpdf.com</dc:creator>
  <dc:subject>LightPDF - Edit, Convert PDF Files Online for Free</dc:subject>
  <dcterms:created xsi:type="dcterms:W3CDTF">2025-10-22T17:43:11Z</dcterms:created>
  <dcterms:modified xsi:type="dcterms:W3CDTF">2025-10-22T17:43:11Z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2025-10-22T00:00:00Z</vt:filetime>
  </property>
  <property fmtid="{D5CDD505-2E9C-101B-9397-08002B2CF9AE}" pid="3" name="Creator">
    <vt:lpwstr>lightpdf.com</vt:lpwstr>
  </property>
  <property fmtid="{D5CDD505-2E9C-101B-9397-08002B2CF9AE}" pid="4" name="LastSaved">
    <vt:filetime>2025-10-22T00:00:00Z</vt:filetime>
  </property>
  <property fmtid="{D5CDD505-2E9C-101B-9397-08002B2CF9AE}" pid="5" name="Producer">
    <vt:lpwstr>cpdf non-commercial use only. To buy: http://coherentpdf.com/</vt:lpwstr>
  </property>
</Properties>
</file>